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12.png" ContentType="image/png"/>
  <Override PartName="/ppt/media/image18.png" ContentType="image/png"/>
  <Override PartName="/ppt/media/image9.png" ContentType="image/png"/>
  <Override PartName="/ppt/media/image22.jpeg" ContentType="image/jpeg"/>
  <Override PartName="/ppt/media/image11.png" ContentType="image/png"/>
  <Override PartName="/ppt/media/image3.png" ContentType="image/png"/>
  <Override PartName="/ppt/media/image35.png" ContentType="image/png"/>
  <Override PartName="/ppt/media/image5.jpeg" ContentType="image/jpeg"/>
  <Override PartName="/ppt/media/image30.png" ContentType="image/png"/>
  <Override PartName="/ppt/media/image31.png" ContentType="image/png"/>
  <Override PartName="/ppt/media/image4.png" ContentType="image/png"/>
  <Override PartName="/ppt/media/image32.png" ContentType="image/png"/>
  <Override PartName="/ppt/media/image33.png" ContentType="image/png"/>
  <Override PartName="/ppt/media/image7.wmf" ContentType="image/x-wmf"/>
  <Override PartName="/ppt/media/image13.png" ContentType="image/png"/>
  <Override PartName="/ppt/media/image15.jpeg" ContentType="image/jpeg"/>
  <Override PartName="/ppt/media/image34.png" ContentType="image/png"/>
  <Override PartName="/ppt/media/image8.png" ContentType="image/png"/>
  <Override PartName="/ppt/media/image17.png" ContentType="image/png"/>
  <Override PartName="/ppt/media/image20.png" ContentType="image/png"/>
  <Override PartName="/ppt/media/image2.jpeg" ContentType="image/jpeg"/>
  <Override PartName="/ppt/media/image6.png" ContentType="image/png"/>
  <Override PartName="/ppt/media/image1.jpeg" ContentType="image/jpeg"/>
  <Override PartName="/ppt/media/image10.png" ContentType="image/png"/>
  <Override PartName="/ppt/media/image14.png" ContentType="image/png"/>
  <Override PartName="/ppt/media/image16.png" ContentType="image/png"/>
  <Override PartName="/ppt/media/image19.png" ContentType="image/png"/>
  <Override PartName="/ppt/media/image21.png" ContentType="image/png"/>
  <Override PartName="/ppt/media/image23.png" ContentType="image/png"/>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18.xml.rels" ContentType="application/vnd.openxmlformats-package.relationships+xml"/>
  <Override PartName="/ppt/notesSlides/_rels/notesSlide5.xml.rels" ContentType="application/vnd.openxmlformats-package.relationships+xml"/>
  <Override PartName="/ppt/notesSlides/notesSlide5.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7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7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4" name="PlaceHolder 4"/>
          <p:cNvSpPr>
            <a:spLocks noGrp="1"/>
          </p:cNvSpPr>
          <p:nvPr>
            <p:ph type="dt" idx="3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5" name="PlaceHolder 5"/>
          <p:cNvSpPr>
            <a:spLocks noGrp="1"/>
          </p:cNvSpPr>
          <p:nvPr>
            <p:ph type="ftr" idx="3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6" name="PlaceHolder 6"/>
          <p:cNvSpPr>
            <a:spLocks noGrp="1"/>
          </p:cNvSpPr>
          <p:nvPr>
            <p:ph type="sldNum" idx="3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3FE43B6-9532-4FBC-946E-AD64EB57983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1371600" y="1143000"/>
            <a:ext cx="41144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ea typeface="Calibri"/>
              </a:rPr>
              <a:t>The figure here shows A) a protein alignment of 7 species of vertebrate (human, baboon, cow, sheep, mouse, hamster, chicken). B) A raw count of the number of amino acid substitutions for all pairwise comparisons between the same taxa arranged as a distance matrix. C) Distance-based phylogenetic inference attempts to build a phylogeny that best describes the distance matrix, with more closely related species being placed more closely together based on overall similarity. </a:t>
            </a:r>
            <a:endParaRPr b="0" lang="en-US" sz="2000" spc="-1" strike="noStrike">
              <a:solidFill>
                <a:srgbClr val="000000"/>
              </a:solidFill>
              <a:latin typeface="Arial"/>
            </a:endParaRPr>
          </a:p>
        </p:txBody>
      </p:sp>
      <p:sp>
        <p:nvSpPr>
          <p:cNvPr id="199"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11FD4F7-C8E6-49FE-B7BB-75D1BBD5E20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1371600" y="1143000"/>
            <a:ext cx="41144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2"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031BCEB-975B-4225-B6C0-1998E978918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28560" y="1825560"/>
            <a:ext cx="788652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D4AD133-E702-4357-9FF6-9C9F2ECE313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BA47133-67E7-48E0-A96A-B28E1612A51A}"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9A92378-0691-4077-A91A-8E177417D899}"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0"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1" name="PlaceHolder 2"/>
          <p:cNvSpPr>
            <a:spLocks noGrp="1"/>
          </p:cNvSpPr>
          <p:nvPr>
            <p:ph/>
          </p:nvPr>
        </p:nvSpPr>
        <p:spPr>
          <a:xfrm>
            <a:off x="628560" y="1825560"/>
            <a:ext cx="788652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Open Sans Condensed"/>
            </a:endParaRPr>
          </a:p>
        </p:txBody>
      </p:sp>
      <p:sp>
        <p:nvSpPr>
          <p:cNvPr id="4" name="PlaceHolder 3"/>
          <p:cNvSpPr>
            <a:spLocks noGrp="1"/>
          </p:cNvSpPr>
          <p:nvPr>
            <p:ph type="sldNum" idx="10"/>
          </p:nvPr>
        </p:nvSpPr>
        <p:spPr/>
        <p:txBody>
          <a:bodyPr/>
          <a:p>
            <a:fld id="{3835E2A7-BA29-4A6E-9350-A7F9FBF88423}"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8" name="PlaceHolder 2"/>
          <p:cNvSpPr>
            <a:spLocks noGrp="1"/>
          </p:cNvSpPr>
          <p:nvPr>
            <p:ph/>
          </p:nvPr>
        </p:nvSpPr>
        <p:spPr>
          <a:xfrm>
            <a:off x="628560" y="1825560"/>
            <a:ext cx="788652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Open Sans Condensed"/>
            </a:endParaRPr>
          </a:p>
        </p:txBody>
      </p:sp>
      <p:sp>
        <p:nvSpPr>
          <p:cNvPr id="4" name="PlaceHolder 3"/>
          <p:cNvSpPr>
            <a:spLocks noGrp="1"/>
          </p:cNvSpPr>
          <p:nvPr>
            <p:ph type="ftr" idx="12"/>
          </p:nvPr>
        </p:nvSpPr>
        <p:spPr/>
        <p:txBody>
          <a:bodyPr/>
          <a:p>
            <a:r>
              <a:t>Footer</a:t>
            </a:r>
          </a:p>
        </p:txBody>
      </p:sp>
      <p:sp>
        <p:nvSpPr>
          <p:cNvPr id="5" name="PlaceHolder 4"/>
          <p:cNvSpPr>
            <a:spLocks noGrp="1"/>
          </p:cNvSpPr>
          <p:nvPr>
            <p:ph type="sldNum" idx="13"/>
          </p:nvPr>
        </p:nvSpPr>
        <p:spPr/>
        <p:txBody>
          <a:bodyPr/>
          <a:p>
            <a:fld id="{8AAF86D1-F29C-4A97-A3C4-101C05B4613D}" type="slidenum">
              <a:t>&lt;#&gt;</a:t>
            </a:fld>
          </a:p>
        </p:txBody>
      </p:sp>
      <p:sp>
        <p:nvSpPr>
          <p:cNvPr id="6" name="PlaceHolder 5"/>
          <p:cNvSpPr>
            <a:spLocks noGrp="1"/>
          </p:cNvSpPr>
          <p:nvPr>
            <p:ph type="dt" idx="1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5"/>
          </p:nvPr>
        </p:nvSpPr>
        <p:spPr/>
        <p:txBody>
          <a:bodyPr/>
          <a:p>
            <a:r>
              <a:t>Footer</a:t>
            </a:r>
          </a:p>
        </p:txBody>
      </p:sp>
      <p:sp>
        <p:nvSpPr>
          <p:cNvPr id="3" name="PlaceHolder 2"/>
          <p:cNvSpPr>
            <a:spLocks noGrp="1"/>
          </p:cNvSpPr>
          <p:nvPr>
            <p:ph type="sldNum" idx="16"/>
          </p:nvPr>
        </p:nvSpPr>
        <p:spPr/>
        <p:txBody>
          <a:bodyPr/>
          <a:p>
            <a:fld id="{18B679D1-903F-4168-92EE-4CD0F3644178}" type="slidenum">
              <a:t>&lt;#&gt;</a:t>
            </a:fld>
          </a:p>
        </p:txBody>
      </p:sp>
      <p:sp>
        <p:nvSpPr>
          <p:cNvPr id="4" name="PlaceHolder 3"/>
          <p:cNvSpPr>
            <a:spLocks noGrp="1"/>
          </p:cNvSpPr>
          <p:nvPr>
            <p:ph type="dt" idx="14"/>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1" name="PlaceHolder 2"/>
          <p:cNvSpPr>
            <a:spLocks noGrp="1"/>
          </p:cNvSpPr>
          <p:nvPr>
            <p:ph/>
          </p:nvPr>
        </p:nvSpPr>
        <p:spPr>
          <a:xfrm>
            <a:off x="628560" y="1825560"/>
            <a:ext cx="384840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Open Sans Condensed"/>
            </a:endParaRPr>
          </a:p>
        </p:txBody>
      </p:sp>
      <p:sp>
        <p:nvSpPr>
          <p:cNvPr id="42" name="PlaceHolder 3"/>
          <p:cNvSpPr>
            <a:spLocks noGrp="1"/>
          </p:cNvSpPr>
          <p:nvPr>
            <p:ph/>
          </p:nvPr>
        </p:nvSpPr>
        <p:spPr>
          <a:xfrm>
            <a:off x="4669920" y="1825560"/>
            <a:ext cx="384840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Open Sans Condensed"/>
            </a:endParaRPr>
          </a:p>
        </p:txBody>
      </p:sp>
      <p:sp>
        <p:nvSpPr>
          <p:cNvPr id="5" name="PlaceHolder 4"/>
          <p:cNvSpPr>
            <a:spLocks noGrp="1"/>
          </p:cNvSpPr>
          <p:nvPr>
            <p:ph type="ftr" idx="18"/>
          </p:nvPr>
        </p:nvSpPr>
        <p:spPr/>
        <p:txBody>
          <a:bodyPr/>
          <a:p>
            <a:r>
              <a:t>Footer</a:t>
            </a:r>
          </a:p>
        </p:txBody>
      </p:sp>
      <p:sp>
        <p:nvSpPr>
          <p:cNvPr id="6" name="PlaceHolder 5"/>
          <p:cNvSpPr>
            <a:spLocks noGrp="1"/>
          </p:cNvSpPr>
          <p:nvPr>
            <p:ph type="sldNum" idx="19"/>
          </p:nvPr>
        </p:nvSpPr>
        <p:spPr/>
        <p:txBody>
          <a:bodyPr/>
          <a:p>
            <a:fld id="{9D4301C4-16B5-4D3F-AFB8-4AAE4A184191}" type="slidenum">
              <a:t>&lt;#&gt;</a:t>
            </a:fld>
          </a:p>
        </p:txBody>
      </p:sp>
      <p:sp>
        <p:nvSpPr>
          <p:cNvPr id="7" name="PlaceHolder 6"/>
          <p:cNvSpPr>
            <a:spLocks noGrp="1"/>
          </p:cNvSpPr>
          <p:nvPr>
            <p:ph type="dt" idx="17"/>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1"/>
          </p:nvPr>
        </p:nvSpPr>
        <p:spPr/>
        <p:txBody>
          <a:bodyPr/>
          <a:p>
            <a:r>
              <a:t>Footer</a:t>
            </a:r>
          </a:p>
        </p:txBody>
      </p:sp>
      <p:sp>
        <p:nvSpPr>
          <p:cNvPr id="3" name="PlaceHolder 2"/>
          <p:cNvSpPr>
            <a:spLocks noGrp="1"/>
          </p:cNvSpPr>
          <p:nvPr>
            <p:ph type="sldNum" idx="22"/>
          </p:nvPr>
        </p:nvSpPr>
        <p:spPr/>
        <p:txBody>
          <a:bodyPr/>
          <a:p>
            <a:fld id="{C1305681-638E-45C7-838D-27E76D27A6DA}" type="slidenum">
              <a:t>&lt;#&gt;</a:t>
            </a:fld>
          </a:p>
        </p:txBody>
      </p:sp>
      <p:sp>
        <p:nvSpPr>
          <p:cNvPr id="4" name="PlaceHolder 3"/>
          <p:cNvSpPr>
            <a:spLocks noGrp="1"/>
          </p:cNvSpPr>
          <p:nvPr>
            <p:ph type="dt" idx="20"/>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28560" y="365040"/>
            <a:ext cx="788652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4"/>
          </p:nvPr>
        </p:nvSpPr>
        <p:spPr/>
        <p:txBody>
          <a:bodyPr/>
          <a:p>
            <a:r>
              <a:t>Footer</a:t>
            </a:r>
          </a:p>
        </p:txBody>
      </p:sp>
      <p:sp>
        <p:nvSpPr>
          <p:cNvPr id="4" name="PlaceHolder 3"/>
          <p:cNvSpPr>
            <a:spLocks noGrp="1"/>
          </p:cNvSpPr>
          <p:nvPr>
            <p:ph type="sldNum" idx="25"/>
          </p:nvPr>
        </p:nvSpPr>
        <p:spPr/>
        <p:txBody>
          <a:bodyPr/>
          <a:p>
            <a:fld id="{CDF156B9-1810-4CA7-BAD3-9DDED81F1DDE}" type="slidenum">
              <a:t>&lt;#&gt;</a:t>
            </a:fld>
          </a:p>
        </p:txBody>
      </p:sp>
      <p:sp>
        <p:nvSpPr>
          <p:cNvPr id="5" name="PlaceHolder 4"/>
          <p:cNvSpPr>
            <a:spLocks noGrp="1"/>
          </p:cNvSpPr>
          <p:nvPr>
            <p:ph type="dt" idx="2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7"/>
          </p:nvPr>
        </p:nvSpPr>
        <p:spPr/>
        <p:txBody>
          <a:bodyPr/>
          <a:p>
            <a:r>
              <a:t>Footer</a:t>
            </a:r>
          </a:p>
        </p:txBody>
      </p:sp>
      <p:sp>
        <p:nvSpPr>
          <p:cNvPr id="3" name="PlaceHolder 2"/>
          <p:cNvSpPr>
            <a:spLocks noGrp="1"/>
          </p:cNvSpPr>
          <p:nvPr>
            <p:ph type="sldNum" idx="28"/>
          </p:nvPr>
        </p:nvSpPr>
        <p:spPr/>
        <p:txBody>
          <a:bodyPr/>
          <a:p>
            <a:fld id="{A5F56B50-A42C-4E19-98D3-A7EFEC2E5B0D}" type="slidenum">
              <a:t>&lt;#&gt;</a:t>
            </a:fld>
          </a:p>
        </p:txBody>
      </p:sp>
      <p:sp>
        <p:nvSpPr>
          <p:cNvPr id="4" name="PlaceHolder 3"/>
          <p:cNvSpPr>
            <a:spLocks noGrp="1"/>
          </p:cNvSpPr>
          <p:nvPr>
            <p:ph type="dt" idx="26"/>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0"/>
          </p:nvPr>
        </p:nvSpPr>
        <p:spPr/>
        <p:txBody>
          <a:bodyPr/>
          <a:p>
            <a:r>
              <a:t>Footer</a:t>
            </a:r>
          </a:p>
        </p:txBody>
      </p:sp>
      <p:sp>
        <p:nvSpPr>
          <p:cNvPr id="3" name="PlaceHolder 2"/>
          <p:cNvSpPr>
            <a:spLocks noGrp="1"/>
          </p:cNvSpPr>
          <p:nvPr>
            <p:ph type="sldNum" idx="31"/>
          </p:nvPr>
        </p:nvSpPr>
        <p:spPr/>
        <p:txBody>
          <a:bodyPr/>
          <a:p>
            <a:fld id="{93CADDC6-273E-408F-B4F1-3AE07B27DB4A}" type="slidenum">
              <a:t>&lt;#&gt;</a:t>
            </a:fld>
          </a:p>
        </p:txBody>
      </p:sp>
      <p:sp>
        <p:nvSpPr>
          <p:cNvPr id="4" name="PlaceHolder 3"/>
          <p:cNvSpPr>
            <a:spLocks noGrp="1"/>
          </p:cNvSpPr>
          <p:nvPr>
            <p:ph type="dt" idx="29"/>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3"/>
          </p:nvPr>
        </p:nvSpPr>
        <p:spPr/>
        <p:txBody>
          <a:bodyPr/>
          <a:p>
            <a:r>
              <a:t>Footer</a:t>
            </a:r>
          </a:p>
        </p:txBody>
      </p:sp>
      <p:sp>
        <p:nvSpPr>
          <p:cNvPr id="3" name="PlaceHolder 2"/>
          <p:cNvSpPr>
            <a:spLocks noGrp="1"/>
          </p:cNvSpPr>
          <p:nvPr>
            <p:ph type="sldNum" idx="34"/>
          </p:nvPr>
        </p:nvSpPr>
        <p:spPr/>
        <p:txBody>
          <a:bodyPr/>
          <a:p>
            <a:fld id="{BA652D09-4254-4B78-B088-987F6B1343CE}" type="slidenum">
              <a:t>&lt;#&gt;</a:t>
            </a:fld>
          </a:p>
        </p:txBody>
      </p:sp>
      <p:sp>
        <p:nvSpPr>
          <p:cNvPr id="4" name="PlaceHolder 3"/>
          <p:cNvSpPr>
            <a:spLocks noGrp="1"/>
          </p:cNvSpPr>
          <p:nvPr>
            <p:ph type="dt" idx="3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143000" y="1122480"/>
            <a:ext cx="6857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Open Sans Condensed"/>
              </a:rPr>
              <a:t>Click to </a:t>
            </a:r>
            <a:r>
              <a:rPr b="0" lang="en-US" sz="6000" spc="-1" strike="noStrike">
                <a:solidFill>
                  <a:schemeClr val="dk1"/>
                </a:solidFill>
                <a:latin typeface="Open Sans Condensed"/>
              </a:rPr>
              <a:t>edit </a:t>
            </a:r>
            <a:r>
              <a:rPr b="0" lang="en-US" sz="6000" spc="-1" strike="noStrike">
                <a:solidFill>
                  <a:schemeClr val="dk1"/>
                </a:solidFill>
                <a:latin typeface="Open Sans Condensed"/>
              </a:rPr>
              <a:t>Master </a:t>
            </a:r>
            <a:r>
              <a:rPr b="0" lang="en-US" sz="6000" spc="-1" strike="noStrike">
                <a:solidFill>
                  <a:schemeClr val="dk1"/>
                </a:solidFill>
                <a:latin typeface="Open Sans Condensed"/>
              </a:rPr>
              <a:t>title style</a:t>
            </a:r>
            <a:endParaRPr b="0" lang="en-US" sz="6000" spc="-1" strike="noStrike">
              <a:solidFill>
                <a:schemeClr val="dk1"/>
              </a:solidFill>
              <a:latin typeface="Calibri"/>
            </a:endParaRPr>
          </a:p>
        </p:txBody>
      </p:sp>
      <p:sp>
        <p:nvSpPr>
          <p:cNvPr id="1" name="PlaceHolder 2"/>
          <p:cNvSpPr>
            <a:spLocks noGrp="1"/>
          </p:cNvSpPr>
          <p:nvPr>
            <p:ph type="dt" idx="1"/>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C423CF7-FA1C-4240-8F2D-4133FCB6F27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Open Sans Condensed"/>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628560" y="1825560"/>
            <a:ext cx="788652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8" name="PlaceHolder 3"/>
          <p:cNvSpPr>
            <a:spLocks noGrp="1"/>
          </p:cNvSpPr>
          <p:nvPr>
            <p:ph type="dt" idx="4"/>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D7B5194-1E48-47DE-AE66-75B31E47806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543720" y="365040"/>
            <a:ext cx="197136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pc="-1" strike="noStrike">
                <a:solidFill>
                  <a:schemeClr val="dk1"/>
                </a:solidFill>
                <a:latin typeface="Open Sans Condensed"/>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628560" y="365040"/>
            <a:ext cx="580032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13" name="PlaceHolder 3"/>
          <p:cNvSpPr>
            <a:spLocks noGrp="1"/>
          </p:cNvSpPr>
          <p:nvPr>
            <p:ph type="dt" idx="7"/>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650867D-B5CF-496D-A0EF-6061243AA91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Shape 19"/>
          <p:cNvSpPr/>
          <p:nvPr/>
        </p:nvSpPr>
        <p:spPr>
          <a:xfrm>
            <a:off x="0" y="6727680"/>
            <a:ext cx="9143640" cy="129960"/>
          </a:xfrm>
          <a:prstGeom prst="rect">
            <a:avLst/>
          </a:prstGeom>
          <a:solidFill>
            <a:schemeClr val="lt2"/>
          </a:solidFill>
          <a:ln w="0">
            <a:noFill/>
          </a:ln>
        </p:spPr>
        <p:style>
          <a:lnRef idx="0"/>
          <a:fillRef idx="0"/>
          <a:effectRef idx="0"/>
          <a:fontRef idx="minor"/>
        </p:style>
        <p:txBody>
          <a:bodyPr tIns="65160" bIns="65160" anchor="ctr">
            <a:noAutofit/>
          </a:bodyPr>
          <a:p>
            <a:pPr defTabSz="914400">
              <a:lnSpc>
                <a:spcPct val="100000"/>
              </a:lnSpc>
              <a:tabLst>
                <a:tab algn="l" pos="0"/>
              </a:tabLst>
            </a:pPr>
            <a:endParaRPr b="0" lang="en-US" sz="1800" spc="-1" strike="noStrike">
              <a:solidFill>
                <a:schemeClr val="dk1"/>
              </a:solidFill>
              <a:latin typeface="Calibri"/>
            </a:endParaRPr>
          </a:p>
        </p:txBody>
      </p:sp>
      <p:sp>
        <p:nvSpPr>
          <p:cNvPr id="17" name="PlaceHolder 1"/>
          <p:cNvSpPr>
            <a:spLocks noGrp="1"/>
          </p:cNvSpPr>
          <p:nvPr>
            <p:ph type="title"/>
          </p:nvPr>
        </p:nvSpPr>
        <p:spPr>
          <a:xfrm>
            <a:off x="311760" y="593280"/>
            <a:ext cx="8520120" cy="763200"/>
          </a:xfrm>
          <a:prstGeom prst="rect">
            <a:avLst/>
          </a:prstGeom>
          <a:noFill/>
          <a:ln w="0">
            <a:noFill/>
          </a:ln>
        </p:spPr>
        <p:txBody>
          <a:bodyPr lIns="91440" rIns="91440" tIns="91440" bIns="91440" anchor="t">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8" name="PlaceHolder 2"/>
          <p:cNvSpPr>
            <a:spLocks noGrp="1"/>
          </p:cNvSpPr>
          <p:nvPr>
            <p:ph type="body"/>
          </p:nvPr>
        </p:nvSpPr>
        <p:spPr>
          <a:xfrm>
            <a:off x="311760" y="1536480"/>
            <a:ext cx="8520120" cy="4554720"/>
          </a:xfrm>
          <a:prstGeom prst="rect">
            <a:avLst/>
          </a:prstGeom>
          <a:noFill/>
          <a:ln w="0">
            <a:noFill/>
          </a:ln>
        </p:spPr>
        <p:txBody>
          <a:bodyPr lIns="91440" rIns="91440" tIns="91440" bIns="91440" anchor="t">
            <a:no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Open Sans Condensed"/>
              </a:rPr>
              <a:t>Click to edit the outline text format</a:t>
            </a:r>
            <a:endParaRPr b="0" lang="en-US" sz="2800" spc="-1" strike="noStrike">
              <a:solidFill>
                <a:schemeClr val="dk1"/>
              </a:solidFill>
              <a:latin typeface="Open Sans Condensed"/>
            </a:endParaRPr>
          </a:p>
          <a:p>
            <a:pPr lvl="1" marL="864000" indent="-324000">
              <a:lnSpc>
                <a:spcPct val="90000"/>
              </a:lnSpc>
              <a:spcBef>
                <a:spcPts val="1134"/>
              </a:spcBef>
              <a:buClr>
                <a:srgbClr val="000000"/>
              </a:buClr>
              <a:buSzPct val="75000"/>
              <a:buFont typeface="Symbol" charset="2"/>
              <a:buChar char=""/>
            </a:pPr>
            <a:r>
              <a:rPr b="0" lang="en-US" sz="2800" spc="-1" strike="noStrike">
                <a:solidFill>
                  <a:schemeClr val="dk1"/>
                </a:solidFill>
                <a:latin typeface="Open Sans Condensed"/>
              </a:rPr>
              <a:t>Second Outline Level</a:t>
            </a:r>
            <a:endParaRPr b="0" lang="en-US" sz="2800" spc="-1" strike="noStrike">
              <a:solidFill>
                <a:schemeClr val="dk1"/>
              </a:solidFill>
              <a:latin typeface="Open Sans Condensed"/>
            </a:endParaRPr>
          </a:p>
          <a:p>
            <a:pPr lvl="2" marL="1296000" indent="-288000">
              <a:lnSpc>
                <a:spcPct val="90000"/>
              </a:lnSpc>
              <a:spcBef>
                <a:spcPts val="850"/>
              </a:spcBef>
              <a:buClr>
                <a:srgbClr val="000000"/>
              </a:buClr>
              <a:buSzPct val="45000"/>
              <a:buFont typeface="Wingdings" charset="2"/>
              <a:buChar char=""/>
            </a:pPr>
            <a:r>
              <a:rPr b="0" lang="en-US" sz="2800" spc="-1" strike="noStrike">
                <a:solidFill>
                  <a:schemeClr val="dk1"/>
                </a:solidFill>
                <a:latin typeface="Open Sans Condensed"/>
              </a:rPr>
              <a:t>Third Outline Level</a:t>
            </a:r>
            <a:endParaRPr b="0" lang="en-US" sz="2800" spc="-1" strike="noStrike">
              <a:solidFill>
                <a:schemeClr val="dk1"/>
              </a:solidFill>
              <a:latin typeface="Open Sans Condensed"/>
            </a:endParaRPr>
          </a:p>
          <a:p>
            <a:pPr lvl="3" marL="1728000" indent="-216000">
              <a:lnSpc>
                <a:spcPct val="90000"/>
              </a:lnSpc>
              <a:spcBef>
                <a:spcPts val="567"/>
              </a:spcBef>
              <a:buClr>
                <a:srgbClr val="000000"/>
              </a:buClr>
              <a:buSzPct val="75000"/>
              <a:buFont typeface="Symbol" charset="2"/>
              <a:buChar char=""/>
            </a:pPr>
            <a:r>
              <a:rPr b="0" lang="en-US" sz="2800" spc="-1" strike="noStrike">
                <a:solidFill>
                  <a:schemeClr val="dk1"/>
                </a:solidFill>
                <a:latin typeface="Open Sans Condensed"/>
              </a:rPr>
              <a:t>Fourth Outline Level</a:t>
            </a:r>
            <a:endParaRPr b="0" lang="en-US" sz="2800" spc="-1" strike="noStrike">
              <a:solidFill>
                <a:schemeClr val="dk1"/>
              </a:solidFill>
              <a:latin typeface="Open Sans Condensed"/>
            </a:endParaRPr>
          </a:p>
          <a:p>
            <a:pPr lvl="4" marL="2160000" indent="-216000">
              <a:lnSpc>
                <a:spcPct val="90000"/>
              </a:lnSpc>
              <a:spcBef>
                <a:spcPts val="283"/>
              </a:spcBef>
              <a:buClr>
                <a:srgbClr val="000000"/>
              </a:buClr>
              <a:buSzPct val="45000"/>
              <a:buFont typeface="Wingdings" charset="2"/>
              <a:buChar char=""/>
            </a:pPr>
            <a:r>
              <a:rPr b="0" lang="en-US" sz="2800" spc="-1" strike="noStrike">
                <a:solidFill>
                  <a:schemeClr val="dk1"/>
                </a:solidFill>
                <a:latin typeface="Open Sans Condensed"/>
              </a:rPr>
              <a:t>Fifth Outline Level</a:t>
            </a:r>
            <a:endParaRPr b="0" lang="en-US" sz="2800" spc="-1" strike="noStrike">
              <a:solidFill>
                <a:schemeClr val="dk1"/>
              </a:solidFill>
              <a:latin typeface="Open Sans Condensed"/>
            </a:endParaRPr>
          </a:p>
          <a:p>
            <a:pPr lvl="5" marL="2592000" indent="-216000">
              <a:lnSpc>
                <a:spcPct val="90000"/>
              </a:lnSpc>
              <a:spcBef>
                <a:spcPts val="283"/>
              </a:spcBef>
              <a:buClr>
                <a:srgbClr val="000000"/>
              </a:buClr>
              <a:buSzPct val="45000"/>
              <a:buFont typeface="Wingdings" charset="2"/>
              <a:buChar char=""/>
            </a:pPr>
            <a:r>
              <a:rPr b="0" lang="en-US" sz="2800" spc="-1" strike="noStrike">
                <a:solidFill>
                  <a:schemeClr val="dk1"/>
                </a:solidFill>
                <a:latin typeface="Open Sans Condensed"/>
              </a:rPr>
              <a:t>Sixth Outline Level</a:t>
            </a:r>
            <a:endParaRPr b="0" lang="en-US" sz="2800" spc="-1" strike="noStrike">
              <a:solidFill>
                <a:schemeClr val="dk1"/>
              </a:solidFill>
              <a:latin typeface="Open Sans Condensed"/>
            </a:endParaRPr>
          </a:p>
          <a:p>
            <a:pPr lvl="6" marL="3024000" indent="-216000">
              <a:lnSpc>
                <a:spcPct val="90000"/>
              </a:lnSpc>
              <a:spcBef>
                <a:spcPts val="283"/>
              </a:spcBef>
              <a:buClr>
                <a:srgbClr val="000000"/>
              </a:buClr>
              <a:buSzPct val="45000"/>
              <a:buFont typeface="Wingdings" charset="2"/>
              <a:buChar char=""/>
            </a:pPr>
            <a:r>
              <a:rPr b="0" lang="en-US" sz="2800" spc="-1" strike="noStrike">
                <a:solidFill>
                  <a:schemeClr val="dk1"/>
                </a:solidFill>
                <a:latin typeface="Open Sans Condensed"/>
              </a:rPr>
              <a:t>Seventh Outline Level</a:t>
            </a:r>
            <a:endParaRPr b="0" lang="en-US" sz="2800" spc="-1" strike="noStrike">
              <a:solidFill>
                <a:schemeClr val="dk1"/>
              </a:solidFill>
              <a:latin typeface="Open Sans Condensed"/>
            </a:endParaRPr>
          </a:p>
        </p:txBody>
      </p:sp>
      <p:sp>
        <p:nvSpPr>
          <p:cNvPr id="19" name="PlaceHolder 3"/>
          <p:cNvSpPr>
            <a:spLocks noGrp="1"/>
          </p:cNvSpPr>
          <p:nvPr>
            <p:ph type="sldNum" idx="10"/>
          </p:nvPr>
        </p:nvSpPr>
        <p:spPr>
          <a:xfrm>
            <a:off x="8472600" y="6217560"/>
            <a:ext cx="548280" cy="524520"/>
          </a:xfrm>
          <a:prstGeom prst="rect">
            <a:avLst/>
          </a:prstGeom>
          <a:noFill/>
          <a:ln w="0">
            <a:noFill/>
          </a:ln>
        </p:spPr>
        <p:txBody>
          <a:bodyPr lIns="91440" rIns="91440" tIns="91440" bIns="9144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A1823EC0-7670-41B9-B4E2-3ECACFF92AF1}"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Click to edit Master title style</a:t>
            </a:r>
            <a:endParaRPr b="0" lang="en-US" sz="4400" spc="-1" strike="noStrike">
              <a:solidFill>
                <a:schemeClr val="dk1"/>
              </a:solidFill>
              <a:latin typeface="Calibri"/>
            </a:endParaRPr>
          </a:p>
        </p:txBody>
      </p:sp>
      <p:sp>
        <p:nvSpPr>
          <p:cNvPr id="23" name="PlaceHolder 2"/>
          <p:cNvSpPr>
            <a:spLocks noGrp="1"/>
          </p:cNvSpPr>
          <p:nvPr>
            <p:ph type="body"/>
          </p:nvPr>
        </p:nvSpPr>
        <p:spPr>
          <a:xfrm>
            <a:off x="628560" y="1825560"/>
            <a:ext cx="78865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24" name="PlaceHolder 3"/>
          <p:cNvSpPr>
            <a:spLocks noGrp="1"/>
          </p:cNvSpPr>
          <p:nvPr>
            <p:ph type="dt" idx="11"/>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5" name="PlaceHolder 4"/>
          <p:cNvSpPr>
            <a:spLocks noGrp="1"/>
          </p:cNvSpPr>
          <p:nvPr>
            <p:ph type="ftr" idx="12"/>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3"/>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E51BEDD0-73E9-4401-8FDF-00AF81F7205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23880" y="1709640"/>
            <a:ext cx="7886520" cy="2852280"/>
          </a:xfrm>
          <a:prstGeom prst="rect">
            <a:avLst/>
          </a:prstGeom>
          <a:noFill/>
          <a:ln w="0">
            <a:noFill/>
          </a:ln>
        </p:spPr>
        <p:txBody>
          <a:bodyPr lIns="91440" rIns="91440" tIns="45720" bIns="45720" anchor="b">
            <a:noAutofit/>
          </a:bodyPr>
          <a:p>
            <a:pPr indent="0" defTabSz="914400">
              <a:lnSpc>
                <a:spcPct val="90000"/>
              </a:lnSpc>
              <a:buNone/>
            </a:pPr>
            <a:r>
              <a:rPr b="0" lang="en-US" sz="6000" spc="-1" strike="noStrike">
                <a:solidFill>
                  <a:schemeClr val="dk1"/>
                </a:solidFill>
                <a:latin typeface="Open Sans Condensed"/>
              </a:rPr>
              <a:t>Click to edit Master title style</a:t>
            </a:r>
            <a:endParaRPr b="0" lang="en-US" sz="6000" spc="-1" strike="noStrike">
              <a:solidFill>
                <a:schemeClr val="dk1"/>
              </a:solidFill>
              <a:latin typeface="Calibri"/>
            </a:endParaRPr>
          </a:p>
        </p:txBody>
      </p:sp>
      <p:sp>
        <p:nvSpPr>
          <p:cNvPr id="30" name="PlaceHolder 2"/>
          <p:cNvSpPr>
            <a:spLocks noGrp="1"/>
          </p:cNvSpPr>
          <p:nvPr>
            <p:ph type="body"/>
          </p:nvPr>
        </p:nvSpPr>
        <p:spPr>
          <a:xfrm>
            <a:off x="623880" y="4589640"/>
            <a:ext cx="788652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Open Sans Condensed"/>
              </a:rPr>
              <a:t>Click to edit Master text styles</a:t>
            </a:r>
            <a:endParaRPr b="0" lang="en-US" sz="2400" spc="-1" strike="noStrike">
              <a:solidFill>
                <a:schemeClr val="dk1"/>
              </a:solidFill>
              <a:latin typeface="Open Sans Condensed"/>
            </a:endParaRPr>
          </a:p>
        </p:txBody>
      </p:sp>
      <p:sp>
        <p:nvSpPr>
          <p:cNvPr id="31" name="PlaceHolder 3"/>
          <p:cNvSpPr>
            <a:spLocks noGrp="1"/>
          </p:cNvSpPr>
          <p:nvPr>
            <p:ph type="dt" idx="14"/>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4"/>
          <p:cNvSpPr>
            <a:spLocks noGrp="1"/>
          </p:cNvSpPr>
          <p:nvPr>
            <p:ph type="ftr" idx="15"/>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16"/>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EC7003C-872C-4F7C-BA58-026CF166670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Open Sans Condensed"/>
              </a:rPr>
              <a:t>Click to edit Master title style</a:t>
            </a:r>
            <a:endParaRPr b="0" lang="en-US" sz="4400" spc="-1" strike="noStrike">
              <a:solidFill>
                <a:schemeClr val="dk1"/>
              </a:solidFill>
              <a:latin typeface="Calibri"/>
            </a:endParaRPr>
          </a:p>
        </p:txBody>
      </p:sp>
      <p:sp>
        <p:nvSpPr>
          <p:cNvPr id="35" name="PlaceHolder 2"/>
          <p:cNvSpPr>
            <a:spLocks noGrp="1"/>
          </p:cNvSpPr>
          <p:nvPr>
            <p:ph type="body"/>
          </p:nvPr>
        </p:nvSpPr>
        <p:spPr>
          <a:xfrm>
            <a:off x="628560" y="1825560"/>
            <a:ext cx="38858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36" name="PlaceHolder 3"/>
          <p:cNvSpPr>
            <a:spLocks noGrp="1"/>
          </p:cNvSpPr>
          <p:nvPr>
            <p:ph type="body"/>
          </p:nvPr>
        </p:nvSpPr>
        <p:spPr>
          <a:xfrm>
            <a:off x="4629240" y="1825560"/>
            <a:ext cx="38858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37" name="PlaceHolder 4"/>
          <p:cNvSpPr>
            <a:spLocks noGrp="1"/>
          </p:cNvSpPr>
          <p:nvPr>
            <p:ph type="dt" idx="17"/>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8" name="PlaceHolder 5"/>
          <p:cNvSpPr>
            <a:spLocks noGrp="1"/>
          </p:cNvSpPr>
          <p:nvPr>
            <p:ph type="ftr" idx="18"/>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9" name="PlaceHolder 6"/>
          <p:cNvSpPr>
            <a:spLocks noGrp="1"/>
          </p:cNvSpPr>
          <p:nvPr>
            <p:ph type="sldNum" idx="19"/>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DA8EF893-4979-4B9B-8930-B3B018ACE28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63000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Open Sans Condensed"/>
              </a:rPr>
              <a:t>Click to edit Master title style</a:t>
            </a:r>
            <a:endParaRPr b="0" lang="en-US" sz="4400" spc="-1" strike="noStrike">
              <a:solidFill>
                <a:schemeClr val="dk1"/>
              </a:solidFill>
              <a:latin typeface="Calibri"/>
            </a:endParaRPr>
          </a:p>
        </p:txBody>
      </p:sp>
      <p:sp>
        <p:nvSpPr>
          <p:cNvPr id="44" name="PlaceHolder 2"/>
          <p:cNvSpPr>
            <a:spLocks noGrp="1"/>
          </p:cNvSpPr>
          <p:nvPr>
            <p:ph type="body"/>
          </p:nvPr>
        </p:nvSpPr>
        <p:spPr>
          <a:xfrm>
            <a:off x="630000" y="1681200"/>
            <a:ext cx="386784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Open Sans Condensed"/>
              </a:rPr>
              <a:t>Click to edit Master text styles</a:t>
            </a:r>
            <a:endParaRPr b="0" lang="en-US" sz="2400" spc="-1" strike="noStrike">
              <a:solidFill>
                <a:schemeClr val="dk1"/>
              </a:solidFill>
              <a:latin typeface="Open Sans Condensed"/>
            </a:endParaRPr>
          </a:p>
        </p:txBody>
      </p:sp>
      <p:sp>
        <p:nvSpPr>
          <p:cNvPr id="45" name="PlaceHolder 3"/>
          <p:cNvSpPr>
            <a:spLocks noGrp="1"/>
          </p:cNvSpPr>
          <p:nvPr>
            <p:ph type="body"/>
          </p:nvPr>
        </p:nvSpPr>
        <p:spPr>
          <a:xfrm>
            <a:off x="630000" y="2505240"/>
            <a:ext cx="386784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46" name="PlaceHolder 4"/>
          <p:cNvSpPr>
            <a:spLocks noGrp="1"/>
          </p:cNvSpPr>
          <p:nvPr>
            <p:ph type="body"/>
          </p:nvPr>
        </p:nvSpPr>
        <p:spPr>
          <a:xfrm>
            <a:off x="4629240" y="1681200"/>
            <a:ext cx="3886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Open Sans Condensed"/>
              </a:rPr>
              <a:t>Click to edit Master text styles</a:t>
            </a:r>
            <a:endParaRPr b="0" lang="en-US" sz="2400" spc="-1" strike="noStrike">
              <a:solidFill>
                <a:schemeClr val="dk1"/>
              </a:solidFill>
              <a:latin typeface="Open Sans Condensed"/>
            </a:endParaRPr>
          </a:p>
        </p:txBody>
      </p:sp>
      <p:sp>
        <p:nvSpPr>
          <p:cNvPr id="47" name="PlaceHolder 5"/>
          <p:cNvSpPr>
            <a:spLocks noGrp="1"/>
          </p:cNvSpPr>
          <p:nvPr>
            <p:ph type="body"/>
          </p:nvPr>
        </p:nvSpPr>
        <p:spPr>
          <a:xfrm>
            <a:off x="4629240" y="2505240"/>
            <a:ext cx="3886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Open Sans Condensed"/>
              </a:rPr>
              <a:t>Click to edit Master text styles</a:t>
            </a:r>
            <a:endParaRPr b="0" lang="en-US" sz="28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Second level</a:t>
            </a:r>
            <a:endParaRPr b="0" lang="en-US" sz="24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Third level</a:t>
            </a:r>
            <a:endParaRPr b="0" lang="en-US" sz="20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Fourth level</a:t>
            </a:r>
            <a:endParaRPr b="0" lang="en-US" sz="18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Open Sans Condensed"/>
              </a:rPr>
              <a:t>Fifth level</a:t>
            </a:r>
            <a:endParaRPr b="0" lang="en-US" sz="1800" spc="-1" strike="noStrike">
              <a:solidFill>
                <a:schemeClr val="dk1"/>
              </a:solidFill>
              <a:latin typeface="Open Sans Condensed"/>
            </a:endParaRPr>
          </a:p>
        </p:txBody>
      </p:sp>
      <p:sp>
        <p:nvSpPr>
          <p:cNvPr id="48" name="PlaceHolder 6"/>
          <p:cNvSpPr>
            <a:spLocks noGrp="1"/>
          </p:cNvSpPr>
          <p:nvPr>
            <p:ph type="dt" idx="20"/>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9" name="PlaceHolder 7"/>
          <p:cNvSpPr>
            <a:spLocks noGrp="1"/>
          </p:cNvSpPr>
          <p:nvPr>
            <p:ph type="ftr" idx="21"/>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 name="PlaceHolder 8"/>
          <p:cNvSpPr>
            <a:spLocks noGrp="1"/>
          </p:cNvSpPr>
          <p:nvPr>
            <p:ph type="sldNum" idx="22"/>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71E26788-F1F3-41BA-9CF7-7CACE9352BD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Open Sans Condensed"/>
              </a:rPr>
              <a:t>Click to edit Master title style</a:t>
            </a:r>
            <a:endParaRPr b="0" lang="en-US" sz="4400" spc="-1" strike="noStrike">
              <a:solidFill>
                <a:schemeClr val="dk1"/>
              </a:solidFill>
              <a:latin typeface="Calibri"/>
            </a:endParaRPr>
          </a:p>
        </p:txBody>
      </p:sp>
      <p:sp>
        <p:nvSpPr>
          <p:cNvPr id="52" name="PlaceHolder 2"/>
          <p:cNvSpPr>
            <a:spLocks noGrp="1"/>
          </p:cNvSpPr>
          <p:nvPr>
            <p:ph type="dt" idx="23"/>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3" name="PlaceHolder 3"/>
          <p:cNvSpPr>
            <a:spLocks noGrp="1"/>
          </p:cNvSpPr>
          <p:nvPr>
            <p:ph type="ftr" idx="24"/>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 name="PlaceHolder 4"/>
          <p:cNvSpPr>
            <a:spLocks noGrp="1"/>
          </p:cNvSpPr>
          <p:nvPr>
            <p:ph type="sldNum" idx="25"/>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D97D37D-FDB6-4AD7-88F9-4539359BE70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dt" idx="26"/>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7" name="PlaceHolder 2"/>
          <p:cNvSpPr>
            <a:spLocks noGrp="1"/>
          </p:cNvSpPr>
          <p:nvPr>
            <p:ph type="ftr" idx="27"/>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3"/>
          <p:cNvSpPr>
            <a:spLocks noGrp="1"/>
          </p:cNvSpPr>
          <p:nvPr>
            <p:ph type="sldNum" idx="28"/>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ECB6B1D-0B8A-42A4-B4B9-941A7A51461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630000" y="457200"/>
            <a:ext cx="294876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Open Sans Condensed"/>
              </a:rPr>
              <a:t>Click to edit Master title style</a:t>
            </a:r>
            <a:endParaRPr b="0" lang="en-US" sz="3200" spc="-1" strike="noStrike">
              <a:solidFill>
                <a:schemeClr val="dk1"/>
              </a:solidFill>
              <a:latin typeface="Calibri"/>
            </a:endParaRPr>
          </a:p>
        </p:txBody>
      </p:sp>
      <p:sp>
        <p:nvSpPr>
          <p:cNvPr id="60" name="PlaceHolder 2"/>
          <p:cNvSpPr>
            <a:spLocks noGrp="1"/>
          </p:cNvSpPr>
          <p:nvPr>
            <p:ph type="body"/>
          </p:nvPr>
        </p:nvSpPr>
        <p:spPr>
          <a:xfrm>
            <a:off x="3887280" y="987480"/>
            <a:ext cx="462888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Open Sans Condensed"/>
              </a:rPr>
              <a:t>Click to edit Master text styles</a:t>
            </a:r>
            <a:endParaRPr b="0" lang="en-US" sz="3200" spc="-1" strike="noStrike">
              <a:solidFill>
                <a:schemeClr val="dk1"/>
              </a:solidFill>
              <a:latin typeface="Open Sans Condensed"/>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Open Sans Condensed"/>
              </a:rPr>
              <a:t>Second level</a:t>
            </a:r>
            <a:endParaRPr b="0" lang="en-US" sz="2800" spc="-1" strike="noStrike">
              <a:solidFill>
                <a:schemeClr val="dk1"/>
              </a:solidFill>
              <a:latin typeface="Open Sans Condensed"/>
            </a:endParaRPr>
          </a:p>
          <a:p>
            <a:pPr lvl="2" marL="1143000" indent="-228600" defTabSz="914400">
              <a:lnSpc>
                <a:spcPct val="90000"/>
              </a:lnSpc>
              <a:spcBef>
                <a:spcPts val="499"/>
              </a:spcBef>
              <a:buClr>
                <a:srgbClr val="000000"/>
              </a:buClr>
              <a:buFont typeface="Arial"/>
              <a:buChar char="•"/>
            </a:pPr>
            <a:r>
              <a:rPr b="0" lang="en-US" sz="2400" spc="-1" strike="noStrike">
                <a:solidFill>
                  <a:schemeClr val="dk1"/>
                </a:solidFill>
                <a:latin typeface="Open Sans Condensed"/>
              </a:rPr>
              <a:t>Third level</a:t>
            </a:r>
            <a:endParaRPr b="0" lang="en-US" sz="2400" spc="-1" strike="noStrike">
              <a:solidFill>
                <a:schemeClr val="dk1"/>
              </a:solidFill>
              <a:latin typeface="Open Sans Condensed"/>
            </a:endParaRPr>
          </a:p>
          <a:p>
            <a:pPr lvl="3" marL="16002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Fourth level</a:t>
            </a:r>
            <a:endParaRPr b="0" lang="en-US" sz="2000" spc="-1" strike="noStrike">
              <a:solidFill>
                <a:schemeClr val="dk1"/>
              </a:solidFill>
              <a:latin typeface="Open Sans Condensed"/>
            </a:endParaRPr>
          </a:p>
          <a:p>
            <a:pPr lvl="4" marL="2057400" indent="-228600" defTabSz="914400">
              <a:lnSpc>
                <a:spcPct val="90000"/>
              </a:lnSpc>
              <a:spcBef>
                <a:spcPts val="499"/>
              </a:spcBef>
              <a:buClr>
                <a:srgbClr val="000000"/>
              </a:buClr>
              <a:buFont typeface="Arial"/>
              <a:buChar char="•"/>
            </a:pPr>
            <a:r>
              <a:rPr b="0" lang="en-US" sz="2000" spc="-1" strike="noStrike">
                <a:solidFill>
                  <a:schemeClr val="dk1"/>
                </a:solidFill>
                <a:latin typeface="Open Sans Condensed"/>
              </a:rPr>
              <a:t>Fifth level</a:t>
            </a:r>
            <a:endParaRPr b="0" lang="en-US" sz="2000" spc="-1" strike="noStrike">
              <a:solidFill>
                <a:schemeClr val="dk1"/>
              </a:solidFill>
              <a:latin typeface="Open Sans Condensed"/>
            </a:endParaRPr>
          </a:p>
        </p:txBody>
      </p:sp>
      <p:sp>
        <p:nvSpPr>
          <p:cNvPr id="61" name="PlaceHolder 3"/>
          <p:cNvSpPr>
            <a:spLocks noGrp="1"/>
          </p:cNvSpPr>
          <p:nvPr>
            <p:ph type="body"/>
          </p:nvPr>
        </p:nvSpPr>
        <p:spPr>
          <a:xfrm>
            <a:off x="630000" y="2057400"/>
            <a:ext cx="294876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Open Sans Condensed"/>
              </a:rPr>
              <a:t>Click to edit Master text styles</a:t>
            </a:r>
            <a:endParaRPr b="0" lang="en-US" sz="1600" spc="-1" strike="noStrike">
              <a:solidFill>
                <a:schemeClr val="dk1"/>
              </a:solidFill>
              <a:latin typeface="Open Sans Condensed"/>
            </a:endParaRPr>
          </a:p>
        </p:txBody>
      </p:sp>
      <p:sp>
        <p:nvSpPr>
          <p:cNvPr id="62" name="PlaceHolder 4"/>
          <p:cNvSpPr>
            <a:spLocks noGrp="1"/>
          </p:cNvSpPr>
          <p:nvPr>
            <p:ph type="dt" idx="29"/>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3" name="PlaceHolder 5"/>
          <p:cNvSpPr>
            <a:spLocks noGrp="1"/>
          </p:cNvSpPr>
          <p:nvPr>
            <p:ph type="ftr" idx="30"/>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4" name="PlaceHolder 6"/>
          <p:cNvSpPr>
            <a:spLocks noGrp="1"/>
          </p:cNvSpPr>
          <p:nvPr>
            <p:ph type="sldNum" idx="31"/>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0F251E5-0C8F-4DE5-95E6-14649CA7C80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630000" y="457200"/>
            <a:ext cx="294876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Open Sans Condensed"/>
              </a:rPr>
              <a:t>Click to edit Master title style</a:t>
            </a:r>
            <a:endParaRPr b="0" lang="en-US" sz="3200" spc="-1" strike="noStrike">
              <a:solidFill>
                <a:schemeClr val="dk1"/>
              </a:solidFill>
              <a:latin typeface="Calibri"/>
            </a:endParaRPr>
          </a:p>
        </p:txBody>
      </p:sp>
      <p:sp>
        <p:nvSpPr>
          <p:cNvPr id="66" name="PlaceHolder 2"/>
          <p:cNvSpPr>
            <a:spLocks noGrp="1"/>
          </p:cNvSpPr>
          <p:nvPr>
            <p:ph type="body"/>
          </p:nvPr>
        </p:nvSpPr>
        <p:spPr>
          <a:xfrm>
            <a:off x="3887280" y="987480"/>
            <a:ext cx="462888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pc="-1" strike="noStrike">
                <a:solidFill>
                  <a:schemeClr val="dk1"/>
                </a:solidFill>
                <a:latin typeface="Open Sans Condensed"/>
              </a:rPr>
              <a:t>Click to edit the outline text format</a:t>
            </a:r>
            <a:endParaRPr b="0" lang="en-US" sz="3200" spc="-1" strike="noStrike">
              <a:solidFill>
                <a:schemeClr val="dk1"/>
              </a:solidFill>
              <a:latin typeface="Open Sans Condensed"/>
            </a:endParaRPr>
          </a:p>
          <a:p>
            <a:pPr lvl="1" marL="864000" indent="-324000">
              <a:lnSpc>
                <a:spcPct val="90000"/>
              </a:lnSpc>
              <a:spcBef>
                <a:spcPts val="1134"/>
              </a:spcBef>
              <a:buClr>
                <a:srgbClr val="000000"/>
              </a:buClr>
              <a:buSzPct val="75000"/>
              <a:buFont typeface="Symbol" charset="2"/>
              <a:buChar char=""/>
            </a:pPr>
            <a:r>
              <a:rPr b="0" lang="en-US" sz="3200" spc="-1" strike="noStrike">
                <a:solidFill>
                  <a:schemeClr val="dk1"/>
                </a:solidFill>
                <a:latin typeface="Open Sans Condensed"/>
              </a:rPr>
              <a:t>Second Outline Level</a:t>
            </a:r>
            <a:endParaRPr b="0" lang="en-US" sz="3200" spc="-1" strike="noStrike">
              <a:solidFill>
                <a:schemeClr val="dk1"/>
              </a:solidFill>
              <a:latin typeface="Open Sans Condensed"/>
            </a:endParaRPr>
          </a:p>
          <a:p>
            <a:pPr lvl="2" marL="1296000" indent="-288000">
              <a:lnSpc>
                <a:spcPct val="90000"/>
              </a:lnSpc>
              <a:spcBef>
                <a:spcPts val="850"/>
              </a:spcBef>
              <a:buClr>
                <a:srgbClr val="000000"/>
              </a:buClr>
              <a:buSzPct val="45000"/>
              <a:buFont typeface="Wingdings" charset="2"/>
              <a:buChar char=""/>
            </a:pPr>
            <a:r>
              <a:rPr b="0" lang="en-US" sz="3200" spc="-1" strike="noStrike">
                <a:solidFill>
                  <a:schemeClr val="dk1"/>
                </a:solidFill>
                <a:latin typeface="Open Sans Condensed"/>
              </a:rPr>
              <a:t>Third Outline Level</a:t>
            </a:r>
            <a:endParaRPr b="0" lang="en-US" sz="3200" spc="-1" strike="noStrike">
              <a:solidFill>
                <a:schemeClr val="dk1"/>
              </a:solidFill>
              <a:latin typeface="Open Sans Condensed"/>
            </a:endParaRPr>
          </a:p>
          <a:p>
            <a:pPr lvl="3" marL="1728000" indent="-216000">
              <a:lnSpc>
                <a:spcPct val="90000"/>
              </a:lnSpc>
              <a:spcBef>
                <a:spcPts val="567"/>
              </a:spcBef>
              <a:buClr>
                <a:srgbClr val="000000"/>
              </a:buClr>
              <a:buSzPct val="75000"/>
              <a:buFont typeface="Symbol" charset="2"/>
              <a:buChar char=""/>
            </a:pPr>
            <a:r>
              <a:rPr b="0" lang="en-US" sz="3200" spc="-1" strike="noStrike">
                <a:solidFill>
                  <a:schemeClr val="dk1"/>
                </a:solidFill>
                <a:latin typeface="Open Sans Condensed"/>
              </a:rPr>
              <a:t>Fourth Outline Level</a:t>
            </a:r>
            <a:endParaRPr b="0" lang="en-US" sz="3200" spc="-1" strike="noStrike">
              <a:solidFill>
                <a:schemeClr val="dk1"/>
              </a:solidFill>
              <a:latin typeface="Open Sans Condensed"/>
            </a:endParaRPr>
          </a:p>
          <a:p>
            <a:pPr lvl="4" marL="2160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Open Sans Condensed"/>
              </a:rPr>
              <a:t>Fifth Outline Level</a:t>
            </a:r>
            <a:endParaRPr b="0" lang="en-US" sz="3200" spc="-1" strike="noStrike">
              <a:solidFill>
                <a:schemeClr val="dk1"/>
              </a:solidFill>
              <a:latin typeface="Open Sans Condensed"/>
            </a:endParaRPr>
          </a:p>
          <a:p>
            <a:pPr lvl="5" marL="2592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Open Sans Condensed"/>
              </a:rPr>
              <a:t>Sixth Outline Level</a:t>
            </a:r>
            <a:endParaRPr b="0" lang="en-US" sz="3200" spc="-1" strike="noStrike">
              <a:solidFill>
                <a:schemeClr val="dk1"/>
              </a:solidFill>
              <a:latin typeface="Open Sans Condensed"/>
            </a:endParaRPr>
          </a:p>
          <a:p>
            <a:pPr lvl="6" marL="3024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Open Sans Condensed"/>
              </a:rPr>
              <a:t>Seventh Outline Level</a:t>
            </a:r>
            <a:endParaRPr b="0" lang="en-US" sz="3200" spc="-1" strike="noStrike">
              <a:solidFill>
                <a:schemeClr val="dk1"/>
              </a:solidFill>
              <a:latin typeface="Open Sans Condensed"/>
            </a:endParaRPr>
          </a:p>
        </p:txBody>
      </p:sp>
      <p:sp>
        <p:nvSpPr>
          <p:cNvPr id="67" name="PlaceHolder 3"/>
          <p:cNvSpPr>
            <a:spLocks noGrp="1"/>
          </p:cNvSpPr>
          <p:nvPr>
            <p:ph type="body"/>
          </p:nvPr>
        </p:nvSpPr>
        <p:spPr>
          <a:xfrm>
            <a:off x="630000" y="2057400"/>
            <a:ext cx="294876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Open Sans Condensed"/>
              </a:rPr>
              <a:t>Click to edit Master text styles</a:t>
            </a:r>
            <a:endParaRPr b="0" lang="en-US" sz="1600" spc="-1" strike="noStrike">
              <a:solidFill>
                <a:schemeClr val="dk1"/>
              </a:solidFill>
              <a:latin typeface="Open Sans Condensed"/>
            </a:endParaRPr>
          </a:p>
        </p:txBody>
      </p:sp>
      <p:sp>
        <p:nvSpPr>
          <p:cNvPr id="68" name="PlaceHolder 4"/>
          <p:cNvSpPr>
            <a:spLocks noGrp="1"/>
          </p:cNvSpPr>
          <p:nvPr>
            <p:ph type="dt" idx="32"/>
          </p:nvPr>
        </p:nvSpPr>
        <p:spPr>
          <a:xfrm>
            <a:off x="628560" y="6356520"/>
            <a:ext cx="20570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9" name="PlaceHolder 5"/>
          <p:cNvSpPr>
            <a:spLocks noGrp="1"/>
          </p:cNvSpPr>
          <p:nvPr>
            <p:ph type="ftr" idx="33"/>
          </p:nvPr>
        </p:nvSpPr>
        <p:spPr>
          <a:xfrm>
            <a:off x="3029040" y="6356520"/>
            <a:ext cx="30859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0" name="PlaceHolder 6"/>
          <p:cNvSpPr>
            <a:spLocks noGrp="1"/>
          </p:cNvSpPr>
          <p:nvPr>
            <p:ph type="sldNum" idx="34"/>
          </p:nvPr>
        </p:nvSpPr>
        <p:spPr>
          <a:xfrm>
            <a:off x="6458040" y="6356520"/>
            <a:ext cx="20570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AAB10FDA-F747-41CC-BB4B-8776836B9EE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hyperlink" Target="https://www.palass.org/publications/newsletter/cladistics-palaeontologists/cladistics-palaeontologists-part-4-optimisation&#8203;" TargetMode="External"/><Relationship Id="rId2" Type="http://schemas.openxmlformats.org/officeDocument/2006/relationships/image" Target="../media/image17.png"/><Relationship Id="rId3" Type="http://schemas.openxmlformats.org/officeDocument/2006/relationships/slideLayout" Target="../slideLayouts/slideLayout4.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5.xml"/>
</Relationships>
</file>

<file path=ppt/slides/_rels/slide3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5.xml"/>
</Relationships>
</file>

<file path=ppt/slides/_rels/slide32.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5.xml"/>
</Relationships>
</file>

<file path=ppt/slides/_rels/slide3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6.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5.xml"/>
</Relationships>
</file>

<file path=ppt/slides/_rels/slide37.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434880" y="365040"/>
            <a:ext cx="3845160" cy="1345680"/>
          </a:xfrm>
          <a:prstGeom prst="rect">
            <a:avLst/>
          </a:prstGeom>
          <a:noFill/>
          <a:ln w="0">
            <a:noFill/>
          </a:ln>
        </p:spPr>
        <p:txBody>
          <a:bodyPr lIns="91440" rIns="91440" tIns="45720" bIns="45720" anchor="ctr">
            <a:noAutofit/>
          </a:bodyPr>
          <a:p>
            <a:pPr indent="0" defTabSz="914400">
              <a:lnSpc>
                <a:spcPct val="90000"/>
              </a:lnSpc>
              <a:buNone/>
            </a:pPr>
            <a:r>
              <a:rPr b="0" lang="en-US" sz="4000" spc="-1" strike="noStrike">
                <a:solidFill>
                  <a:schemeClr val="dk1"/>
                </a:solidFill>
                <a:latin typeface="Arial"/>
              </a:rPr>
              <a:t>A brief history of phylogenetics</a:t>
            </a:r>
            <a:endParaRPr b="0" lang="en-US" sz="4000" spc="-1" strike="noStrike">
              <a:solidFill>
                <a:schemeClr val="dk1"/>
              </a:solidFill>
              <a:latin typeface="Calibri"/>
            </a:endParaRPr>
          </a:p>
        </p:txBody>
      </p:sp>
      <p:pic>
        <p:nvPicPr>
          <p:cNvPr id="78" name="Content Placeholder 3" descr="A page from Darwin's notebook showing the famous &quot;I think&quot; written in handwriting next to his sketch of a phylogenetic tree."/>
          <p:cNvPicPr/>
          <p:nvPr/>
        </p:nvPicPr>
        <p:blipFill>
          <a:blip r:embed="rId1"/>
          <a:srcRect l="0" t="0" r="252" b="0"/>
          <a:stretch/>
        </p:blipFill>
        <p:spPr>
          <a:xfrm>
            <a:off x="563760" y="2366640"/>
            <a:ext cx="4005360" cy="4350960"/>
          </a:xfrm>
          <a:prstGeom prst="rect">
            <a:avLst/>
          </a:prstGeom>
          <a:ln w="0">
            <a:noFill/>
          </a:ln>
        </p:spPr>
      </p:pic>
      <p:pic>
        <p:nvPicPr>
          <p:cNvPr id="79" name="Picture 4" descr="A stylistic depiction of a phylogenetic tree from Ernst Haeckel labeled &quot;Monera&quot; at the trunk of the tree, with many branches of mostly animals, and &quot;MAN&quot; a the very top branch."/>
          <p:cNvPicPr/>
          <p:nvPr/>
        </p:nvPicPr>
        <p:blipFill>
          <a:blip r:embed="rId2"/>
          <a:srcRect l="0" t="0" r="250" b="157"/>
          <a:stretch/>
        </p:blipFill>
        <p:spPr>
          <a:xfrm>
            <a:off x="4673880" y="153000"/>
            <a:ext cx="4142160" cy="6561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The four cannibalistic schools of phylogenetics history</a:t>
            </a:r>
            <a:endParaRPr b="0" lang="en-US" sz="4400" spc="-1" strike="noStrike">
              <a:solidFill>
                <a:schemeClr val="dk1"/>
              </a:solidFill>
              <a:latin typeface="Calibri"/>
            </a:endParaRPr>
          </a:p>
        </p:txBody>
      </p:sp>
      <p:pic>
        <p:nvPicPr>
          <p:cNvPr id="81" name="Content Placeholder 3" descr="Four cartoon fish. The smallest is evolutionary taxonomy, a larger fish eats it labeled phenetics, a larger fish eats it labeled cladistics, and the largest fish eating it is statistical phylogenetics. "/>
          <p:cNvPicPr/>
          <p:nvPr/>
        </p:nvPicPr>
        <p:blipFill>
          <a:blip r:embed="rId1"/>
          <a:stretch/>
        </p:blipFill>
        <p:spPr>
          <a:xfrm>
            <a:off x="628560" y="2032560"/>
            <a:ext cx="7886520" cy="3936600"/>
          </a:xfrm>
          <a:prstGeom prst="rect">
            <a:avLst/>
          </a:prstGeom>
          <a:ln w="0">
            <a:noFill/>
          </a:ln>
        </p:spPr>
      </p:pic>
      <p:sp>
        <p:nvSpPr>
          <p:cNvPr id="82" name="Text Box 4"/>
          <p:cNvSpPr/>
          <p:nvPr/>
        </p:nvSpPr>
        <p:spPr>
          <a:xfrm>
            <a:off x="7627680" y="4750920"/>
            <a:ext cx="17503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x-none" sz="1800" spc="-1" strike="noStrike">
                <a:solidFill>
                  <a:schemeClr val="dk1"/>
                </a:solidFill>
                <a:latin typeface="Open Sans Condensed"/>
              </a:rPr>
              <a:t>Evolutionary Taxonomy</a:t>
            </a:r>
            <a:r>
              <a:rPr b="0" lang="en-US" sz="1800" spc="-1" strike="noStrike">
                <a:solidFill>
                  <a:schemeClr val="dk1"/>
                </a:solidFill>
                <a:latin typeface="Open Sans Condensed"/>
              </a:rPr>
              <a:t> </a:t>
            </a:r>
            <a:br>
              <a:rPr sz="1800"/>
            </a:br>
            <a:r>
              <a:rPr b="0" lang="en-US" sz="1800" spc="-1" strike="noStrike">
                <a:solidFill>
                  <a:schemeClr val="dk1"/>
                </a:solidFill>
                <a:latin typeface="Open Sans Condensed"/>
              </a:rPr>
              <a:t>(Pre-1960s)</a:t>
            </a:r>
            <a:endParaRPr b="0" lang="en-US" sz="1800" spc="-1" strike="noStrike">
              <a:solidFill>
                <a:srgbClr val="000000"/>
              </a:solidFill>
              <a:latin typeface="Arial"/>
            </a:endParaRPr>
          </a:p>
        </p:txBody>
      </p:sp>
      <p:sp>
        <p:nvSpPr>
          <p:cNvPr id="83" name="Text Box 5"/>
          <p:cNvSpPr/>
          <p:nvPr/>
        </p:nvSpPr>
        <p:spPr>
          <a:xfrm>
            <a:off x="6317640" y="4925520"/>
            <a:ext cx="129636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x-none" sz="1800" spc="-1" strike="noStrike">
                <a:solidFill>
                  <a:schemeClr val="dk1"/>
                </a:solidFill>
                <a:latin typeface="Open Sans Condensed"/>
              </a:rPr>
              <a:t>Phenetics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Open Sans Condensed"/>
              </a:rPr>
              <a:t>(1950s-70s)</a:t>
            </a:r>
            <a:endParaRPr b="0" lang="en-US" sz="1800" spc="-1" strike="noStrike">
              <a:solidFill>
                <a:srgbClr val="000000"/>
              </a:solidFill>
              <a:latin typeface="Arial"/>
            </a:endParaRPr>
          </a:p>
        </p:txBody>
      </p:sp>
      <p:sp>
        <p:nvSpPr>
          <p:cNvPr id="84" name="Text Box 6"/>
          <p:cNvSpPr/>
          <p:nvPr/>
        </p:nvSpPr>
        <p:spPr>
          <a:xfrm>
            <a:off x="4943520" y="5135760"/>
            <a:ext cx="12517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x-none" sz="1800" spc="-1" strike="noStrike">
                <a:solidFill>
                  <a:schemeClr val="dk1"/>
                </a:solidFill>
                <a:latin typeface="Open Sans Condensed"/>
              </a:rPr>
              <a:t>Cladistics</a:t>
            </a:r>
            <a:br>
              <a:rPr sz="1800"/>
            </a:br>
            <a:r>
              <a:rPr b="0" lang="en-US" sz="1800" spc="-1" strike="noStrike">
                <a:solidFill>
                  <a:schemeClr val="dk1"/>
                </a:solidFill>
                <a:latin typeface="Open Sans Condensed"/>
              </a:rPr>
              <a:t>(1960s-90s)</a:t>
            </a:r>
            <a:endParaRPr b="0" lang="en-US" sz="1800" spc="-1" strike="noStrike">
              <a:solidFill>
                <a:srgbClr val="000000"/>
              </a:solidFill>
              <a:latin typeface="Arial"/>
            </a:endParaRPr>
          </a:p>
        </p:txBody>
      </p:sp>
      <p:sp>
        <p:nvSpPr>
          <p:cNvPr id="85" name="Text Box 7"/>
          <p:cNvSpPr/>
          <p:nvPr/>
        </p:nvSpPr>
        <p:spPr>
          <a:xfrm>
            <a:off x="2606760" y="5483880"/>
            <a:ext cx="23569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x-none" sz="1800" spc="-1" strike="noStrike">
                <a:solidFill>
                  <a:schemeClr val="dk1"/>
                </a:solidFill>
                <a:latin typeface="Open Sans Condensed"/>
              </a:rPr>
              <a:t>Statistical Phylogenetics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Open Sans Condensed"/>
              </a:rPr>
              <a:t>(1970s- present)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86" name="Rectangle 9">
            <a:extLst>
              <a:ext uri="{C183D7F6-B498-43B3-948B-1728B52AA6E4}">
                <adec:decorative xmlns:adec="http://schemas.microsoft.com/office/drawing/2017/decorative" val="1"/>
              </a:ext>
            </a:extLst>
          </p:cNvPr>
          <p:cNvSpPr/>
          <p:nvPr/>
        </p:nvSpPr>
        <p:spPr>
          <a:xfrm>
            <a:off x="0" y="0"/>
            <a:ext cx="914148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 name="PlaceHolder 1"/>
          <p:cNvSpPr>
            <a:spLocks noGrp="1"/>
          </p:cNvSpPr>
          <p:nvPr>
            <p:ph type="title"/>
          </p:nvPr>
        </p:nvSpPr>
        <p:spPr>
          <a:xfrm>
            <a:off x="480240" y="325440"/>
            <a:ext cx="3276000" cy="1956600"/>
          </a:xfrm>
          <a:prstGeom prst="rect">
            <a:avLst/>
          </a:prstGeom>
          <a:noFill/>
          <a:ln w="0">
            <a:noFill/>
          </a:ln>
        </p:spPr>
        <p:txBody>
          <a:bodyPr lIns="91440" rIns="91440" tIns="45720" bIns="45720" anchor="b">
            <a:normAutofit/>
          </a:bodyPr>
          <a:p>
            <a:pPr indent="0" defTabSz="914400">
              <a:lnSpc>
                <a:spcPct val="90000"/>
              </a:lnSpc>
              <a:buNone/>
            </a:pPr>
            <a:r>
              <a:rPr b="0" lang="en-US" sz="3300" spc="-1" strike="noStrike">
                <a:solidFill>
                  <a:schemeClr val="dk1"/>
                </a:solidFill>
                <a:latin typeface="Arial"/>
              </a:rPr>
              <a:t>History of phylogenetics: Evolutionary taxonomy</a:t>
            </a:r>
            <a:endParaRPr b="0" lang="en-US" sz="3300" spc="-1" strike="noStrike">
              <a:solidFill>
                <a:schemeClr val="dk1"/>
              </a:solidFill>
              <a:latin typeface="Calibri"/>
            </a:endParaRPr>
          </a:p>
        </p:txBody>
      </p:sp>
      <p:sp>
        <p:nvSpPr>
          <p:cNvPr id="88" name="sketchy line">
            <a:extLst>
              <a:ext uri="{C183D7F6-B498-43B3-948B-1728B52AA6E4}">
                <adec:decorative xmlns:adec="http://schemas.microsoft.com/office/drawing/2017/decorative" val="1"/>
              </a:ext>
            </a:extLst>
          </p:cNvPr>
          <p:cNvSpPr/>
          <p:nvPr/>
        </p:nvSpPr>
        <p:spPr>
          <a:xfrm>
            <a:off x="480240" y="2586960"/>
            <a:ext cx="2605680" cy="18000"/>
          </a:xfrm>
          <a:custGeom>
            <a:avLst/>
            <a:gdLst>
              <a:gd name="textAreaLeft" fmla="*/ 0 w 2605680"/>
              <a:gd name="textAreaRight" fmla="*/ 2606040 w 2605680"/>
              <a:gd name="textAreaTop" fmla="*/ 0 h 18000"/>
              <a:gd name="textAreaBottom" fmla="*/ 18360 h 18000"/>
            </a:gdLst>
            <a:ahLst/>
            <a:rect l="textAreaLeft" t="textAreaTop" r="textAreaRight" b="textAreaBottom"/>
            <a:pathLst>
              <a:path fill="none" w="2606040" h="18288">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stroke="0" w="2606040" h="18288">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cap="rnd" w="44450">
            <a:solidFill>
              <a:srgbClr val="ed7d31"/>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gn="ctr" defTabSz="914400">
              <a:lnSpc>
                <a:spcPct val="100000"/>
              </a:lnSpc>
            </a:pPr>
            <a:endParaRPr b="0" lang="en-US" sz="1800" spc="-1" strike="noStrike">
              <a:solidFill>
                <a:schemeClr val="lt1"/>
              </a:solidFill>
              <a:latin typeface="Calibri"/>
            </a:endParaRPr>
          </a:p>
        </p:txBody>
      </p:sp>
      <p:sp>
        <p:nvSpPr>
          <p:cNvPr id="89" name="PlaceHolder 2"/>
          <p:cNvSpPr>
            <a:spLocks noGrp="1"/>
          </p:cNvSpPr>
          <p:nvPr>
            <p:ph/>
          </p:nvPr>
        </p:nvSpPr>
        <p:spPr>
          <a:xfrm>
            <a:off x="480240" y="2872800"/>
            <a:ext cx="3182400" cy="3320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1900" spc="-1" strike="noStrike">
                <a:solidFill>
                  <a:schemeClr val="dk1"/>
                </a:solidFill>
                <a:latin typeface="Open Sans Condensed"/>
              </a:rPr>
              <a:t>No objective methodology</a:t>
            </a:r>
            <a:endParaRPr b="0" lang="en-US" sz="1900" spc="-1" strike="noStrike">
              <a:solidFill>
                <a:schemeClr val="dk1"/>
              </a:solidFill>
              <a:latin typeface="Open Sans Condensed"/>
            </a:endParaRPr>
          </a:p>
          <a:p>
            <a:pPr indent="0" defTabSz="914400">
              <a:lnSpc>
                <a:spcPct val="90000"/>
              </a:lnSpc>
              <a:spcBef>
                <a:spcPts val="1001"/>
              </a:spcBef>
              <a:buNone/>
              <a:tabLst>
                <a:tab algn="l" pos="0"/>
              </a:tabLst>
            </a:pPr>
            <a:endParaRPr b="0" lang="en-US" sz="1900" spc="-1" strike="noStrike">
              <a:solidFill>
                <a:schemeClr val="dk1"/>
              </a:solidFill>
              <a:latin typeface="Open Sans Condensed"/>
            </a:endParaRPr>
          </a:p>
          <a:p>
            <a:pPr indent="0" defTabSz="914400">
              <a:lnSpc>
                <a:spcPct val="90000"/>
              </a:lnSpc>
              <a:spcBef>
                <a:spcPts val="1001"/>
              </a:spcBef>
              <a:buNone/>
              <a:tabLst>
                <a:tab algn="l" pos="0"/>
              </a:tabLst>
            </a:pPr>
            <a:r>
              <a:rPr b="0" lang="en-US" sz="1900" spc="-1" strike="noStrike">
                <a:solidFill>
                  <a:schemeClr val="dk1"/>
                </a:solidFill>
                <a:latin typeface="Open Sans Condensed"/>
              </a:rPr>
              <a:t>Relies on expert opinion and a lifetime of study</a:t>
            </a:r>
            <a:endParaRPr b="0" lang="en-US" sz="1900" spc="-1" strike="noStrike">
              <a:solidFill>
                <a:schemeClr val="dk1"/>
              </a:solidFill>
              <a:latin typeface="Open Sans Condensed"/>
            </a:endParaRPr>
          </a:p>
          <a:p>
            <a:pPr indent="0" defTabSz="914400">
              <a:lnSpc>
                <a:spcPct val="90000"/>
              </a:lnSpc>
              <a:spcBef>
                <a:spcPts val="1001"/>
              </a:spcBef>
              <a:buNone/>
              <a:tabLst>
                <a:tab algn="l" pos="0"/>
              </a:tabLst>
            </a:pPr>
            <a:endParaRPr b="0" lang="en-US" sz="1900" spc="-1" strike="noStrike">
              <a:solidFill>
                <a:schemeClr val="dk1"/>
              </a:solidFill>
              <a:latin typeface="Open Sans Condensed"/>
            </a:endParaRPr>
          </a:p>
          <a:p>
            <a:pPr indent="0" defTabSz="914400">
              <a:lnSpc>
                <a:spcPct val="90000"/>
              </a:lnSpc>
              <a:spcBef>
                <a:spcPts val="1001"/>
              </a:spcBef>
              <a:buNone/>
              <a:tabLst>
                <a:tab algn="l" pos="0"/>
              </a:tabLst>
            </a:pPr>
            <a:r>
              <a:rPr b="0" lang="en-US" sz="1900" spc="-1" strike="noStrike">
                <a:solidFill>
                  <a:schemeClr val="dk1"/>
                </a:solidFill>
                <a:latin typeface="Open Sans Condensed"/>
              </a:rPr>
              <a:t>Strengths? Weaknesses?</a:t>
            </a:r>
            <a:br>
              <a:rPr sz="1900"/>
            </a:br>
            <a:endParaRPr b="0" lang="en-US" sz="1900" spc="-1" strike="noStrike">
              <a:solidFill>
                <a:schemeClr val="dk1"/>
              </a:solidFill>
              <a:latin typeface="Open Sans Condensed"/>
            </a:endParaRPr>
          </a:p>
        </p:txBody>
      </p:sp>
      <p:sp>
        <p:nvSpPr>
          <p:cNvPr id="90" name="Content Placeholder 4"/>
          <p:cNvSpPr/>
          <p:nvPr/>
        </p:nvSpPr>
        <p:spPr>
          <a:xfrm>
            <a:off x="3983760" y="0"/>
            <a:ext cx="5158800" cy="6857640"/>
          </a:xfrm>
          <a:custGeom>
            <a:avLst/>
            <a:gdLst>
              <a:gd name="textAreaLeft" fmla="*/ 0 w 5158800"/>
              <a:gd name="textAreaRight" fmla="*/ 5159160 w 5158800"/>
              <a:gd name="textAreaTop" fmla="*/ 0 h 6857640"/>
              <a:gd name="textAreaBottom" fmla="*/ 6858000 h 6857640"/>
            </a:gdLst>
            <a:ahLst/>
            <a:rect l="textAreaLeft" t="textAreaTop" r="textAreaRight" b="textAreaBottom"/>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History of phylogenetics: Phenetics</a:t>
            </a:r>
            <a:endParaRPr b="0" lang="en-US" sz="4400" spc="-1" strike="noStrike">
              <a:solidFill>
                <a:schemeClr val="dk1"/>
              </a:solidFill>
              <a:latin typeface="Calibri"/>
            </a:endParaRPr>
          </a:p>
        </p:txBody>
      </p:sp>
      <p:sp>
        <p:nvSpPr>
          <p:cNvPr id="92" name="PlaceHolder 2"/>
          <p:cNvSpPr>
            <a:spLocks noGrp="1"/>
          </p:cNvSpPr>
          <p:nvPr>
            <p:ph/>
          </p:nvPr>
        </p:nvSpPr>
        <p:spPr>
          <a:xfrm>
            <a:off x="628560" y="1825560"/>
            <a:ext cx="8161920" cy="4350960"/>
          </a:xfrm>
          <a:prstGeom prst="rect">
            <a:avLst/>
          </a:prstGeom>
          <a:noFill/>
          <a:ln w="0">
            <a:noFill/>
          </a:ln>
        </p:spPr>
        <p:txBody>
          <a:bodyPr lIns="91440" rIns="91440" tIns="45720" bIns="45720" anchor="t">
            <a:normAutofit fontScale="96763" lnSpcReduction="10000"/>
          </a:bodyPr>
          <a:p>
            <a:pPr indent="0" defTabSz="914400">
              <a:lnSpc>
                <a:spcPct val="90000"/>
              </a:lnSpc>
              <a:spcBef>
                <a:spcPts val="1001"/>
              </a:spcBef>
              <a:buNone/>
              <a:tabLst>
                <a:tab algn="l" pos="0"/>
              </a:tabLst>
            </a:pPr>
            <a:r>
              <a:rPr b="0" lang="en-US" sz="2800" spc="-1" strike="noStrike">
                <a:solidFill>
                  <a:schemeClr val="dk1"/>
                </a:solidFill>
                <a:latin typeface="Open Sans Condensed"/>
              </a:rPr>
              <a:t>Numerical taxonomy and distance methods</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 </a:t>
            </a:r>
            <a:r>
              <a:rPr b="0" lang="en-US" sz="2800" spc="-1" strike="noStrike">
                <a:solidFill>
                  <a:schemeClr val="dk1"/>
                </a:solidFill>
                <a:latin typeface="Open Sans Condensed"/>
              </a:rPr>
              <a:t>Measure overall similarity</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marL="228600" indent="-228600" defTabSz="914400">
              <a:lnSpc>
                <a:spcPct val="90000"/>
              </a:lnSpc>
              <a:spcBef>
                <a:spcPts val="1001"/>
              </a:spcBef>
              <a:buNone/>
              <a:tabLst>
                <a:tab algn="l" pos="0"/>
              </a:tabLst>
            </a:pPr>
            <a:r>
              <a:rPr b="0" lang="en-US" sz="2800" spc="-1" strike="noStrike">
                <a:solidFill>
                  <a:schemeClr val="dk1"/>
                </a:solidFill>
                <a:latin typeface="Open Sans Condensed"/>
              </a:rPr>
              <a:t>Sokal, Sneath, and Rohlf (1960s) argued</a:t>
            </a:r>
            <a:br>
              <a:rPr sz="2800"/>
            </a:br>
            <a:r>
              <a:rPr b="0" lang="en-US" sz="2800" spc="-1" strike="noStrike">
                <a:solidFill>
                  <a:schemeClr val="dk1"/>
                </a:solidFill>
                <a:latin typeface="Open Sans Condensed"/>
              </a:rPr>
              <a:t>phenetics provided much needed reproducibility</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How do you measure similarity?</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What are the drawbacks of this approach?</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3240" y="3960"/>
            <a:ext cx="8520120" cy="763200"/>
          </a:xfrm>
          <a:prstGeom prst="rect">
            <a:avLst/>
          </a:prstGeom>
          <a:noFill/>
          <a:ln w="0">
            <a:noFill/>
          </a:ln>
        </p:spPr>
        <p:txBody>
          <a:bodyPr lIns="91440" rIns="91440" tIns="91440" bIns="91440" anchor="t">
            <a:normAutofit fontScale="96604"/>
          </a:bodyPr>
          <a:p>
            <a:pPr indent="0" defTabSz="914400">
              <a:lnSpc>
                <a:spcPct val="90000"/>
              </a:lnSpc>
              <a:buNone/>
            </a:pPr>
            <a:r>
              <a:rPr b="0" lang="en-US" sz="4400" spc="-1" strike="noStrike">
                <a:solidFill>
                  <a:schemeClr val="dk1"/>
                </a:solidFill>
                <a:latin typeface="Open Sans Condensed"/>
              </a:rPr>
              <a:t>Distance methods</a:t>
            </a:r>
            <a:endParaRPr b="0" lang="en-US" sz="4400" spc="-1" strike="noStrike">
              <a:solidFill>
                <a:schemeClr val="dk1"/>
              </a:solidFill>
              <a:latin typeface="Calibri"/>
            </a:endParaRPr>
          </a:p>
        </p:txBody>
      </p:sp>
      <p:sp>
        <p:nvSpPr>
          <p:cNvPr id="94" name="PlaceHolder 2"/>
          <p:cNvSpPr>
            <a:spLocks noGrp="1"/>
          </p:cNvSpPr>
          <p:nvPr>
            <p:ph/>
          </p:nvPr>
        </p:nvSpPr>
        <p:spPr>
          <a:xfrm>
            <a:off x="189720" y="774720"/>
            <a:ext cx="8753760" cy="4554720"/>
          </a:xfrm>
          <a:prstGeom prst="rect">
            <a:avLst/>
          </a:prstGeom>
          <a:noFill/>
          <a:ln w="0">
            <a:noFill/>
          </a:ln>
        </p:spPr>
        <p:txBody>
          <a:bodyPr lIns="91440" rIns="91440" tIns="91440" bIns="91440" anchor="t">
            <a:normAutofit/>
          </a:bodyPr>
          <a:p>
            <a:pPr marL="114480" indent="0" defTabSz="914400">
              <a:lnSpc>
                <a:spcPct val="90000"/>
              </a:lnSpc>
              <a:buNone/>
              <a:tabLst>
                <a:tab algn="l" pos="0"/>
              </a:tabLst>
            </a:pPr>
            <a:r>
              <a:rPr b="0" lang="en-US" sz="2800" spc="-1" strike="noStrike">
                <a:solidFill>
                  <a:schemeClr val="dk1"/>
                </a:solidFill>
                <a:latin typeface="Open Sans Condensed"/>
              </a:rPr>
              <a:t>Still used for fast tree estimation (and under many conditions, are consistent estimators of the true tree)</a:t>
            </a:r>
            <a:endParaRPr b="0" lang="en-US" sz="2800" spc="-1" strike="noStrike">
              <a:solidFill>
                <a:schemeClr val="dk1"/>
              </a:solidFill>
              <a:latin typeface="Open Sans Condensed"/>
            </a:endParaRPr>
          </a:p>
        </p:txBody>
      </p:sp>
      <p:pic>
        <p:nvPicPr>
          <p:cNvPr id="95" name="Shape 386" descr="A three part figure showing the conversion of molecular sequence data into a pairwise distance matrix between taxa, and ultimately, a phylogenetic tree based on the neighbor-joining algorithm. "/>
          <p:cNvPicPr/>
          <p:nvPr/>
        </p:nvPicPr>
        <p:blipFill>
          <a:blip r:embed="rId1"/>
          <a:stretch/>
        </p:blipFill>
        <p:spPr>
          <a:xfrm>
            <a:off x="1067400" y="2255040"/>
            <a:ext cx="7272000" cy="43462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History of phylogenetics: Cladistics</a:t>
            </a:r>
            <a:endParaRPr b="0" lang="en-US" sz="4400" spc="-1" strike="noStrike">
              <a:solidFill>
                <a:schemeClr val="dk1"/>
              </a:solidFill>
              <a:latin typeface="Calibri"/>
            </a:endParaRPr>
          </a:p>
        </p:txBody>
      </p:sp>
      <p:sp>
        <p:nvSpPr>
          <p:cNvPr id="97" name="PlaceHolder 2"/>
          <p:cNvSpPr>
            <a:spLocks noGrp="1"/>
          </p:cNvSpPr>
          <p:nvPr>
            <p:ph/>
          </p:nvPr>
        </p:nvSpPr>
        <p:spPr>
          <a:xfrm>
            <a:off x="628560" y="1968480"/>
            <a:ext cx="4845240" cy="4493880"/>
          </a:xfrm>
          <a:prstGeom prst="rect">
            <a:avLst/>
          </a:prstGeom>
          <a:noFill/>
          <a:ln w="0">
            <a:noFill/>
          </a:ln>
        </p:spPr>
        <p:txBody>
          <a:bodyPr lIns="91440" rIns="91440" tIns="45720" bIns="45720" anchor="t">
            <a:normAutofit fontScale="93550"/>
          </a:bodyPr>
          <a:p>
            <a:pPr indent="0" defTabSz="914400">
              <a:lnSpc>
                <a:spcPct val="90000"/>
              </a:lnSpc>
              <a:spcBef>
                <a:spcPts val="1001"/>
              </a:spcBef>
              <a:buNone/>
              <a:tabLst>
                <a:tab algn="l" pos="0"/>
              </a:tabLst>
            </a:pPr>
            <a:r>
              <a:rPr b="0" lang="x-none" sz="2400" spc="-1" strike="noStrike">
                <a:solidFill>
                  <a:schemeClr val="dk1"/>
                </a:solidFill>
                <a:latin typeface="Segoe UI"/>
              </a:rPr>
              <a:t>Coined "phylogenetic systematics" </a:t>
            </a: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r>
              <a:rPr b="0" lang="x-none" sz="2400" spc="-1" strike="noStrike">
                <a:solidFill>
                  <a:schemeClr val="dk1"/>
                </a:solidFill>
                <a:latin typeface="Segoe UI"/>
              </a:rPr>
              <a:t>Grouping should not be based on</a:t>
            </a:r>
            <a:r>
              <a:rPr b="0" i="1" lang="x-none" sz="2400" spc="-1" strike="noStrike">
                <a:solidFill>
                  <a:schemeClr val="dk1"/>
                </a:solidFill>
                <a:latin typeface="Segoe UI"/>
              </a:rPr>
              <a:t> overall </a:t>
            </a:r>
            <a:r>
              <a:rPr b="0" lang="x-none" sz="2400" spc="-1" strike="noStrike">
                <a:solidFill>
                  <a:schemeClr val="dk1"/>
                </a:solidFill>
                <a:latin typeface="Segoe UI"/>
              </a:rPr>
              <a:t>trait similarity, </a:t>
            </a:r>
            <a:r>
              <a:rPr b="1" lang="x-none" sz="2400" spc="-1" strike="noStrike">
                <a:solidFill>
                  <a:schemeClr val="dk1"/>
                </a:solidFill>
                <a:latin typeface="Segoe UI"/>
              </a:rPr>
              <a:t>but only on </a:t>
            </a:r>
            <a:r>
              <a:rPr b="1" i="1" lang="x-none" sz="2400" spc="-1" strike="noStrike">
                <a:solidFill>
                  <a:schemeClr val="dk1"/>
                </a:solidFill>
                <a:latin typeface="Segoe UI"/>
              </a:rPr>
              <a:t>shared derived traits</a:t>
            </a:r>
            <a:r>
              <a:rPr b="0" i="1" lang="x-none" sz="2400" spc="-1" strike="noStrike">
                <a:solidFill>
                  <a:schemeClr val="dk1"/>
                </a:solidFill>
                <a:latin typeface="Segoe UI"/>
              </a:rPr>
              <a:t> </a:t>
            </a:r>
            <a:r>
              <a:rPr b="0" lang="x-none" sz="2400" spc="-1" strike="noStrike">
                <a:solidFill>
                  <a:schemeClr val="dk1"/>
                </a:solidFill>
                <a:latin typeface="Segoe UI"/>
              </a:rPr>
              <a:t>(</a:t>
            </a:r>
            <a:r>
              <a:rPr b="0" i="1" lang="x-none" sz="2400" spc="-1" strike="noStrike">
                <a:solidFill>
                  <a:schemeClr val="dk1"/>
                </a:solidFill>
                <a:latin typeface="Segoe UI"/>
              </a:rPr>
              <a:t>synapomorphies</a:t>
            </a:r>
            <a:r>
              <a:rPr b="0" lang="x-none" sz="2400" spc="-1" strike="noStrike">
                <a:solidFill>
                  <a:schemeClr val="dk1"/>
                </a:solidFill>
                <a:latin typeface="Segoe UI"/>
              </a:rPr>
              <a:t>)</a:t>
            </a: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r>
              <a:rPr b="0" lang="x-none" sz="2400" spc="-1" strike="noStrike">
                <a:solidFill>
                  <a:schemeClr val="dk1"/>
                </a:solidFill>
                <a:latin typeface="Segoe UI"/>
              </a:rPr>
              <a:t>Taxonomy based on </a:t>
            </a:r>
            <a:r>
              <a:rPr b="0" i="1" lang="x-none" sz="2400" spc="-1" strike="noStrike">
                <a:solidFill>
                  <a:schemeClr val="dk1"/>
                </a:solidFill>
                <a:latin typeface="Segoe UI"/>
              </a:rPr>
              <a:t>monophyly</a:t>
            </a: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r>
              <a:rPr b="0" lang="x-none" sz="2400" spc="-1" strike="noStrike">
                <a:solidFill>
                  <a:schemeClr val="dk1"/>
                </a:solidFill>
                <a:latin typeface="Segoe UI"/>
              </a:rPr>
              <a:t>Parsimony &amp; Occam's Razor- The simplest explanation is probably the correct one</a:t>
            </a: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endParaRPr b="0" lang="en-US" sz="3600" spc="-1" strike="noStrike">
              <a:solidFill>
                <a:schemeClr val="dk1"/>
              </a:solidFill>
              <a:latin typeface="Open Sans Condensed"/>
            </a:endParaRPr>
          </a:p>
        </p:txBody>
      </p:sp>
      <p:grpSp>
        <p:nvGrpSpPr>
          <p:cNvPr id="98" name="Group 7"/>
          <p:cNvGrpSpPr/>
          <p:nvPr/>
        </p:nvGrpSpPr>
        <p:grpSpPr>
          <a:xfrm>
            <a:off x="6099120" y="2391120"/>
            <a:ext cx="2003400" cy="2671560"/>
            <a:chOff x="6099120" y="2391120"/>
            <a:chExt cx="2003400" cy="2671560"/>
          </a:xfrm>
        </p:grpSpPr>
        <p:pic>
          <p:nvPicPr>
            <p:cNvPr id="99" name="Picture 4" descr="A person in a suit and tie&#10;&#10;AI-generated content may be incorrect."/>
            <p:cNvPicPr/>
            <p:nvPr/>
          </p:nvPicPr>
          <p:blipFill>
            <a:blip r:embed="rId1"/>
            <a:stretch/>
          </p:blipFill>
          <p:spPr>
            <a:xfrm>
              <a:off x="6212880" y="2391120"/>
              <a:ext cx="1774800" cy="2296080"/>
            </a:xfrm>
            <a:prstGeom prst="rect">
              <a:avLst/>
            </a:prstGeom>
            <a:ln w="0">
              <a:noFill/>
            </a:ln>
          </p:spPr>
        </p:pic>
        <p:sp>
          <p:nvSpPr>
            <p:cNvPr id="100" name="Text Box 4"/>
            <p:cNvSpPr/>
            <p:nvPr/>
          </p:nvSpPr>
          <p:spPr>
            <a:xfrm>
              <a:off x="6099120" y="4767480"/>
              <a:ext cx="2003400" cy="295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x-none" sz="1350" spc="-1" strike="noStrike">
                  <a:solidFill>
                    <a:schemeClr val="dk1"/>
                  </a:solidFill>
                  <a:latin typeface="Calibri"/>
                </a:rPr>
                <a:t>Willi Hennig (1966)</a:t>
              </a:r>
              <a:endParaRPr b="0" lang="en-US" sz="13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fontScale="87285" lnSpcReduction="20000"/>
          </a:bodyPr>
          <a:p>
            <a:pPr indent="0" defTabSz="914400">
              <a:lnSpc>
                <a:spcPct val="90000"/>
              </a:lnSpc>
              <a:buNone/>
            </a:pPr>
            <a:r>
              <a:rPr b="0" lang="en-US" sz="4400" spc="-1" strike="noStrike">
                <a:solidFill>
                  <a:schemeClr val="dk1"/>
                </a:solidFill>
                <a:latin typeface="Arial"/>
              </a:rPr>
              <a:t>Phenetics didn't always have the goal of finding the "true" evolutionary history</a:t>
            </a:r>
            <a:endParaRPr b="0" lang="en-US" sz="4400" spc="-1" strike="noStrike">
              <a:solidFill>
                <a:schemeClr val="dk1"/>
              </a:solidFill>
              <a:latin typeface="Calibri"/>
            </a:endParaRPr>
          </a:p>
        </p:txBody>
      </p:sp>
      <p:grpSp>
        <p:nvGrpSpPr>
          <p:cNvPr id="102" name="Group 7"/>
          <p:cNvGrpSpPr/>
          <p:nvPr/>
        </p:nvGrpSpPr>
        <p:grpSpPr>
          <a:xfrm>
            <a:off x="888120" y="3123720"/>
            <a:ext cx="7357680" cy="2481120"/>
            <a:chOff x="888120" y="3123720"/>
            <a:chExt cx="7357680" cy="2481120"/>
          </a:xfrm>
        </p:grpSpPr>
        <p:pic>
          <p:nvPicPr>
            <p:cNvPr id="103" name="Picture 4" descr="TroutLunfishCow.wmf"/>
            <p:cNvPicPr/>
            <p:nvPr/>
          </p:nvPicPr>
          <p:blipFill>
            <a:blip r:embed="rId1"/>
            <a:stretch/>
          </p:blipFill>
          <p:spPr>
            <a:xfrm>
              <a:off x="888120" y="3123720"/>
              <a:ext cx="7357680" cy="1760400"/>
            </a:xfrm>
            <a:prstGeom prst="rect">
              <a:avLst/>
            </a:prstGeom>
            <a:ln w="0">
              <a:noFill/>
            </a:ln>
          </p:spPr>
        </p:pic>
        <p:sp>
          <p:nvSpPr>
            <p:cNvPr id="104" name="TextBox 5"/>
            <p:cNvSpPr/>
            <p:nvPr/>
          </p:nvSpPr>
          <p:spPr>
            <a:xfrm>
              <a:off x="1525680" y="5086800"/>
              <a:ext cx="2425680" cy="518040"/>
            </a:xfrm>
            <a:prstGeom prst="rect">
              <a:avLst/>
            </a:prstGeom>
            <a:noFill/>
            <a:ln w="0">
              <a:noFill/>
            </a:ln>
          </p:spPr>
          <p:style>
            <a:lnRef idx="0"/>
            <a:fillRef idx="0"/>
            <a:effectRef idx="0"/>
            <a:fontRef idx="minor"/>
          </p:style>
          <p:txBody>
            <a:bodyPr wrap="none" anchor="t">
              <a:spAutoFit/>
            </a:bodyPr>
            <a:p>
              <a:pPr defTabSz="914400">
                <a:lnSpc>
                  <a:spcPct val="100000"/>
                </a:lnSpc>
              </a:pPr>
              <a:r>
                <a:rPr b="0" lang="en-US" sz="2800" spc="-1" strike="noStrike">
                  <a:solidFill>
                    <a:schemeClr val="dk1"/>
                  </a:solidFill>
                  <a:latin typeface="Calibri"/>
                  <a:ea typeface="MS PGothic"/>
                </a:rPr>
                <a:t>"Phenogram"</a:t>
              </a:r>
              <a:endParaRPr b="0" lang="en-US" sz="2800" spc="-1" strike="noStrike">
                <a:solidFill>
                  <a:srgbClr val="000000"/>
                </a:solidFill>
                <a:latin typeface="Arial"/>
              </a:endParaRPr>
            </a:p>
          </p:txBody>
        </p:sp>
        <p:sp>
          <p:nvSpPr>
            <p:cNvPr id="105" name="TextBox 6"/>
            <p:cNvSpPr/>
            <p:nvPr/>
          </p:nvSpPr>
          <p:spPr>
            <a:xfrm>
              <a:off x="5716080" y="5086800"/>
              <a:ext cx="201600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800" spc="-1" strike="noStrike">
                  <a:solidFill>
                    <a:schemeClr val="dk1"/>
                  </a:solidFill>
                  <a:latin typeface="Calibri"/>
                  <a:ea typeface="MS PGothic"/>
                </a:rPr>
                <a:t>Cladogram</a:t>
              </a:r>
              <a:endParaRPr b="0" lang="en-US" sz="28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65600" y="158760"/>
            <a:ext cx="8282520" cy="428760"/>
          </a:xfrm>
          <a:prstGeom prst="rect">
            <a:avLst/>
          </a:prstGeom>
          <a:noFill/>
          <a:ln w="0">
            <a:noFill/>
          </a:ln>
        </p:spPr>
        <p:txBody>
          <a:bodyPr lIns="68400" rIns="68400" tIns="68400" bIns="68400" anchor="t">
            <a:noAutofit/>
          </a:bodyPr>
          <a:p>
            <a:pPr indent="0" defTabSz="914400">
              <a:lnSpc>
                <a:spcPct val="90000"/>
              </a:lnSpc>
              <a:buNone/>
            </a:pPr>
            <a:r>
              <a:rPr b="0" lang="en-GB" sz="4400" spc="-1" strike="noStrike">
                <a:solidFill>
                  <a:schemeClr val="dk1"/>
                </a:solidFill>
                <a:latin typeface="Open Sans Condensed"/>
              </a:rPr>
              <a:t>Example: What’s the phylogenetic relationship?</a:t>
            </a:r>
            <a:endParaRPr b="0" lang="en-US" sz="4400" spc="-1" strike="noStrike">
              <a:solidFill>
                <a:schemeClr val="dk1"/>
              </a:solidFill>
              <a:latin typeface="Calibri"/>
            </a:endParaRPr>
          </a:p>
        </p:txBody>
      </p:sp>
      <p:pic>
        <p:nvPicPr>
          <p:cNvPr id="107" name="Shape 404" descr="Three pictures, one shark, one barracuda and one human baby floating underwater. "/>
          <p:cNvPicPr/>
          <p:nvPr/>
        </p:nvPicPr>
        <p:blipFill>
          <a:blip r:embed="rId1"/>
          <a:stretch/>
        </p:blipFill>
        <p:spPr>
          <a:xfrm>
            <a:off x="1736640" y="2574000"/>
            <a:ext cx="5806800" cy="12502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Shape 409" descr="A hypothesized phylogeny grouping the two fish, which requires 2 independent mapped origins of bones, leading to the barracuda and the human."/>
          <p:cNvPicPr/>
          <p:nvPr/>
        </p:nvPicPr>
        <p:blipFill>
          <a:blip r:embed="rId1"/>
          <a:stretch/>
        </p:blipFill>
        <p:spPr>
          <a:xfrm>
            <a:off x="2343240" y="2377800"/>
            <a:ext cx="4606200" cy="2979720"/>
          </a:xfrm>
          <a:prstGeom prst="rect">
            <a:avLst/>
          </a:prstGeom>
          <a:ln w="0">
            <a:noFill/>
          </a:ln>
        </p:spPr>
      </p:pic>
      <p:sp>
        <p:nvSpPr>
          <p:cNvPr id="109" name="PlaceHolder 1"/>
          <p:cNvSpPr>
            <a:spLocks noGrp="1"/>
          </p:cNvSpPr>
          <p:nvPr>
            <p:ph type="title"/>
          </p:nvPr>
        </p:nvSpPr>
        <p:spPr>
          <a:xfrm>
            <a:off x="165600" y="158760"/>
            <a:ext cx="8282520" cy="428760"/>
          </a:xfrm>
          <a:prstGeom prst="rect">
            <a:avLst/>
          </a:prstGeom>
          <a:noFill/>
          <a:ln w="0">
            <a:noFill/>
          </a:ln>
        </p:spPr>
        <p:txBody>
          <a:bodyPr lIns="68400" rIns="68400" tIns="68400" bIns="68400" anchor="t">
            <a:noAutofit/>
          </a:bodyPr>
          <a:p>
            <a:pPr indent="0" defTabSz="914400">
              <a:lnSpc>
                <a:spcPct val="90000"/>
              </a:lnSpc>
              <a:buNone/>
            </a:pPr>
            <a:r>
              <a:rPr b="0" lang="en-GB" sz="4400" spc="-1" strike="noStrike">
                <a:solidFill>
                  <a:schemeClr val="dk1"/>
                </a:solidFill>
                <a:latin typeface="Open Sans Condensed"/>
              </a:rPr>
              <a:t>Example: Mapping bones</a:t>
            </a:r>
            <a:endParaRPr b="0" lang="en-US" sz="4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01520" y="191880"/>
            <a:ext cx="8503920" cy="429120"/>
          </a:xfrm>
          <a:prstGeom prst="rect">
            <a:avLst/>
          </a:prstGeom>
          <a:noFill/>
          <a:ln w="0">
            <a:noFill/>
          </a:ln>
        </p:spPr>
        <p:txBody>
          <a:bodyPr lIns="68400" rIns="68400" tIns="68400" bIns="68400" anchor="t">
            <a:noAutofit/>
          </a:bodyPr>
          <a:p>
            <a:pPr indent="0" defTabSz="914400">
              <a:lnSpc>
                <a:spcPct val="90000"/>
              </a:lnSpc>
              <a:buNone/>
            </a:pPr>
            <a:r>
              <a:rPr b="0" lang="en-GB" sz="4400" spc="-1" strike="noStrike">
                <a:solidFill>
                  <a:schemeClr val="dk1"/>
                </a:solidFill>
                <a:latin typeface="Open Sans Condensed"/>
              </a:rPr>
              <a:t>Example: More parsimonious</a:t>
            </a:r>
            <a:endParaRPr b="0" lang="en-US" sz="4400" spc="-1" strike="noStrike">
              <a:solidFill>
                <a:schemeClr val="dk1"/>
              </a:solidFill>
              <a:latin typeface="Calibri"/>
            </a:endParaRPr>
          </a:p>
        </p:txBody>
      </p:sp>
      <p:pic>
        <p:nvPicPr>
          <p:cNvPr id="111" name="Shape 416" descr="An alternative topology with the barracuda and human grouped together, with bones mapped as a single origin."/>
          <p:cNvPicPr/>
          <p:nvPr/>
        </p:nvPicPr>
        <p:blipFill>
          <a:blip r:embed="rId1"/>
          <a:stretch/>
        </p:blipFill>
        <p:spPr>
          <a:xfrm>
            <a:off x="2337120" y="2364480"/>
            <a:ext cx="4635000" cy="29984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Shape 423" descr="Now gain of fins are mapped on to the stem branch of the phylogeny, and loss of fins is mapped onto the branch leading to humans."/>
          <p:cNvPicPr/>
          <p:nvPr/>
        </p:nvPicPr>
        <p:blipFill>
          <a:blip r:embed="rId1"/>
          <a:stretch/>
        </p:blipFill>
        <p:spPr>
          <a:xfrm>
            <a:off x="2327400" y="2364480"/>
            <a:ext cx="4865040" cy="2993040"/>
          </a:xfrm>
          <a:prstGeom prst="rect">
            <a:avLst/>
          </a:prstGeom>
          <a:ln w="0">
            <a:noFill/>
          </a:ln>
        </p:spPr>
      </p:pic>
      <p:sp>
        <p:nvSpPr>
          <p:cNvPr id="113" name="PlaceHolder 1"/>
          <p:cNvSpPr>
            <a:spLocks noGrp="1"/>
          </p:cNvSpPr>
          <p:nvPr>
            <p:ph type="title"/>
          </p:nvPr>
        </p:nvSpPr>
        <p:spPr>
          <a:xfrm>
            <a:off x="101520" y="191880"/>
            <a:ext cx="8503920" cy="429120"/>
          </a:xfrm>
          <a:prstGeom prst="rect">
            <a:avLst/>
          </a:prstGeom>
          <a:noFill/>
          <a:ln w="0">
            <a:noFill/>
          </a:ln>
        </p:spPr>
        <p:txBody>
          <a:bodyPr lIns="68400" rIns="68400" tIns="68400" bIns="68400" anchor="t">
            <a:noAutofit/>
          </a:bodyPr>
          <a:p>
            <a:pPr indent="0" defTabSz="914400">
              <a:lnSpc>
                <a:spcPct val="90000"/>
              </a:lnSpc>
              <a:buNone/>
            </a:pPr>
            <a:r>
              <a:rPr b="0" lang="en-GB" sz="4400" spc="-1" strike="noStrike">
                <a:solidFill>
                  <a:schemeClr val="dk1"/>
                </a:solidFill>
                <a:latin typeface="Open Sans Condensed"/>
              </a:rPr>
              <a:t>Example: Adding characters</a:t>
            </a:r>
            <a:endParaRPr b="0" lang="en-US" sz="4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163800" y="190800"/>
            <a:ext cx="6390000" cy="429120"/>
          </a:xfrm>
          <a:prstGeom prst="rect">
            <a:avLst/>
          </a:prstGeom>
          <a:noFill/>
          <a:ln w="0">
            <a:noFill/>
          </a:ln>
        </p:spPr>
        <p:txBody>
          <a:bodyPr lIns="68400" rIns="68400" tIns="68400" bIns="68400" anchor="t">
            <a:noAutofit/>
          </a:bodyPr>
          <a:p>
            <a:pPr indent="0" defTabSz="914400">
              <a:lnSpc>
                <a:spcPct val="90000"/>
              </a:lnSpc>
              <a:buNone/>
              <a:tabLst>
                <a:tab algn="l" pos="0"/>
              </a:tabLst>
            </a:pPr>
            <a:r>
              <a:rPr b="0" lang="en-GB" sz="4400" spc="-1" strike="noStrike">
                <a:solidFill>
                  <a:schemeClr val="dk1"/>
                </a:solidFill>
                <a:latin typeface="Open Sans Condensed"/>
              </a:rPr>
              <a:t>Derived Character</a:t>
            </a:r>
            <a:r>
              <a:rPr b="0" lang="x-none" sz="4400" spc="-1" strike="noStrike">
                <a:solidFill>
                  <a:schemeClr val="dk1"/>
                </a:solidFill>
                <a:latin typeface="Open Sans Condensed"/>
              </a:rPr>
              <a:t>s = Apomorphies</a:t>
            </a:r>
            <a:endParaRPr b="0" lang="en-US" sz="4400" spc="-1" strike="noStrike">
              <a:solidFill>
                <a:schemeClr val="dk1"/>
              </a:solidFill>
              <a:latin typeface="Calibri"/>
            </a:endParaRPr>
          </a:p>
        </p:txBody>
      </p:sp>
      <p:pic>
        <p:nvPicPr>
          <p:cNvPr id="115" name="Shape 430" descr="Loss of fins and bones are apomorphies, and count as derived characters relevant for parsimony analysis."/>
          <p:cNvPicPr/>
          <p:nvPr/>
        </p:nvPicPr>
        <p:blipFill>
          <a:blip r:embed="rId1"/>
          <a:stretch/>
        </p:blipFill>
        <p:spPr>
          <a:xfrm>
            <a:off x="2306160" y="2364480"/>
            <a:ext cx="5085720" cy="29930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126000" y="268560"/>
            <a:ext cx="7512480" cy="429120"/>
          </a:xfrm>
          <a:prstGeom prst="rect">
            <a:avLst/>
          </a:prstGeom>
          <a:noFill/>
          <a:ln w="0">
            <a:noFill/>
          </a:ln>
        </p:spPr>
        <p:txBody>
          <a:bodyPr lIns="68400" rIns="68400" tIns="68400" bIns="68400" anchor="t">
            <a:noAutofit/>
          </a:bodyPr>
          <a:p>
            <a:pPr indent="0" defTabSz="914400">
              <a:lnSpc>
                <a:spcPct val="90000"/>
              </a:lnSpc>
              <a:buNone/>
              <a:tabLst>
                <a:tab algn="l" pos="0"/>
              </a:tabLst>
            </a:pPr>
            <a:r>
              <a:rPr b="0" lang="en-GB" sz="4400" spc="-1" strike="noStrike">
                <a:solidFill>
                  <a:schemeClr val="dk1"/>
                </a:solidFill>
                <a:latin typeface="Open Sans Condensed"/>
              </a:rPr>
              <a:t>Shared derived characters </a:t>
            </a:r>
            <a:r>
              <a:rPr b="0" lang="x-none" sz="4400" spc="-1" strike="noStrike">
                <a:solidFill>
                  <a:schemeClr val="dk1"/>
                </a:solidFill>
                <a:latin typeface="Open Sans Condensed"/>
              </a:rPr>
              <a:t>= Synapomorphies</a:t>
            </a:r>
            <a:endParaRPr b="0" lang="en-US" sz="4400" spc="-1" strike="noStrike">
              <a:solidFill>
                <a:schemeClr val="dk1"/>
              </a:solidFill>
              <a:latin typeface="Calibri"/>
            </a:endParaRPr>
          </a:p>
        </p:txBody>
      </p:sp>
      <p:pic>
        <p:nvPicPr>
          <p:cNvPr id="117" name="Shape 437" descr="Only shared derived characters matter for counting tree length under parsimony, which eliminates &quot;loss of fins&quot; and leaves only &quot;bones&quot; as a shared derived character."/>
          <p:cNvPicPr/>
          <p:nvPr/>
        </p:nvPicPr>
        <p:blipFill>
          <a:blip r:embed="rId1"/>
          <a:stretch/>
        </p:blipFill>
        <p:spPr>
          <a:xfrm>
            <a:off x="2306160" y="2364480"/>
            <a:ext cx="5085720" cy="29930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279000" y="182880"/>
            <a:ext cx="7782840" cy="429120"/>
          </a:xfrm>
          <a:prstGeom prst="rect">
            <a:avLst/>
          </a:prstGeom>
          <a:noFill/>
          <a:ln w="0">
            <a:noFill/>
          </a:ln>
        </p:spPr>
        <p:txBody>
          <a:bodyPr lIns="68400" rIns="68400" tIns="68400" bIns="68400" anchor="t">
            <a:noAutofit/>
          </a:bodyPr>
          <a:p>
            <a:pPr indent="0" defTabSz="914400">
              <a:lnSpc>
                <a:spcPct val="90000"/>
              </a:lnSpc>
              <a:buNone/>
              <a:tabLst>
                <a:tab algn="l" pos="0"/>
              </a:tabLst>
            </a:pPr>
            <a:r>
              <a:rPr b="0" lang="en-GB" sz="4400" spc="-1" strike="noStrike">
                <a:solidFill>
                  <a:schemeClr val="dk1"/>
                </a:solidFill>
                <a:latin typeface="Open Sans Condensed"/>
              </a:rPr>
              <a:t>Shared ancestral characters </a:t>
            </a:r>
            <a:r>
              <a:rPr b="0" lang="x-none" sz="4400" spc="-1" strike="noStrike">
                <a:solidFill>
                  <a:schemeClr val="dk1"/>
                </a:solidFill>
                <a:latin typeface="Open Sans Condensed"/>
              </a:rPr>
              <a:t>= Symplesiomorphies</a:t>
            </a:r>
            <a:endParaRPr b="0" lang="en-US" sz="4400" spc="-1" strike="noStrike">
              <a:solidFill>
                <a:schemeClr val="dk1"/>
              </a:solidFill>
              <a:latin typeface="Calibri"/>
            </a:endParaRPr>
          </a:p>
        </p:txBody>
      </p:sp>
      <p:pic>
        <p:nvPicPr>
          <p:cNvPr id="119" name="Shape 444" descr="The presence of fins is plesiomorphic, so is not relevant for tree length. Shared plesiomorphic characters do not provided phylogenetic information in cladistic analyses."/>
          <p:cNvPicPr/>
          <p:nvPr/>
        </p:nvPicPr>
        <p:blipFill>
          <a:blip r:embed="rId1"/>
          <a:stretch/>
        </p:blipFill>
        <p:spPr>
          <a:xfrm>
            <a:off x="2318040" y="2364480"/>
            <a:ext cx="5052240" cy="29930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311760" y="593280"/>
            <a:ext cx="8520120" cy="763200"/>
          </a:xfrm>
          <a:prstGeom prst="rect">
            <a:avLst/>
          </a:prstGeom>
          <a:noFill/>
          <a:ln w="0">
            <a:noFill/>
          </a:ln>
        </p:spPr>
        <p:txBody>
          <a:bodyPr lIns="91440" rIns="91440" tIns="91440" bIns="91440" anchor="t">
            <a:normAutofit fontScale="93422"/>
          </a:bodyPr>
          <a:p>
            <a:pPr indent="0" defTabSz="914400">
              <a:lnSpc>
                <a:spcPct val="90000"/>
              </a:lnSpc>
              <a:buNone/>
            </a:pPr>
            <a:r>
              <a:rPr b="0" lang="en-US" sz="4400" spc="-1" strike="noStrike">
                <a:solidFill>
                  <a:schemeClr val="dk1"/>
                </a:solidFill>
                <a:latin typeface="Open Sans Condensed"/>
              </a:rPr>
              <a:t>Comparing similarity vs. cladistics</a:t>
            </a:r>
            <a:endParaRPr b="0" lang="en-US" sz="4400" spc="-1" strike="noStrike">
              <a:solidFill>
                <a:schemeClr val="dk1"/>
              </a:solidFill>
              <a:latin typeface="Calibri"/>
            </a:endParaRPr>
          </a:p>
        </p:txBody>
      </p:sp>
      <p:sp>
        <p:nvSpPr>
          <p:cNvPr id="121" name="PlaceHolder 2"/>
          <p:cNvSpPr>
            <a:spLocks noGrp="1"/>
          </p:cNvSpPr>
          <p:nvPr>
            <p:ph/>
          </p:nvPr>
        </p:nvSpPr>
        <p:spPr>
          <a:xfrm>
            <a:off x="311760" y="1536480"/>
            <a:ext cx="8520120" cy="4554720"/>
          </a:xfrm>
          <a:prstGeom prst="rect">
            <a:avLst/>
          </a:prstGeom>
          <a:noFill/>
          <a:ln w="0">
            <a:noFill/>
          </a:ln>
        </p:spPr>
        <p:txBody>
          <a:bodyPr lIns="91440" rIns="91440" tIns="91440" bIns="91440" anchor="t">
            <a:normAutofit fontScale="93550" lnSpcReduction="10000"/>
          </a:bodyPr>
          <a:p>
            <a:pPr marL="114480" indent="0" defTabSz="914400">
              <a:lnSpc>
                <a:spcPct val="90000"/>
              </a:lnSpc>
              <a:buNone/>
              <a:tabLst>
                <a:tab algn="l" pos="0"/>
              </a:tabLst>
            </a:pPr>
            <a:r>
              <a:rPr b="0" lang="en-US" sz="2800" spc="-1" strike="noStrike">
                <a:solidFill>
                  <a:schemeClr val="dk1"/>
                </a:solidFill>
                <a:latin typeface="Segoe UI"/>
              </a:rPr>
              <a:t>Overall similarity takes all characters equally</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Cladistics only considers synapomorphies, and excludes autapomorphies &amp; symplesiomorphies</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Best supported hypothesis: Minimizing steps</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Critical role of outgroup to distinguish derived vs. ancestral characters</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Also note that characters are defined as derived/ancestral relative to the taxa being considered (the ingroup)</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311760" y="593280"/>
            <a:ext cx="8520120" cy="763200"/>
          </a:xfrm>
          <a:prstGeom prst="rect">
            <a:avLst/>
          </a:prstGeom>
          <a:noFill/>
          <a:ln w="0">
            <a:noFill/>
          </a:ln>
        </p:spPr>
        <p:txBody>
          <a:bodyPr lIns="91440" rIns="91440" tIns="91440" bIns="91440" anchor="t">
            <a:normAutofit fontScale="62281" lnSpcReduction="20000"/>
          </a:bodyPr>
          <a:p>
            <a:pPr indent="0" defTabSz="914400">
              <a:lnSpc>
                <a:spcPct val="90000"/>
              </a:lnSpc>
              <a:buNone/>
            </a:pPr>
            <a:r>
              <a:rPr b="0" lang="en-US" sz="4400" spc="-1" strike="noStrike">
                <a:solidFill>
                  <a:schemeClr val="dk1"/>
                </a:solidFill>
                <a:latin typeface="Open Sans Condensed"/>
              </a:rPr>
              <a:t>Homoplasy – Evolutionary reversals and/or convergence</a:t>
            </a:r>
            <a:endParaRPr b="0" lang="en-US" sz="4400" spc="-1" strike="noStrike">
              <a:solidFill>
                <a:schemeClr val="dk1"/>
              </a:solidFill>
              <a:latin typeface="Calibri"/>
            </a:endParaRPr>
          </a:p>
        </p:txBody>
      </p:sp>
      <p:pic>
        <p:nvPicPr>
          <p:cNvPr id="123" name="Picture 3" descr="A figure of 3 panels showing two traits in salamanders. A) Direct development evolves as a derived character but is lost in one clade, leaving larval salamander as a homoplasy due to evolutionary reversal. B) Elongate vertebral counts evolving 3 times in the salamander phylogeny under convergence, making this trait a homoplasy. C) Independent origins of live birth, with possible reversals as well, in the history of caecilians."/>
          <p:cNvPicPr/>
          <p:nvPr/>
        </p:nvPicPr>
        <p:blipFill>
          <a:blip r:embed="rId1"/>
          <a:srcRect l="0" t="0" r="125" b="0"/>
          <a:stretch/>
        </p:blipFill>
        <p:spPr>
          <a:xfrm>
            <a:off x="1496520" y="2276640"/>
            <a:ext cx="6487560" cy="39906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138960" y="105840"/>
            <a:ext cx="8520120" cy="763200"/>
          </a:xfrm>
          <a:prstGeom prst="rect">
            <a:avLst/>
          </a:prstGeom>
          <a:noFill/>
          <a:ln w="0">
            <a:noFill/>
          </a:ln>
        </p:spPr>
        <p:txBody>
          <a:bodyPr lIns="91440" rIns="91440" tIns="91440" bIns="91440" anchor="t">
            <a:normAutofit fontScale="77738"/>
          </a:bodyPr>
          <a:p>
            <a:pPr indent="0" defTabSz="914400">
              <a:lnSpc>
                <a:spcPct val="90000"/>
              </a:lnSpc>
              <a:buNone/>
            </a:pPr>
            <a:r>
              <a:rPr b="0" lang="en-US" sz="4400" spc="-1" strike="noStrike">
                <a:solidFill>
                  <a:schemeClr val="dk1"/>
                </a:solidFill>
                <a:latin typeface="Open Sans Condensed"/>
              </a:rPr>
              <a:t>Parsimony informative vs. uninformative</a:t>
            </a:r>
            <a:endParaRPr b="0" lang="en-US" sz="4400" spc="-1" strike="noStrike">
              <a:solidFill>
                <a:schemeClr val="dk1"/>
              </a:solidFill>
              <a:latin typeface="Calibri"/>
            </a:endParaRPr>
          </a:p>
        </p:txBody>
      </p:sp>
      <p:sp>
        <p:nvSpPr>
          <p:cNvPr id="125" name="PlaceHolder 2"/>
          <p:cNvSpPr>
            <a:spLocks noGrp="1"/>
          </p:cNvSpPr>
          <p:nvPr>
            <p:ph/>
          </p:nvPr>
        </p:nvSpPr>
        <p:spPr>
          <a:xfrm>
            <a:off x="4782240" y="1150560"/>
            <a:ext cx="4364640" cy="4554720"/>
          </a:xfrm>
          <a:prstGeom prst="rect">
            <a:avLst/>
          </a:prstGeom>
          <a:noFill/>
          <a:ln w="0">
            <a:noFill/>
          </a:ln>
        </p:spPr>
        <p:txBody>
          <a:bodyPr lIns="91440" rIns="91440" tIns="91440" bIns="91440" anchor="t">
            <a:noAutofit/>
          </a:bodyPr>
          <a:p>
            <a:pPr marL="114480" indent="0" defTabSz="914400">
              <a:lnSpc>
                <a:spcPct val="90000"/>
              </a:lnSpc>
              <a:buNone/>
              <a:tabLst>
                <a:tab algn="l" pos="0"/>
              </a:tabLst>
            </a:pPr>
            <a:r>
              <a:rPr b="0" lang="en-US" sz="2800" spc="-1" strike="noStrike">
                <a:solidFill>
                  <a:schemeClr val="dk1"/>
                </a:solidFill>
                <a:latin typeface="Open Sans Condensed"/>
              </a:rPr>
              <a:t>Must have at least 2 taxa with shared traits in 2 different states.</a:t>
            </a:r>
            <a:endParaRPr b="0" lang="en-US" sz="2800" spc="-1" strike="noStrike">
              <a:solidFill>
                <a:schemeClr val="dk1"/>
              </a:solidFill>
              <a:latin typeface="Open Sans Condensed"/>
            </a:endParaRPr>
          </a:p>
        </p:txBody>
      </p:sp>
      <p:grpSp>
        <p:nvGrpSpPr>
          <p:cNvPr id="126" name="Group 3"/>
          <p:cNvGrpSpPr/>
          <p:nvPr/>
        </p:nvGrpSpPr>
        <p:grpSpPr>
          <a:xfrm>
            <a:off x="1993680" y="2583360"/>
            <a:ext cx="7018920" cy="3993120"/>
            <a:chOff x="1993680" y="2583360"/>
            <a:chExt cx="7018920" cy="3993120"/>
          </a:xfrm>
        </p:grpSpPr>
        <p:pic>
          <p:nvPicPr>
            <p:cNvPr id="127" name="Picture 4" descr=""/>
            <p:cNvPicPr/>
            <p:nvPr/>
          </p:nvPicPr>
          <p:blipFill>
            <a:blip r:embed="rId1"/>
            <a:stretch/>
          </p:blipFill>
          <p:spPr>
            <a:xfrm>
              <a:off x="1993680" y="2583360"/>
              <a:ext cx="7018920" cy="3993120"/>
            </a:xfrm>
            <a:prstGeom prst="rect">
              <a:avLst/>
            </a:prstGeom>
            <a:ln w="0">
              <a:noFill/>
            </a:ln>
          </p:spPr>
        </p:pic>
        <p:sp>
          <p:nvSpPr>
            <p:cNvPr id="128" name="Rectangle 5"/>
            <p:cNvSpPr/>
            <p:nvPr/>
          </p:nvSpPr>
          <p:spPr>
            <a:xfrm>
              <a:off x="3470760" y="3592440"/>
              <a:ext cx="5184000" cy="304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350" spc="-1" strike="noStrike">
                  <a:solidFill>
                    <a:schemeClr val="dk1"/>
                  </a:solidFill>
                  <a:latin typeface="Calibri"/>
                </a:rPr>
                <a:t>Characters</a:t>
              </a:r>
              <a:endParaRPr b="0" lang="en-US" sz="13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266040" y="331200"/>
            <a:ext cx="8520120" cy="572400"/>
          </a:xfrm>
          <a:prstGeom prst="rect">
            <a:avLst/>
          </a:prstGeom>
          <a:noFill/>
          <a:ln w="0">
            <a:noFill/>
          </a:ln>
        </p:spPr>
        <p:txBody>
          <a:bodyPr lIns="91440" rIns="91440" tIns="91440" bIns="91440" anchor="t">
            <a:normAutofit fontScale="74783" lnSpcReduction="10000"/>
          </a:bodyPr>
          <a:p>
            <a:pPr indent="0" defTabSz="914400">
              <a:lnSpc>
                <a:spcPct val="90000"/>
              </a:lnSpc>
              <a:buNone/>
            </a:pPr>
            <a:r>
              <a:rPr b="0" lang="en-US" sz="4400" spc="-1" strike="noStrike">
                <a:solidFill>
                  <a:schemeClr val="dk1"/>
                </a:solidFill>
                <a:latin typeface="Open Sans Condensed"/>
              </a:rPr>
              <a:t>Generalized Parsimony</a:t>
            </a:r>
            <a:endParaRPr b="0" lang="en-US" sz="4400" spc="-1" strike="noStrike">
              <a:solidFill>
                <a:schemeClr val="dk1"/>
              </a:solidFill>
              <a:latin typeface="Calibri"/>
            </a:endParaRPr>
          </a:p>
        </p:txBody>
      </p:sp>
      <p:sp>
        <p:nvSpPr>
          <p:cNvPr id="130" name="Text Box 4"/>
          <p:cNvSpPr/>
          <p:nvPr/>
        </p:nvSpPr>
        <p:spPr>
          <a:xfrm>
            <a:off x="1800" y="6085080"/>
            <a:ext cx="6930360" cy="1001160"/>
          </a:xfrm>
          <a:prstGeom prst="rect">
            <a:avLst/>
          </a:prstGeom>
          <a:noFill/>
          <a:ln w="0">
            <a:noFill/>
          </a:ln>
        </p:spPr>
        <p:style>
          <a:lnRef idx="0"/>
          <a:fillRef idx="0"/>
          <a:effectRef idx="0"/>
          <a:fontRef idx="minor"/>
        </p:style>
        <p:txBody>
          <a:bodyPr anchor="t">
            <a:spAutoFit/>
          </a:bodyPr>
          <a:p>
            <a:pPr defTabSz="914400">
              <a:lnSpc>
                <a:spcPct val="100000"/>
              </a:lnSpc>
            </a:pPr>
            <a:r>
              <a:rPr b="0" lang="en-US" sz="2800" spc="-1" strike="noStrike">
                <a:solidFill>
                  <a:schemeClr val="dk1"/>
                </a:solidFill>
                <a:latin typeface="Calibri"/>
                <a:ea typeface="Calibri"/>
              </a:rPr>
              <a:t>By Peter Forey, </a:t>
            </a:r>
            <a:r>
              <a:rPr b="0" lang="en-US" sz="2800" spc="-1" strike="noStrike" u="sng">
                <a:solidFill>
                  <a:schemeClr val="dk1"/>
                </a:solidFill>
                <a:uFillTx/>
                <a:latin typeface="Calibri"/>
                <a:ea typeface="Calibri"/>
                <a:hlinkClick r:id="rId1"/>
              </a:rPr>
              <a:t>Link to source</a:t>
            </a:r>
            <a:br>
              <a:rPr sz="2800"/>
            </a:br>
            <a:endParaRPr b="0" lang="en-US" sz="2800" spc="-1" strike="noStrike">
              <a:solidFill>
                <a:srgbClr val="000000"/>
              </a:solidFill>
              <a:latin typeface="Arial"/>
            </a:endParaRPr>
          </a:p>
        </p:txBody>
      </p:sp>
      <p:grpSp>
        <p:nvGrpSpPr>
          <p:cNvPr id="131" name="Group 6"/>
          <p:cNvGrpSpPr/>
          <p:nvPr/>
        </p:nvGrpSpPr>
        <p:grpSpPr>
          <a:xfrm>
            <a:off x="2318040" y="1712160"/>
            <a:ext cx="4422960" cy="3636720"/>
            <a:chOff x="2318040" y="1712160"/>
            <a:chExt cx="4422960" cy="3636720"/>
          </a:xfrm>
        </p:grpSpPr>
        <p:pic>
          <p:nvPicPr>
            <p:cNvPr id="132" name="Picture 3" descr=""/>
            <p:cNvPicPr/>
            <p:nvPr/>
          </p:nvPicPr>
          <p:blipFill>
            <a:blip r:embed="rId2"/>
            <a:stretch/>
          </p:blipFill>
          <p:spPr>
            <a:xfrm>
              <a:off x="2318040" y="1971360"/>
              <a:ext cx="4422960" cy="3377520"/>
            </a:xfrm>
            <a:prstGeom prst="rect">
              <a:avLst/>
            </a:prstGeom>
            <a:ln w="0">
              <a:noFill/>
            </a:ln>
          </p:spPr>
        </p:pic>
        <p:sp>
          <p:nvSpPr>
            <p:cNvPr id="133" name="Text Box 5"/>
            <p:cNvSpPr/>
            <p:nvPr/>
          </p:nvSpPr>
          <p:spPr>
            <a:xfrm>
              <a:off x="3682080" y="1712160"/>
              <a:ext cx="2300760" cy="409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100" spc="-1" strike="noStrike">
                  <a:solidFill>
                    <a:schemeClr val="dk1"/>
                  </a:solidFill>
                  <a:latin typeface="Calibri"/>
                </a:rPr>
                <a:t>Step matrices</a:t>
              </a:r>
              <a:endParaRPr b="0" lang="en-US" sz="2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311760" y="184320"/>
            <a:ext cx="8520120" cy="763200"/>
          </a:xfrm>
          <a:prstGeom prst="rect">
            <a:avLst/>
          </a:prstGeom>
          <a:noFill/>
          <a:ln w="0">
            <a:noFill/>
          </a:ln>
        </p:spPr>
        <p:txBody>
          <a:bodyPr lIns="91440" rIns="91440" tIns="91440" bIns="91440" anchor="t">
            <a:normAutofit fontScale="96604"/>
          </a:bodyPr>
          <a:p>
            <a:pPr indent="0" defTabSz="914400">
              <a:lnSpc>
                <a:spcPct val="90000"/>
              </a:lnSpc>
              <a:buNone/>
            </a:pPr>
            <a:r>
              <a:rPr b="0" lang="en-US" sz="4400" spc="-1" strike="noStrike">
                <a:solidFill>
                  <a:schemeClr val="dk1"/>
                </a:solidFill>
                <a:latin typeface="Open Sans Condensed"/>
              </a:rPr>
              <a:t>Homology</a:t>
            </a:r>
            <a:endParaRPr b="0" lang="en-US" sz="4400" spc="-1" strike="noStrike">
              <a:solidFill>
                <a:schemeClr val="dk1"/>
              </a:solidFill>
              <a:latin typeface="Calibri"/>
            </a:endParaRPr>
          </a:p>
        </p:txBody>
      </p:sp>
      <p:sp>
        <p:nvSpPr>
          <p:cNvPr id="135" name="PlaceHolder 2"/>
          <p:cNvSpPr>
            <a:spLocks noGrp="1"/>
          </p:cNvSpPr>
          <p:nvPr>
            <p:ph/>
          </p:nvPr>
        </p:nvSpPr>
        <p:spPr>
          <a:xfrm>
            <a:off x="311760" y="1536480"/>
            <a:ext cx="8520120" cy="4554720"/>
          </a:xfrm>
          <a:prstGeom prst="rect">
            <a:avLst/>
          </a:prstGeom>
          <a:noFill/>
          <a:ln w="0">
            <a:noFill/>
          </a:ln>
        </p:spPr>
        <p:txBody>
          <a:bodyPr lIns="91440" rIns="91440" tIns="91440" bIns="91440" anchor="t">
            <a:noAutofit/>
          </a:bodyPr>
          <a:p>
            <a:pPr marL="114480" indent="0" defTabSz="914400">
              <a:lnSpc>
                <a:spcPct val="90000"/>
              </a:lnSpc>
              <a:buNone/>
              <a:tabLst>
                <a:tab algn="l" pos="0"/>
              </a:tabLst>
            </a:pPr>
            <a:r>
              <a:rPr b="0" lang="en-US" sz="2800" spc="-1" strike="noStrike">
                <a:solidFill>
                  <a:schemeClr val="dk1"/>
                </a:solidFill>
                <a:latin typeface="Open Sans Condensed"/>
              </a:rPr>
              <a:t>Primary homology = Initial hypothesis of homology due to similarity</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Open Sans Condensed"/>
              </a:rPr>
              <a:t>Secondary homology = Implied homology via single origin on phylogeny by parsimony analysis</a:t>
            </a:r>
            <a:endParaRPr b="0" lang="en-US" sz="2800" spc="-1" strike="noStrike">
              <a:solidFill>
                <a:schemeClr val="dk1"/>
              </a:solidFill>
              <a:latin typeface="Open Sans Condensed"/>
            </a:endParaRPr>
          </a:p>
        </p:txBody>
      </p:sp>
      <p:pic>
        <p:nvPicPr>
          <p:cNvPr id="136" name="Picture 4" descr="Bird wing bones and bat wing bones compared.&#10;"/>
          <p:cNvPicPr/>
          <p:nvPr/>
        </p:nvPicPr>
        <p:blipFill>
          <a:blip r:embed="rId1"/>
          <a:stretch/>
        </p:blipFill>
        <p:spPr>
          <a:xfrm>
            <a:off x="3347640" y="3432960"/>
            <a:ext cx="5520240" cy="1711440"/>
          </a:xfrm>
          <a:prstGeom prst="rect">
            <a:avLst/>
          </a:prstGeom>
          <a:ln w="0">
            <a:noFill/>
          </a:ln>
        </p:spPr>
      </p:pic>
      <p:sp>
        <p:nvSpPr>
          <p:cNvPr id="137" name="Title 1"/>
          <p:cNvSpPr/>
          <p:nvPr/>
        </p:nvSpPr>
        <p:spPr>
          <a:xfrm>
            <a:off x="311400" y="5312880"/>
            <a:ext cx="8520120" cy="650520"/>
          </a:xfrm>
          <a:prstGeom prst="rect">
            <a:avLst/>
          </a:prstGeom>
          <a:noFill/>
          <a:ln w="0">
            <a:noFill/>
          </a:ln>
        </p:spPr>
        <p:style>
          <a:lnRef idx="0"/>
          <a:fillRef idx="0"/>
          <a:effectRef idx="0"/>
          <a:fontRef idx="minor"/>
        </p:style>
        <p:txBody>
          <a:bodyPr lIns="68400" rIns="68400" tIns="68400" bIns="68400" anchor="t">
            <a:noAutofit/>
          </a:bodyPr>
          <a:p>
            <a:pPr defTabSz="914400">
              <a:lnSpc>
                <a:spcPct val="90000"/>
              </a:lnSpc>
            </a:pPr>
            <a:r>
              <a:rPr b="1" i="1" lang="en-US" sz="2400" spc="-1" strike="noStrike">
                <a:solidFill>
                  <a:schemeClr val="dk1"/>
                </a:solidFill>
                <a:latin typeface="Open Sans Condensed"/>
              </a:rPr>
              <a:t>Underlines importance of character construction - often surprisingly subjective</a:t>
            </a:r>
            <a:endParaRPr b="0" lang="en-US" sz="2400" spc="-1" strike="noStrike">
              <a:solidFill>
                <a:srgbClr val="000000"/>
              </a:solidFill>
              <a:latin typeface="Arial"/>
            </a:endParaRPr>
          </a:p>
          <a:p>
            <a:pPr algn="ctr" defTabSz="914400">
              <a:lnSpc>
                <a:spcPct val="90000"/>
              </a:lnSpc>
            </a:pPr>
            <a:r>
              <a:rPr b="1" i="1" lang="en-US" sz="2400" spc="-1" strike="noStrike">
                <a:solidFill>
                  <a:schemeClr val="dk1"/>
                </a:solidFill>
                <a:latin typeface="Open Sans Condensed"/>
              </a:rPr>
              <a:t>“</a:t>
            </a:r>
            <a:r>
              <a:rPr b="1" i="1" lang="en-US" sz="2400" spc="-1" strike="noStrike">
                <a:solidFill>
                  <a:schemeClr val="dk1"/>
                </a:solidFill>
                <a:latin typeface="Open Sans Condensed"/>
              </a:rPr>
              <a:t>Reciprocal illumination” Hennig 1966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311760" y="176760"/>
            <a:ext cx="8520120" cy="763200"/>
          </a:xfrm>
          <a:prstGeom prst="rect">
            <a:avLst/>
          </a:prstGeom>
          <a:noFill/>
          <a:ln w="0">
            <a:noFill/>
          </a:ln>
        </p:spPr>
        <p:txBody>
          <a:bodyPr lIns="91440" rIns="91440" tIns="91440" bIns="91440" anchor="t">
            <a:normAutofit fontScale="62281" lnSpcReduction="20000"/>
          </a:bodyPr>
          <a:p>
            <a:pPr indent="0" defTabSz="914400">
              <a:lnSpc>
                <a:spcPct val="90000"/>
              </a:lnSpc>
              <a:buNone/>
            </a:pPr>
            <a:r>
              <a:rPr b="0" lang="en-US" sz="4400" spc="-1" strike="noStrike">
                <a:solidFill>
                  <a:schemeClr val="dk1"/>
                </a:solidFill>
                <a:latin typeface="Open Sans Condensed"/>
              </a:rPr>
              <a:t>History of phylogenetic inference: Statistical phylogenetics</a:t>
            </a:r>
            <a:endParaRPr b="0" lang="en-US" sz="4400" spc="-1" strike="noStrike">
              <a:solidFill>
                <a:schemeClr val="dk1"/>
              </a:solidFill>
              <a:latin typeface="Calibri"/>
            </a:endParaRPr>
          </a:p>
        </p:txBody>
      </p:sp>
      <p:sp>
        <p:nvSpPr>
          <p:cNvPr id="139" name="PlaceHolder 2"/>
          <p:cNvSpPr>
            <a:spLocks noGrp="1"/>
          </p:cNvSpPr>
          <p:nvPr>
            <p:ph/>
          </p:nvPr>
        </p:nvSpPr>
        <p:spPr>
          <a:xfrm>
            <a:off x="311760" y="1536480"/>
            <a:ext cx="5004720" cy="4554720"/>
          </a:xfrm>
          <a:prstGeom prst="rect">
            <a:avLst/>
          </a:prstGeom>
          <a:noFill/>
          <a:ln w="0">
            <a:noFill/>
          </a:ln>
        </p:spPr>
        <p:txBody>
          <a:bodyPr lIns="91440" rIns="91440" tIns="91440" bIns="91440" anchor="t">
            <a:noAutofit/>
          </a:bodyPr>
          <a:p>
            <a:pPr marL="457200" indent="-343080" defTabSz="914400">
              <a:lnSpc>
                <a:spcPct val="90000"/>
              </a:lnSpc>
              <a:buNone/>
              <a:tabLst>
                <a:tab algn="l" pos="0"/>
              </a:tabLst>
            </a:pPr>
            <a:r>
              <a:rPr b="0" lang="x-none" sz="2200" spc="-1" strike="noStrike">
                <a:solidFill>
                  <a:schemeClr val="dk1"/>
                </a:solidFill>
                <a:latin typeface="Open Sans Condensed"/>
              </a:rPr>
              <a:t>Luca Cavalli-Sforza, Anthony Edwards and later, Joseph Felsenstein</a:t>
            </a:r>
            <a:endParaRPr b="0" lang="en-US" sz="2200" spc="-1" strike="noStrike">
              <a:solidFill>
                <a:schemeClr val="dk1"/>
              </a:solidFill>
              <a:latin typeface="Open Sans Condensed"/>
            </a:endParaRPr>
          </a:p>
          <a:p>
            <a:pPr marL="457200" indent="-343080" defTabSz="914400">
              <a:lnSpc>
                <a:spcPct val="90000"/>
              </a:lnSpc>
              <a:buNone/>
              <a:tabLst>
                <a:tab algn="l" pos="0"/>
              </a:tabLst>
            </a:pPr>
            <a:endParaRPr b="0" lang="en-US" sz="2200" spc="-1" strike="noStrike">
              <a:solidFill>
                <a:schemeClr val="dk1"/>
              </a:solidFill>
              <a:latin typeface="Open Sans Condensed"/>
            </a:endParaRPr>
          </a:p>
          <a:p>
            <a:pPr marL="114480" indent="0" defTabSz="914400">
              <a:lnSpc>
                <a:spcPct val="90000"/>
              </a:lnSpc>
              <a:buNone/>
              <a:tabLst>
                <a:tab algn="l" pos="0"/>
              </a:tabLst>
            </a:pPr>
            <a:r>
              <a:rPr b="0" lang="x-none" sz="2200" spc="-1" strike="noStrike">
                <a:solidFill>
                  <a:schemeClr val="dk1"/>
                </a:solidFill>
                <a:latin typeface="Segoe UI"/>
              </a:rPr>
              <a:t>Probabilistic models of trait evolution</a:t>
            </a:r>
            <a:endParaRPr b="0" lang="en-US" sz="2200" spc="-1" strike="noStrike">
              <a:solidFill>
                <a:schemeClr val="dk1"/>
              </a:solidFill>
              <a:latin typeface="Open Sans Condensed"/>
            </a:endParaRPr>
          </a:p>
          <a:p>
            <a:pPr marL="114480" indent="0" defTabSz="914400">
              <a:lnSpc>
                <a:spcPct val="90000"/>
              </a:lnSpc>
              <a:buNone/>
              <a:tabLst>
                <a:tab algn="l" pos="0"/>
              </a:tabLst>
            </a:pPr>
            <a:endParaRPr b="0" lang="en-US" sz="2200" spc="-1" strike="noStrike">
              <a:solidFill>
                <a:schemeClr val="dk1"/>
              </a:solidFill>
              <a:latin typeface="Open Sans Condensed"/>
            </a:endParaRPr>
          </a:p>
          <a:p>
            <a:pPr marL="114480" indent="0" defTabSz="914400">
              <a:lnSpc>
                <a:spcPct val="90000"/>
              </a:lnSpc>
              <a:buNone/>
              <a:tabLst>
                <a:tab algn="l" pos="0"/>
              </a:tabLst>
            </a:pPr>
            <a:r>
              <a:rPr b="0" lang="x-none" sz="2200" spc="-1" strike="noStrike">
                <a:solidFill>
                  <a:schemeClr val="dk1"/>
                </a:solidFill>
                <a:latin typeface="Segoe UI"/>
              </a:rPr>
              <a:t>Showed statistical issues with parsimony, e.g. "the Felsenstein zone"</a:t>
            </a:r>
            <a:endParaRPr b="0" lang="en-US" sz="2200" spc="-1" strike="noStrike">
              <a:solidFill>
                <a:schemeClr val="dk1"/>
              </a:solidFill>
              <a:latin typeface="Open Sans Condensed"/>
            </a:endParaRPr>
          </a:p>
          <a:p>
            <a:pPr marL="114480" indent="0" defTabSz="914400">
              <a:lnSpc>
                <a:spcPct val="90000"/>
              </a:lnSpc>
              <a:buNone/>
              <a:tabLst>
                <a:tab algn="l" pos="0"/>
              </a:tabLst>
            </a:pPr>
            <a:r>
              <a:rPr b="0" lang="en-US" sz="2200" spc="-1" strike="noStrike">
                <a:solidFill>
                  <a:schemeClr val="dk1"/>
                </a:solidFill>
                <a:latin typeface="Segoe UI"/>
              </a:rPr>
              <a:t>-&gt; Highlighted the importance of simulation!</a:t>
            </a:r>
            <a:endParaRPr b="0" lang="en-US" sz="2200" spc="-1" strike="noStrike">
              <a:solidFill>
                <a:schemeClr val="dk1"/>
              </a:solidFill>
              <a:latin typeface="Open Sans Condensed"/>
            </a:endParaRPr>
          </a:p>
          <a:p>
            <a:pPr marL="114480" indent="0" defTabSz="914400">
              <a:lnSpc>
                <a:spcPct val="90000"/>
              </a:lnSpc>
              <a:buNone/>
              <a:tabLst>
                <a:tab algn="l" pos="0"/>
              </a:tabLst>
            </a:pPr>
            <a:endParaRPr b="0" lang="en-US" sz="2200" spc="-1" strike="noStrike">
              <a:solidFill>
                <a:schemeClr val="dk1"/>
              </a:solidFill>
              <a:latin typeface="Open Sans Condensed"/>
            </a:endParaRPr>
          </a:p>
          <a:p>
            <a:pPr marL="114480" indent="0" defTabSz="914400">
              <a:lnSpc>
                <a:spcPct val="90000"/>
              </a:lnSpc>
              <a:buNone/>
              <a:tabLst>
                <a:tab algn="l" pos="0"/>
              </a:tabLst>
            </a:pPr>
            <a:r>
              <a:rPr b="0" lang="x-none" sz="2200" spc="-1" strike="noStrike">
                <a:solidFill>
                  <a:schemeClr val="dk1"/>
                </a:solidFill>
                <a:latin typeface="Segoe UI"/>
              </a:rPr>
              <a:t>Maximum Likelihood &amp; Bayesian inference</a:t>
            </a:r>
            <a:endParaRPr b="0" lang="en-US" sz="2200" spc="-1" strike="noStrike">
              <a:solidFill>
                <a:schemeClr val="dk1"/>
              </a:solidFill>
              <a:latin typeface="Open Sans Condensed"/>
            </a:endParaRPr>
          </a:p>
          <a:p>
            <a:pPr marL="114480" indent="0" defTabSz="914400">
              <a:lnSpc>
                <a:spcPct val="90000"/>
              </a:lnSpc>
              <a:buNone/>
              <a:tabLst>
                <a:tab algn="l" pos="0"/>
              </a:tabLst>
            </a:pPr>
            <a:endParaRPr b="0" lang="en-US" sz="2200" spc="-1" strike="noStrike">
              <a:solidFill>
                <a:schemeClr val="dk1"/>
              </a:solidFill>
              <a:latin typeface="Open Sans Condensed"/>
            </a:endParaRPr>
          </a:p>
          <a:p>
            <a:pPr marL="114480" indent="0" defTabSz="914400">
              <a:lnSpc>
                <a:spcPct val="90000"/>
              </a:lnSpc>
              <a:buNone/>
              <a:tabLst>
                <a:tab algn="l" pos="0"/>
              </a:tabLst>
            </a:pPr>
            <a:endParaRPr b="0" lang="en-US" sz="2200" spc="-1" strike="noStrike">
              <a:solidFill>
                <a:schemeClr val="dk1"/>
              </a:solidFill>
              <a:latin typeface="Open Sans Condensed"/>
            </a:endParaRPr>
          </a:p>
          <a:p>
            <a:pPr marL="457200" indent="-343080" defTabSz="914400">
              <a:lnSpc>
                <a:spcPct val="90000"/>
              </a:lnSpc>
              <a:buNone/>
              <a:tabLst>
                <a:tab algn="l" pos="0"/>
              </a:tabLst>
            </a:pPr>
            <a:endParaRPr b="0" lang="en-US" sz="22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p:txBody>
      </p:sp>
      <p:grpSp>
        <p:nvGrpSpPr>
          <p:cNvPr id="140" name="Group 3"/>
          <p:cNvGrpSpPr/>
          <p:nvPr/>
        </p:nvGrpSpPr>
        <p:grpSpPr>
          <a:xfrm>
            <a:off x="6329520" y="1716480"/>
            <a:ext cx="2488680" cy="3411720"/>
            <a:chOff x="6329520" y="1716480"/>
            <a:chExt cx="2488680" cy="3411720"/>
          </a:xfrm>
        </p:grpSpPr>
        <p:pic>
          <p:nvPicPr>
            <p:cNvPr id="141" name="Picture 4" descr=""/>
            <p:cNvPicPr/>
            <p:nvPr/>
          </p:nvPicPr>
          <p:blipFill>
            <a:blip r:embed="rId1"/>
            <a:stretch/>
          </p:blipFill>
          <p:spPr>
            <a:xfrm>
              <a:off x="6329880" y="1716480"/>
              <a:ext cx="2488320" cy="2867760"/>
            </a:xfrm>
            <a:prstGeom prst="rect">
              <a:avLst/>
            </a:prstGeom>
            <a:ln w="0">
              <a:noFill/>
            </a:ln>
          </p:spPr>
        </p:pic>
        <p:sp>
          <p:nvSpPr>
            <p:cNvPr id="142" name="Text Box 5"/>
            <p:cNvSpPr/>
            <p:nvPr/>
          </p:nvSpPr>
          <p:spPr>
            <a:xfrm>
              <a:off x="6329520" y="4733640"/>
              <a:ext cx="226620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x-none" sz="2000" spc="-1" strike="noStrike">
                  <a:solidFill>
                    <a:schemeClr val="dk1"/>
                  </a:solidFill>
                  <a:latin typeface="Open Sans Condensed"/>
                </a:rPr>
                <a:t>Joe Felsenstein</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311760" y="278280"/>
            <a:ext cx="8520120" cy="763200"/>
          </a:xfrm>
          <a:prstGeom prst="rect">
            <a:avLst/>
          </a:prstGeom>
          <a:noFill/>
          <a:ln w="0">
            <a:noFill/>
          </a:ln>
        </p:spPr>
        <p:txBody>
          <a:bodyPr lIns="91440" rIns="91440" tIns="91440" bIns="91440" anchor="t">
            <a:normAutofit fontScale="63645"/>
          </a:bodyPr>
          <a:p>
            <a:pPr indent="0" defTabSz="914400">
              <a:lnSpc>
                <a:spcPct val="90000"/>
              </a:lnSpc>
              <a:buNone/>
            </a:pPr>
            <a:r>
              <a:rPr b="0" lang="en-US" sz="4400" spc="-1" strike="noStrike">
                <a:solidFill>
                  <a:schemeClr val="dk1"/>
                </a:solidFill>
                <a:latin typeface="Open Sans Condensed"/>
              </a:rPr>
              <a:t>The Felsenstein Zone and Long-Branch Attraction</a:t>
            </a:r>
            <a:endParaRPr b="0" lang="en-US" sz="4400" spc="-1" strike="noStrike">
              <a:solidFill>
                <a:schemeClr val="dk1"/>
              </a:solidFill>
              <a:latin typeface="Calibri"/>
            </a:endParaRPr>
          </a:p>
        </p:txBody>
      </p:sp>
      <p:pic>
        <p:nvPicPr>
          <p:cNvPr id="144" name="Picture 4" descr="Two unrooted trees, one is the true tree of four taxa with long branches leading to species 1 and species 4, who are not each others closest relatives. The reconstructed tree puts species 1 and species 4 as a clade, because of long-branch attraction."/>
          <p:cNvPicPr/>
          <p:nvPr/>
        </p:nvPicPr>
        <p:blipFill>
          <a:blip r:embed="rId1"/>
          <a:srcRect l="0" t="11307" r="4197" b="45260"/>
          <a:stretch/>
        </p:blipFill>
        <p:spPr>
          <a:xfrm>
            <a:off x="1262880" y="2090160"/>
            <a:ext cx="7264440" cy="2469600"/>
          </a:xfrm>
          <a:prstGeom prst="rect">
            <a:avLst/>
          </a:prstGeom>
          <a:ln w="0">
            <a:noFill/>
          </a:ln>
        </p:spPr>
      </p:pic>
      <p:sp>
        <p:nvSpPr>
          <p:cNvPr id="145" name="Title 1"/>
          <p:cNvSpPr/>
          <p:nvPr/>
        </p:nvSpPr>
        <p:spPr>
          <a:xfrm>
            <a:off x="1376640" y="5202720"/>
            <a:ext cx="6390000" cy="572400"/>
          </a:xfrm>
          <a:prstGeom prst="rect">
            <a:avLst/>
          </a:prstGeom>
          <a:noFill/>
          <a:ln w="0">
            <a:noFill/>
          </a:ln>
        </p:spPr>
        <p:style>
          <a:lnRef idx="0"/>
          <a:fillRef idx="0"/>
          <a:effectRef idx="0"/>
          <a:fontRef idx="minor"/>
        </p:style>
        <p:txBody>
          <a:bodyPr lIns="68400" rIns="68400" tIns="68400" bIns="68400" anchor="t">
            <a:noAutofit/>
          </a:bodyPr>
          <a:p>
            <a:pPr algn="ctr" defTabSz="914400">
              <a:lnSpc>
                <a:spcPct val="90000"/>
              </a:lnSpc>
            </a:pPr>
            <a:r>
              <a:rPr b="0" lang="x-none" sz="2000" spc="-1" strike="noStrike">
                <a:solidFill>
                  <a:schemeClr val="dk1"/>
                </a:solidFill>
                <a:latin typeface="Open Sans Condensed"/>
              </a:rPr>
              <a:t>Lack of statistical consistency of parsimony. </a:t>
            </a:r>
            <a:endParaRPr b="0" lang="en-US" sz="2000" spc="-1" strike="noStrike">
              <a:solidFill>
                <a:srgbClr val="000000"/>
              </a:solidFill>
              <a:latin typeface="Arial"/>
            </a:endParaRPr>
          </a:p>
          <a:p>
            <a:pPr algn="ctr" defTabSz="914400">
              <a:lnSpc>
                <a:spcPct val="90000"/>
              </a:lnSpc>
            </a:pPr>
            <a:r>
              <a:rPr b="0" lang="x-none" sz="2000" spc="-1" strike="noStrike">
                <a:solidFill>
                  <a:schemeClr val="dk1"/>
                </a:solidFill>
                <a:latin typeface="Open Sans Condensed"/>
              </a:rPr>
              <a:t>Consistency: An estimator converges on the truth as more data are added</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311760" y="197280"/>
            <a:ext cx="8520120" cy="763200"/>
          </a:xfrm>
          <a:prstGeom prst="rect">
            <a:avLst/>
          </a:prstGeom>
          <a:noFill/>
          <a:ln w="0">
            <a:noFill/>
          </a:ln>
        </p:spPr>
        <p:txBody>
          <a:bodyPr lIns="91440" rIns="91440" tIns="91440" bIns="91440" anchor="t">
            <a:normAutofit fontScale="80920"/>
          </a:bodyPr>
          <a:p>
            <a:pPr indent="0" defTabSz="914400">
              <a:lnSpc>
                <a:spcPct val="90000"/>
              </a:lnSpc>
              <a:buNone/>
            </a:pPr>
            <a:r>
              <a:rPr b="0" lang="en-US" sz="4400" spc="-1" strike="noStrike">
                <a:solidFill>
                  <a:schemeClr val="dk1"/>
                </a:solidFill>
                <a:latin typeface="Open Sans Condensed"/>
              </a:rPr>
              <a:t>An oversimplification of the problem...</a:t>
            </a:r>
            <a:endParaRPr b="0" lang="en-US" sz="4400" spc="-1" strike="noStrike">
              <a:solidFill>
                <a:schemeClr val="dk1"/>
              </a:solidFill>
              <a:latin typeface="Calibri"/>
            </a:endParaRPr>
          </a:p>
        </p:txBody>
      </p:sp>
      <p:sp>
        <p:nvSpPr>
          <p:cNvPr id="147" name="PlaceHolder 2"/>
          <p:cNvSpPr>
            <a:spLocks noGrp="1"/>
          </p:cNvSpPr>
          <p:nvPr>
            <p:ph/>
          </p:nvPr>
        </p:nvSpPr>
        <p:spPr>
          <a:xfrm>
            <a:off x="311760" y="1536480"/>
            <a:ext cx="8520120" cy="4554720"/>
          </a:xfrm>
          <a:prstGeom prst="rect">
            <a:avLst/>
          </a:prstGeom>
          <a:noFill/>
          <a:ln w="0">
            <a:noFill/>
          </a:ln>
        </p:spPr>
        <p:txBody>
          <a:bodyPr lIns="91440" rIns="91440" tIns="91440" bIns="91440" anchor="t">
            <a:normAutofit fontScale="87480"/>
          </a:bodyPr>
          <a:p>
            <a:pPr marL="114480" indent="0" defTabSz="914400">
              <a:lnSpc>
                <a:spcPct val="90000"/>
              </a:lnSpc>
              <a:buNone/>
              <a:tabLst>
                <a:tab algn="l" pos="0"/>
              </a:tabLst>
            </a:pPr>
            <a:r>
              <a:rPr b="0" lang="en-US" sz="2800" spc="-1" strike="noStrike">
                <a:solidFill>
                  <a:schemeClr val="dk1"/>
                </a:solidFill>
                <a:latin typeface="Segoe UI"/>
              </a:rPr>
              <a:t>Under the cladistics philosophy (model), homoplasy is a “mistake” in character construction</a:t>
            </a:r>
            <a:br>
              <a:rPr sz="2800"/>
            </a:b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Coding independently evolved traits the same, look closer and you'll see they're different!! (e.g. wings of birds &amp; wings of bats)</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But for DNA, complete convergence is real (a “T” is a “T” is a “T”, no matter how it became that)</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Segoe UI"/>
              </a:rPr>
              <a:t>As similarity by convergence becomes more common than similarity by shared ancestry, parsimony fails, and no “looking closer” at the character will save it. </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311760" y="237600"/>
            <a:ext cx="8520120" cy="763200"/>
          </a:xfrm>
          <a:prstGeom prst="rect">
            <a:avLst/>
          </a:prstGeom>
          <a:noFill/>
          <a:ln w="0">
            <a:noFill/>
          </a:ln>
        </p:spPr>
        <p:txBody>
          <a:bodyPr lIns="91440" rIns="91440" tIns="91440" bIns="91440" anchor="t">
            <a:noAutofit/>
          </a:bodyPr>
          <a:p>
            <a:pPr indent="0" defTabSz="914400">
              <a:lnSpc>
                <a:spcPct val="90000"/>
              </a:lnSpc>
              <a:buNone/>
            </a:pPr>
            <a:r>
              <a:rPr b="0" lang="en-US" sz="3200" spc="-1" strike="noStrike">
                <a:solidFill>
                  <a:schemeClr val="dk1"/>
                </a:solidFill>
                <a:latin typeface="Open Sans Condensed"/>
              </a:rPr>
              <a:t>Parsimony's main assumption of "Occam's Razor" had unclear implications</a:t>
            </a:r>
            <a:endParaRPr b="0" lang="en-US" sz="3200" spc="-1" strike="noStrike">
              <a:solidFill>
                <a:schemeClr val="dk1"/>
              </a:solidFill>
              <a:latin typeface="Calibri"/>
            </a:endParaRPr>
          </a:p>
        </p:txBody>
      </p:sp>
      <p:sp>
        <p:nvSpPr>
          <p:cNvPr id="149" name="PlaceHolder 2"/>
          <p:cNvSpPr>
            <a:spLocks noGrp="1"/>
          </p:cNvSpPr>
          <p:nvPr>
            <p:ph/>
          </p:nvPr>
        </p:nvSpPr>
        <p:spPr>
          <a:xfrm>
            <a:off x="311760" y="1536480"/>
            <a:ext cx="8520120" cy="4554720"/>
          </a:xfrm>
          <a:prstGeom prst="rect">
            <a:avLst/>
          </a:prstGeom>
          <a:noFill/>
          <a:ln w="0">
            <a:noFill/>
          </a:ln>
        </p:spPr>
        <p:txBody>
          <a:bodyPr lIns="91440" rIns="91440" tIns="91440" bIns="91440" anchor="t">
            <a:normAutofit/>
          </a:bodyPr>
          <a:p>
            <a:pPr marL="114480" indent="0" defTabSz="914400">
              <a:lnSpc>
                <a:spcPct val="90000"/>
              </a:lnSpc>
              <a:buNone/>
              <a:tabLst>
                <a:tab algn="l" pos="0"/>
              </a:tabLst>
            </a:pPr>
            <a:r>
              <a:rPr b="0" lang="en-US" sz="2800" spc="-1" strike="noStrike">
                <a:solidFill>
                  <a:schemeClr val="dk1"/>
                </a:solidFill>
                <a:latin typeface="Open Sans Condensed"/>
              </a:rPr>
              <a:t>What are we assuming about the evolutionary process?</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Open Sans Condensed"/>
              </a:rPr>
              <a:t>Rare changes or "no common mechanism" (Tuffley and Steele 1997)</a:t>
            </a:r>
            <a:endParaRPr b="0" lang="en-US" sz="2800" spc="-1" strike="noStrike">
              <a:solidFill>
                <a:schemeClr val="dk1"/>
              </a:solidFill>
              <a:latin typeface="Open Sans Condensed"/>
            </a:endParaRPr>
          </a:p>
          <a:p>
            <a:pPr marL="114480" indent="0" defTabSz="914400">
              <a:lnSpc>
                <a:spcPct val="90000"/>
              </a:lnSpc>
              <a:buNone/>
              <a:tabLst>
                <a:tab algn="l" pos="0"/>
              </a:tabLst>
            </a:pPr>
            <a:endParaRPr b="0" lang="en-US" sz="2800" spc="-1" strike="noStrike">
              <a:solidFill>
                <a:schemeClr val="dk1"/>
              </a:solidFill>
              <a:latin typeface="Open Sans Condensed"/>
            </a:endParaRPr>
          </a:p>
          <a:p>
            <a:pPr marL="114480" indent="0" defTabSz="914400">
              <a:lnSpc>
                <a:spcPct val="90000"/>
              </a:lnSpc>
              <a:buNone/>
              <a:tabLst>
                <a:tab algn="l" pos="0"/>
              </a:tabLst>
            </a:pPr>
            <a:r>
              <a:rPr b="0" lang="en-US" sz="2800" spc="-1" strike="noStrike">
                <a:solidFill>
                  <a:schemeClr val="dk1"/>
                </a:solidFill>
                <a:latin typeface="Open Sans Condensed"/>
              </a:rPr>
              <a:t>Inconsistent estimator in real datasets with homoplasy – defined as an estimator that gets more and more certain of the wrong answer as more data is added.</a:t>
            </a: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 name="Picture 4" descr="A headline from Science describing #parsimonygate, a controversy involving the journal Cladistics' policy of requiring parsimony analyses. "/>
          <p:cNvPicPr/>
          <p:nvPr/>
        </p:nvPicPr>
        <p:blipFill>
          <a:blip r:embed="rId1"/>
          <a:stretch/>
        </p:blipFill>
        <p:spPr>
          <a:xfrm>
            <a:off x="50400" y="1545120"/>
            <a:ext cx="5697000" cy="3142800"/>
          </a:xfrm>
          <a:prstGeom prst="rect">
            <a:avLst/>
          </a:prstGeom>
          <a:ln w="0">
            <a:noFill/>
          </a:ln>
        </p:spPr>
      </p:pic>
      <p:sp>
        <p:nvSpPr>
          <p:cNvPr id="151" name="PlaceHolder 1"/>
          <p:cNvSpPr>
            <a:spLocks noGrp="1"/>
          </p:cNvSpPr>
          <p:nvPr>
            <p:ph type="title"/>
          </p:nvPr>
        </p:nvSpPr>
        <p:spPr>
          <a:xfrm>
            <a:off x="183600" y="254160"/>
            <a:ext cx="8651880" cy="572400"/>
          </a:xfrm>
          <a:prstGeom prst="rect">
            <a:avLst/>
          </a:prstGeom>
          <a:noFill/>
          <a:ln w="0">
            <a:noFill/>
          </a:ln>
        </p:spPr>
        <p:txBody>
          <a:bodyPr lIns="91440" rIns="91440" tIns="91440" bIns="91440" anchor="t">
            <a:normAutofit fontScale="74783" lnSpcReduction="10000"/>
          </a:bodyPr>
          <a:p>
            <a:pPr indent="0" defTabSz="914400">
              <a:lnSpc>
                <a:spcPct val="90000"/>
              </a:lnSpc>
              <a:buNone/>
            </a:pPr>
            <a:r>
              <a:rPr b="0" lang="x-none" sz="4400" spc="-1" strike="noStrike">
                <a:solidFill>
                  <a:schemeClr val="dk1"/>
                </a:solidFill>
                <a:latin typeface="Open Sans Condensed"/>
              </a:rPr>
              <a:t>A history of conflict in science</a:t>
            </a:r>
            <a:endParaRPr b="0" lang="en-US" sz="4400" spc="-1" strike="noStrike">
              <a:solidFill>
                <a:schemeClr val="dk1"/>
              </a:solidFill>
              <a:latin typeface="Calibri"/>
            </a:endParaRPr>
          </a:p>
        </p:txBody>
      </p:sp>
      <p:sp>
        <p:nvSpPr>
          <p:cNvPr id="152" name="PlaceHolder 2"/>
          <p:cNvSpPr>
            <a:spLocks noGrp="1"/>
          </p:cNvSpPr>
          <p:nvPr>
            <p:ph/>
          </p:nvPr>
        </p:nvSpPr>
        <p:spPr>
          <a:xfrm>
            <a:off x="1709280" y="4895640"/>
            <a:ext cx="2639520" cy="416520"/>
          </a:xfrm>
          <a:prstGeom prst="rect">
            <a:avLst/>
          </a:prstGeom>
          <a:noFill/>
          <a:ln w="0">
            <a:noFill/>
          </a:ln>
        </p:spPr>
        <p:txBody>
          <a:bodyPr lIns="91440" rIns="91440" tIns="91440" bIns="91440" anchor="t">
            <a:noAutofit/>
          </a:bodyPr>
          <a:p>
            <a:pPr marL="114480" indent="0" defTabSz="914400">
              <a:lnSpc>
                <a:spcPct val="90000"/>
              </a:lnSpc>
              <a:buNone/>
              <a:tabLst>
                <a:tab algn="l" pos="0"/>
              </a:tabLst>
            </a:pPr>
            <a:r>
              <a:rPr b="0" lang="x-none" sz="2400" spc="-1" strike="noStrike">
                <a:solidFill>
                  <a:schemeClr val="dk1"/>
                </a:solidFill>
                <a:latin typeface="Open Sans Condensed"/>
              </a:rPr>
              <a:t>#ParsimonyGate</a:t>
            </a:r>
            <a:endParaRPr b="0" lang="en-US" sz="2400" spc="-1" strike="noStrike">
              <a:solidFill>
                <a:schemeClr val="dk1"/>
              </a:solidFill>
              <a:latin typeface="Open Sans Condensed"/>
            </a:endParaRPr>
          </a:p>
        </p:txBody>
      </p:sp>
      <p:pic>
        <p:nvPicPr>
          <p:cNvPr id="153" name="Picture 3" descr="A button labeled &quot;genuine phylogenetic ?god?&quot; produced by anti-Felsenstein cladists to mock him. This is Joe Felsenstein's copy of the button."/>
          <p:cNvPicPr/>
          <p:nvPr/>
        </p:nvPicPr>
        <p:blipFill>
          <a:blip r:embed="rId2"/>
          <a:srcRect l="7790" t="11094" r="9774" b="12193"/>
          <a:stretch/>
        </p:blipFill>
        <p:spPr>
          <a:xfrm>
            <a:off x="5898240" y="1241280"/>
            <a:ext cx="3065760" cy="308628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169560" y="227520"/>
            <a:ext cx="8520120" cy="763200"/>
          </a:xfrm>
          <a:prstGeom prst="rect">
            <a:avLst/>
          </a:prstGeom>
          <a:noFill/>
          <a:ln w="0">
            <a:noFill/>
          </a:ln>
        </p:spPr>
        <p:txBody>
          <a:bodyPr lIns="91440" rIns="91440" tIns="91440" bIns="91440" anchor="t">
            <a:normAutofit fontScale="96604"/>
          </a:bodyPr>
          <a:p>
            <a:pPr indent="0" defTabSz="914400">
              <a:lnSpc>
                <a:spcPct val="90000"/>
              </a:lnSpc>
              <a:buNone/>
            </a:pPr>
            <a:r>
              <a:rPr b="0" lang="en-US" sz="4400" spc="-1" strike="noStrike">
                <a:solidFill>
                  <a:schemeClr val="dk1"/>
                </a:solidFill>
                <a:latin typeface="Open Sans Condensed"/>
              </a:rPr>
              <a:t>Parsimonygate</a:t>
            </a:r>
            <a:endParaRPr b="0" lang="en-US" sz="4400" spc="-1" strike="noStrike">
              <a:solidFill>
                <a:schemeClr val="dk1"/>
              </a:solidFill>
              <a:latin typeface="Calibri"/>
            </a:endParaRPr>
          </a:p>
        </p:txBody>
      </p:sp>
      <p:pic>
        <p:nvPicPr>
          <p:cNvPr id="155" name="Picture 4" descr="The epistemological paradigm of this journal is parsimony. There are strong philosophical arguments in support of parsimony versus other methods of phylogenetic inference (e.g. Farris 1983)....As a community of scientists, the Willi Hennig Society is always open to new methods and ideas, and to well-reasoned criticisms of old ones. However, we do not hold in special esteem any method solely because it is novel or purportedly sophisticated. &#10;&#10;Phylogenetic data sets submitted to this journal should be analysed using parsimony. If alternative methods are also used and there is no difference among the results, the author should defer to the principles of the Society and present the tree obtained by parsimony. Unless there is a pertinent reason to include multiple trees from alternative methods, a tree based on parsimony is sufficient as an intelligible, informative and repeatable hypothesis of relationships, and articles should not be cluttered with multiple, often redundant, trees produced from other methods. If alternative methods give different results and the author prefers an unparsimonious topology, he or she is welcome to present that result, but should be prepared to defend it on philosophical grounds. &#10;&#10;In keeping with numerous theoretical and empirical discussions of methodology published in this journal, we do not consider the hypothetical problem of statistical inconsistency to constitute a philosophical argument for the rejection of parsimony. All phylogenetic methods, including parsimony, may produce inconsistent or otherwise inaccurate results for a given data set. The absence of certain truth represents a philosophical limit of empirical science. &#10;&#10;..."/>
          <p:cNvPicPr/>
          <p:nvPr/>
        </p:nvPicPr>
        <p:blipFill>
          <a:blip r:embed="rId1"/>
          <a:stretch/>
        </p:blipFill>
        <p:spPr>
          <a:xfrm>
            <a:off x="27360" y="1712520"/>
            <a:ext cx="9090000" cy="473112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0" lang="en-US" sz="4100" spc="-1" strike="noStrike">
                <a:solidFill>
                  <a:schemeClr val="dk1"/>
                </a:solidFill>
                <a:latin typeface="Arial"/>
              </a:rPr>
              <a:t>Ultimately, parsimony is less an inflexible modeling paradigm</a:t>
            </a:r>
            <a:endParaRPr b="0" lang="en-US" sz="4100" spc="-1" strike="noStrike">
              <a:solidFill>
                <a:schemeClr val="dk1"/>
              </a:solidFill>
              <a:latin typeface="Calibri"/>
            </a:endParaRPr>
          </a:p>
        </p:txBody>
      </p:sp>
      <p:sp>
        <p:nvSpPr>
          <p:cNvPr id="157"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a:bodyPr>
          <a:p>
            <a:pPr marL="114480" indent="0" defTabSz="914400">
              <a:lnSpc>
                <a:spcPct val="90000"/>
              </a:lnSpc>
              <a:spcBef>
                <a:spcPts val="1001"/>
              </a:spcBef>
              <a:buNone/>
              <a:tabLst>
                <a:tab algn="l" pos="0"/>
              </a:tabLst>
            </a:pPr>
            <a:r>
              <a:rPr b="0" lang="en-US" sz="2200" spc="-1" strike="noStrike">
                <a:solidFill>
                  <a:schemeClr val="dk1"/>
                </a:solidFill>
                <a:latin typeface="Open Sans Condensed"/>
              </a:rPr>
              <a:t>As pointed out in the policy, other models can be inconsistent if the model does not fit or is not adequate for the data-generating process. </a:t>
            </a:r>
            <a:endParaRPr b="0" lang="en-US" sz="2200" spc="-1" strike="noStrike">
              <a:solidFill>
                <a:schemeClr val="dk1"/>
              </a:solidFill>
              <a:latin typeface="Open Sans Condensed"/>
            </a:endParaRPr>
          </a:p>
          <a:p>
            <a:pPr marL="114480" indent="0" defTabSz="914400">
              <a:lnSpc>
                <a:spcPct val="90000"/>
              </a:lnSpc>
              <a:spcBef>
                <a:spcPts val="1001"/>
              </a:spcBef>
              <a:buNone/>
              <a:tabLst>
                <a:tab algn="l" pos="0"/>
              </a:tabLst>
            </a:pPr>
            <a:endParaRPr b="0" lang="en-US" sz="2200" spc="-1" strike="noStrike">
              <a:solidFill>
                <a:schemeClr val="dk1"/>
              </a:solidFill>
              <a:latin typeface="Open Sans Condensed"/>
            </a:endParaRPr>
          </a:p>
          <a:p>
            <a:pPr marL="114480" indent="0" defTabSz="914400">
              <a:lnSpc>
                <a:spcPct val="90000"/>
              </a:lnSpc>
              <a:spcBef>
                <a:spcPts val="1001"/>
              </a:spcBef>
              <a:buNone/>
              <a:tabLst>
                <a:tab algn="l" pos="0"/>
              </a:tabLst>
            </a:pPr>
            <a:r>
              <a:rPr b="0" lang="en-US" sz="2200" spc="-1" strike="noStrike">
                <a:solidFill>
                  <a:schemeClr val="dk1"/>
                </a:solidFill>
                <a:latin typeface="Open Sans Condensed"/>
              </a:rPr>
              <a:t>But statistical phylogenetics gave a way to parameterize processes, connect them to knowledge from population genetics, and test for adequacy and fit in ways that parsimony did not. </a:t>
            </a:r>
            <a:endParaRPr b="0" lang="en-US" sz="2200" spc="-1" strike="noStrike">
              <a:solidFill>
                <a:schemeClr val="dk1"/>
              </a:solidFill>
              <a:latin typeface="Open Sans Condensed"/>
            </a:endParaRPr>
          </a:p>
          <a:p>
            <a:pPr marL="114480" indent="0" defTabSz="914400">
              <a:lnSpc>
                <a:spcPct val="90000"/>
              </a:lnSpc>
              <a:spcBef>
                <a:spcPts val="1001"/>
              </a:spcBef>
              <a:buNone/>
              <a:tabLst>
                <a:tab algn="l" pos="0"/>
              </a:tabLst>
            </a:pPr>
            <a:endParaRPr b="0" lang="en-US" sz="2200" spc="-1" strike="noStrike">
              <a:solidFill>
                <a:schemeClr val="dk1"/>
              </a:solidFill>
              <a:latin typeface="Open Sans Condensed"/>
            </a:endParaRPr>
          </a:p>
          <a:p>
            <a:pPr marL="114480" indent="0" defTabSz="914400">
              <a:lnSpc>
                <a:spcPct val="90000"/>
              </a:lnSpc>
              <a:spcBef>
                <a:spcPts val="1001"/>
              </a:spcBef>
              <a:buNone/>
              <a:tabLst>
                <a:tab algn="l" pos="0"/>
              </a:tabLst>
            </a:pPr>
            <a:r>
              <a:rPr b="0" lang="en-US" sz="2200" spc="-1" strike="noStrike">
                <a:solidFill>
                  <a:schemeClr val="dk1"/>
                </a:solidFill>
                <a:latin typeface="Open Sans Condensed"/>
              </a:rPr>
              <a:t>This ultimately led to statistical phylogenetics being the dominant paradigm in phylogenetics from sequence data.</a:t>
            </a:r>
            <a:endParaRPr b="0" lang="en-US" sz="22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a:bodyPr>
          <a:p>
            <a:pPr indent="0" defTabSz="914400">
              <a:lnSpc>
                <a:spcPct val="90000"/>
              </a:lnSpc>
              <a:buNone/>
            </a:pPr>
            <a:r>
              <a:rPr b="0" lang="x-none" sz="4400" spc="-1" strike="noStrike">
                <a:solidFill>
                  <a:schemeClr val="dk1"/>
                </a:solidFill>
                <a:latin typeface="Arial"/>
              </a:rPr>
              <a:t>Parsimony still commonly used for:</a:t>
            </a:r>
            <a:endParaRPr b="0" lang="en-US" sz="4400" spc="-1" strike="noStrike">
              <a:solidFill>
                <a:schemeClr val="dk1"/>
              </a:solidFill>
              <a:latin typeface="Calibri"/>
            </a:endParaRPr>
          </a:p>
        </p:txBody>
      </p:sp>
      <p:sp>
        <p:nvSpPr>
          <p:cNvPr id="159"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a:bodyPr>
          <a:p>
            <a:pPr marL="114480" indent="0" defTabSz="914400">
              <a:lnSpc>
                <a:spcPct val="90000"/>
              </a:lnSpc>
              <a:spcBef>
                <a:spcPts val="1001"/>
              </a:spcBef>
              <a:buNone/>
              <a:tabLst>
                <a:tab algn="l" pos="0"/>
              </a:tabLst>
            </a:pPr>
            <a:r>
              <a:rPr b="0" lang="x-none" sz="2800" spc="-1" strike="noStrike">
                <a:solidFill>
                  <a:schemeClr val="dk1"/>
                </a:solidFill>
                <a:latin typeface="Open Sans Condensed"/>
              </a:rPr>
              <a:t>Morphological analyses (though probabilistic models exist here too)</a:t>
            </a:r>
            <a:endParaRPr b="0" lang="en-US" sz="2800" spc="-1" strike="noStrike">
              <a:solidFill>
                <a:schemeClr val="dk1"/>
              </a:solidFill>
              <a:latin typeface="Open Sans Condensed"/>
            </a:endParaRPr>
          </a:p>
          <a:p>
            <a:pPr marL="114480"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marL="114480" indent="0" defTabSz="914400">
              <a:lnSpc>
                <a:spcPct val="90000"/>
              </a:lnSpc>
              <a:spcBef>
                <a:spcPts val="1001"/>
              </a:spcBef>
              <a:buNone/>
              <a:tabLst>
                <a:tab algn="l" pos="0"/>
              </a:tabLst>
            </a:pPr>
            <a:r>
              <a:rPr b="0" lang="x-none" sz="2800" spc="-1" strike="noStrike">
                <a:solidFill>
                  <a:schemeClr val="dk1"/>
                </a:solidFill>
                <a:latin typeface="Open Sans Condensed"/>
              </a:rPr>
              <a:t>Starting trees</a:t>
            </a:r>
            <a:endParaRPr b="0" lang="en-US" sz="2800" spc="-1" strike="noStrike">
              <a:solidFill>
                <a:schemeClr val="dk1"/>
              </a:solidFill>
              <a:latin typeface="Open Sans Condensed"/>
            </a:endParaRPr>
          </a:p>
          <a:p>
            <a:pPr marL="114480"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marL="114480" indent="0" defTabSz="914400">
              <a:lnSpc>
                <a:spcPct val="90000"/>
              </a:lnSpc>
              <a:spcBef>
                <a:spcPts val="1001"/>
              </a:spcBef>
              <a:buNone/>
              <a:tabLst>
                <a:tab algn="l" pos="0"/>
              </a:tabLst>
            </a:pPr>
            <a:r>
              <a:rPr b="0" lang="x-none" sz="2800" spc="-1" strike="noStrike">
                <a:solidFill>
                  <a:schemeClr val="dk1"/>
                </a:solidFill>
                <a:latin typeface="Open Sans Condensed"/>
              </a:rPr>
              <a:t>Simplified reconstruction of the history of trait change</a:t>
            </a:r>
            <a:r>
              <a:rPr b="0" lang="en-US" sz="2800" spc="-1" strike="noStrike">
                <a:solidFill>
                  <a:schemeClr val="dk1"/>
                </a:solidFill>
                <a:latin typeface="Open Sans Condensed"/>
              </a:rPr>
              <a:t> (ancestral state reconstructions)</a:t>
            </a: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311760" y="227520"/>
            <a:ext cx="8520120" cy="1144080"/>
          </a:xfrm>
          <a:prstGeom prst="rect">
            <a:avLst/>
          </a:prstGeom>
          <a:noFill/>
          <a:ln w="0">
            <a:noFill/>
          </a:ln>
        </p:spPr>
        <p:txBody>
          <a:bodyPr lIns="91440" rIns="91440" tIns="91440" bIns="91440" anchor="t">
            <a:normAutofit fontScale="87256"/>
          </a:bodyPr>
          <a:p>
            <a:pPr indent="0" defTabSz="914400">
              <a:lnSpc>
                <a:spcPct val="90000"/>
              </a:lnSpc>
              <a:buNone/>
            </a:pPr>
            <a:r>
              <a:rPr b="0" lang="en-US" sz="4000" spc="-1" strike="noStrike">
                <a:solidFill>
                  <a:schemeClr val="dk1"/>
                </a:solidFill>
                <a:latin typeface="Open Sans Condensed"/>
              </a:rPr>
              <a:t>Finding the best tree: </a:t>
            </a:r>
            <a:br>
              <a:rPr sz="4000"/>
            </a:br>
            <a:r>
              <a:rPr b="0" lang="en-US" sz="4000" spc="-1" strike="noStrike">
                <a:solidFill>
                  <a:schemeClr val="dk1"/>
                </a:solidFill>
                <a:latin typeface="Open Sans Condensed"/>
              </a:rPr>
              <a:t>Exhaustive searches</a:t>
            </a:r>
            <a:endParaRPr b="0" lang="en-US" sz="4000" spc="-1" strike="noStrike">
              <a:solidFill>
                <a:schemeClr val="dk1"/>
              </a:solidFill>
              <a:latin typeface="Calibri"/>
            </a:endParaRPr>
          </a:p>
        </p:txBody>
      </p:sp>
      <p:pic>
        <p:nvPicPr>
          <p:cNvPr id="161" name="Picture 3" descr="The increase in number of total possible trees with the number of species from Felsenstein Table 3.1. Repeated from the last lecture."/>
          <p:cNvPicPr/>
          <p:nvPr/>
        </p:nvPicPr>
        <p:blipFill>
          <a:blip r:embed="rId1"/>
          <a:stretch/>
        </p:blipFill>
        <p:spPr>
          <a:xfrm>
            <a:off x="4728960" y="1713240"/>
            <a:ext cx="4419360" cy="5013000"/>
          </a:xfrm>
          <a:prstGeom prst="rect">
            <a:avLst/>
          </a:prstGeom>
          <a:ln w="0">
            <a:noFill/>
          </a:ln>
        </p:spPr>
      </p:pic>
      <p:sp>
        <p:nvSpPr>
          <p:cNvPr id="162" name="Text Box 2"/>
          <p:cNvSpPr/>
          <p:nvPr/>
        </p:nvSpPr>
        <p:spPr>
          <a:xfrm>
            <a:off x="308520" y="1710000"/>
            <a:ext cx="4516920" cy="3750120"/>
          </a:xfrm>
          <a:prstGeom prst="rect">
            <a:avLst/>
          </a:prstGeom>
          <a:noFill/>
          <a:ln w="0">
            <a:noFill/>
          </a:ln>
        </p:spPr>
        <p:style>
          <a:lnRef idx="0"/>
          <a:fillRef idx="0"/>
          <a:effectRef idx="0"/>
          <a:fontRef idx="minor"/>
        </p:style>
        <p:txBody>
          <a:bodyPr anchor="t">
            <a:spAutoFit/>
          </a:bodyPr>
          <a:p>
            <a:pPr defTabSz="914400">
              <a:lnSpc>
                <a:spcPct val="100000"/>
              </a:lnSpc>
            </a:pPr>
            <a:r>
              <a:rPr b="0" lang="en-US" sz="2000" spc="-1" strike="noStrike">
                <a:solidFill>
                  <a:schemeClr val="dk1"/>
                </a:solidFill>
                <a:latin typeface="Open Sans Condensed"/>
              </a:rPr>
              <a:t>How do you find the most parsimonious tree?</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Open Sans Condensed"/>
              </a:rPr>
              <a:t>One way: </a:t>
            </a:r>
            <a:br>
              <a:rPr sz="2000"/>
            </a:br>
            <a:r>
              <a:rPr b="0" lang="en-US" sz="2000" spc="-1" strike="noStrike">
                <a:solidFill>
                  <a:schemeClr val="dk1"/>
                </a:solidFill>
                <a:latin typeface="Open Sans Condensed"/>
              </a:rPr>
              <a:t>1. Try every possible tree. </a:t>
            </a: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Open Sans Condensed"/>
              </a:rPr>
              <a:t>2. For each tree, count min # of steps</a:t>
            </a:r>
            <a:br>
              <a:rPr sz="2000"/>
            </a:br>
            <a:r>
              <a:rPr b="0" lang="en-US" sz="2000" spc="-1" strike="noStrike">
                <a:solidFill>
                  <a:schemeClr val="dk1"/>
                </a:solidFill>
                <a:latin typeface="Open Sans Condensed"/>
              </a:rPr>
              <a:t>3. Choose the tree with the fewest # steps</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p:txBody>
      </p:sp>
      <p:sp>
        <p:nvSpPr>
          <p:cNvPr id="163" name="Text Box 4"/>
          <p:cNvSpPr/>
          <p:nvPr/>
        </p:nvSpPr>
        <p:spPr>
          <a:xfrm>
            <a:off x="1441440" y="5323320"/>
            <a:ext cx="2922840" cy="9435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800" spc="-1" strike="noStrike">
                <a:solidFill>
                  <a:schemeClr val="dk1"/>
                </a:solidFill>
                <a:latin typeface="Open Sans Condensed"/>
              </a:rPr>
              <a:t>Too many trees. </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Picture 4" descr="Figure 4.1 from Felsenstein's Inferring Phylogenies, showing a heuristic search on a surface rising above a two-dimensional plane. The process of climing uphill on the surface is illustrated, as well as a failure to find the highest peak by a &quot;greedy&quot; method. The global maximum is in a narrower region of the surface than the local peak, where the algorithm ends up. "/>
          <p:cNvPicPr/>
          <p:nvPr/>
        </p:nvPicPr>
        <p:blipFill>
          <a:blip r:embed="rId1"/>
          <a:stretch/>
        </p:blipFill>
        <p:spPr>
          <a:xfrm>
            <a:off x="4324680" y="2932200"/>
            <a:ext cx="4627440" cy="3390480"/>
          </a:xfrm>
          <a:prstGeom prst="rect">
            <a:avLst/>
          </a:prstGeom>
          <a:ln w="0">
            <a:noFill/>
          </a:ln>
        </p:spPr>
      </p:pic>
      <p:sp>
        <p:nvSpPr>
          <p:cNvPr id="165" name="PlaceHolder 1"/>
          <p:cNvSpPr>
            <a:spLocks noGrp="1"/>
          </p:cNvSpPr>
          <p:nvPr>
            <p:ph type="title"/>
          </p:nvPr>
        </p:nvSpPr>
        <p:spPr>
          <a:xfrm>
            <a:off x="-1440" y="-720"/>
            <a:ext cx="7886520" cy="1325160"/>
          </a:xfrm>
          <a:prstGeom prst="rect">
            <a:avLst/>
          </a:prstGeom>
          <a:noFill/>
          <a:ln w="0">
            <a:noFill/>
          </a:ln>
        </p:spPr>
        <p:txBody>
          <a:bodyPr lIns="91440" rIns="91440" tIns="45720" bIns="45720" anchor="ctr">
            <a:noAutofit/>
          </a:bodyPr>
          <a:p>
            <a:pPr indent="0" defTabSz="914400">
              <a:lnSpc>
                <a:spcPct val="90000"/>
              </a:lnSpc>
              <a:buNone/>
            </a:pPr>
            <a:r>
              <a:rPr b="0" lang="x-none" sz="5400" spc="-1" strike="noStrike">
                <a:solidFill>
                  <a:schemeClr val="dk1"/>
                </a:solidFill>
                <a:latin typeface="Arial"/>
              </a:rPr>
              <a:t>Heuristic searches</a:t>
            </a:r>
            <a:endParaRPr b="0" lang="en-US" sz="5400" spc="-1" strike="noStrike">
              <a:solidFill>
                <a:schemeClr val="dk1"/>
              </a:solidFill>
              <a:latin typeface="Calibri"/>
            </a:endParaRPr>
          </a:p>
        </p:txBody>
      </p:sp>
      <p:sp>
        <p:nvSpPr>
          <p:cNvPr id="166" name="PlaceHolder 2"/>
          <p:cNvSpPr>
            <a:spLocks noGrp="1"/>
          </p:cNvSpPr>
          <p:nvPr>
            <p:ph/>
          </p:nvPr>
        </p:nvSpPr>
        <p:spPr>
          <a:xfrm>
            <a:off x="130680" y="1500480"/>
            <a:ext cx="4320360" cy="4350960"/>
          </a:xfrm>
          <a:prstGeom prst="rect">
            <a:avLst/>
          </a:prstGeom>
          <a:noFill/>
          <a:ln w="0">
            <a:noFill/>
          </a:ln>
        </p:spPr>
        <p:txBody>
          <a:bodyPr lIns="91440" rIns="91440" tIns="45720" bIns="45720" anchor="t">
            <a:normAutofit fontScale="71769"/>
          </a:bodyPr>
          <a:p>
            <a:pPr indent="0" defTabSz="914400">
              <a:lnSpc>
                <a:spcPct val="100000"/>
              </a:lnSpc>
              <a:buNone/>
              <a:tabLst>
                <a:tab algn="l" pos="0"/>
              </a:tabLst>
            </a:pPr>
            <a:r>
              <a:rPr b="0" lang="en-US" sz="2400" spc="-1" strike="noStrike">
                <a:solidFill>
                  <a:schemeClr val="dk1"/>
                </a:solidFill>
                <a:latin typeface="Segoe UI"/>
              </a:rPr>
              <a:t>Don’t try every tree. </a:t>
            </a:r>
            <a:endParaRPr b="0" lang="en-US" sz="2400" spc="-1" strike="noStrike">
              <a:solidFill>
                <a:schemeClr val="dk1"/>
              </a:solidFill>
              <a:latin typeface="Open Sans Condensed"/>
            </a:endParaRPr>
          </a:p>
          <a:p>
            <a:pPr indent="0" defTabSz="914400">
              <a:lnSpc>
                <a:spcPct val="100000"/>
              </a:lnSpc>
              <a:buNone/>
              <a:tabLst>
                <a:tab algn="l" pos="0"/>
              </a:tabLst>
            </a:pPr>
            <a:endParaRPr b="0" lang="en-US" sz="2400" spc="-1" strike="noStrike">
              <a:solidFill>
                <a:schemeClr val="dk1"/>
              </a:solidFill>
              <a:latin typeface="Open Sans Condensed"/>
            </a:endParaRPr>
          </a:p>
          <a:p>
            <a:pPr indent="0" defTabSz="914400">
              <a:lnSpc>
                <a:spcPct val="100000"/>
              </a:lnSpc>
              <a:buNone/>
              <a:tabLst>
                <a:tab algn="l" pos="0"/>
              </a:tabLst>
            </a:pPr>
            <a:r>
              <a:rPr b="0" lang="en-US" sz="2400" spc="-1" strike="noStrike">
                <a:solidFill>
                  <a:schemeClr val="dk1"/>
                </a:solidFill>
                <a:latin typeface="Segoe UI"/>
              </a:rPr>
              <a:t>“</a:t>
            </a:r>
            <a:r>
              <a:rPr b="0" lang="en-US" sz="2400" spc="-1" strike="noStrike">
                <a:solidFill>
                  <a:schemeClr val="dk1"/>
                </a:solidFill>
                <a:latin typeface="Segoe UI"/>
              </a:rPr>
              <a:t>Hill-climbing algorithm”</a:t>
            </a:r>
            <a:endParaRPr b="0" lang="en-US" sz="2400" spc="-1" strike="noStrike">
              <a:solidFill>
                <a:schemeClr val="dk1"/>
              </a:solidFill>
              <a:latin typeface="Open Sans Condensed"/>
            </a:endParaRPr>
          </a:p>
          <a:p>
            <a:pPr indent="0" defTabSz="914400">
              <a:lnSpc>
                <a:spcPct val="100000"/>
              </a:lnSpc>
              <a:buNone/>
              <a:tabLst>
                <a:tab algn="l" pos="0"/>
              </a:tabLst>
            </a:pPr>
            <a:endParaRPr b="0" lang="en-US" sz="2400" spc="-1" strike="noStrike">
              <a:solidFill>
                <a:schemeClr val="dk1"/>
              </a:solidFill>
              <a:latin typeface="Open Sans Condensed"/>
            </a:endParaRPr>
          </a:p>
          <a:p>
            <a:pPr indent="0" defTabSz="914400">
              <a:lnSpc>
                <a:spcPct val="100000"/>
              </a:lnSpc>
              <a:buNone/>
              <a:tabLst>
                <a:tab algn="l" pos="0"/>
              </a:tabLst>
            </a:pPr>
            <a:r>
              <a:rPr b="0" lang="en-US" sz="2400" spc="-1" strike="noStrike">
                <a:solidFill>
                  <a:schemeClr val="dk1"/>
                </a:solidFill>
                <a:latin typeface="Segoe UI"/>
              </a:rPr>
              <a:t>Wander around under certain rules. Hope that what you eventually stop at is the best. </a:t>
            </a:r>
            <a:endParaRPr b="0" lang="en-US" sz="2400" spc="-1" strike="noStrike">
              <a:solidFill>
                <a:schemeClr val="dk1"/>
              </a:solidFill>
              <a:latin typeface="Open Sans Condensed"/>
            </a:endParaRPr>
          </a:p>
          <a:p>
            <a:pPr indent="0" defTabSz="914400">
              <a:lnSpc>
                <a:spcPct val="100000"/>
              </a:lnSpc>
              <a:buNone/>
              <a:tabLst>
                <a:tab algn="l" pos="0"/>
              </a:tabLst>
            </a:pPr>
            <a:endParaRPr b="0" lang="en-US" sz="2400" spc="-1" strike="noStrike">
              <a:solidFill>
                <a:schemeClr val="dk1"/>
              </a:solidFill>
              <a:latin typeface="Open Sans Condensed"/>
            </a:endParaRPr>
          </a:p>
          <a:p>
            <a:pPr indent="0" defTabSz="914400">
              <a:lnSpc>
                <a:spcPct val="100000"/>
              </a:lnSpc>
              <a:buNone/>
              <a:tabLst>
                <a:tab algn="l" pos="0"/>
              </a:tabLst>
            </a:pPr>
            <a:r>
              <a:rPr b="0" lang="en-US" sz="2400" spc="-1" strike="noStrike">
                <a:solidFill>
                  <a:schemeClr val="dk1"/>
                </a:solidFill>
                <a:latin typeface="Segoe UI"/>
              </a:rPr>
              <a:t>Not guaranteed to find the best tree. </a:t>
            </a:r>
            <a:endParaRPr b="0" lang="en-US" sz="2400" spc="-1" strike="noStrike">
              <a:solidFill>
                <a:schemeClr val="dk1"/>
              </a:solidFill>
              <a:latin typeface="Open Sans Condensed"/>
            </a:endParaRPr>
          </a:p>
          <a:p>
            <a:pPr indent="0" defTabSz="914400">
              <a:lnSpc>
                <a:spcPct val="100000"/>
              </a:lnSpc>
              <a:buNone/>
              <a:tabLst>
                <a:tab algn="l" pos="0"/>
              </a:tabLst>
            </a:pPr>
            <a:endParaRPr b="0" lang="en-US" sz="2400" spc="-1" strike="noStrike">
              <a:solidFill>
                <a:schemeClr val="dk1"/>
              </a:solidFill>
              <a:latin typeface="Open Sans Condensed"/>
            </a:endParaRPr>
          </a:p>
          <a:p>
            <a:pPr indent="0" defTabSz="914400">
              <a:lnSpc>
                <a:spcPct val="100000"/>
              </a:lnSpc>
              <a:buNone/>
              <a:tabLst>
                <a:tab algn="l" pos="0"/>
              </a:tabLst>
            </a:pPr>
            <a:r>
              <a:rPr b="0" lang="en-US" sz="2400" spc="-1" strike="noStrike">
                <a:solidFill>
                  <a:schemeClr val="dk1"/>
                </a:solidFill>
                <a:latin typeface="Segoe UI"/>
              </a:rPr>
              <a:t>Can be improved by lots of random starting points. </a:t>
            </a:r>
            <a:endParaRPr b="0" lang="en-US" sz="2400" spc="-1" strike="noStrike">
              <a:solidFill>
                <a:schemeClr val="dk1"/>
              </a:solidFill>
              <a:latin typeface="Open Sans Condensed"/>
            </a:endParaRPr>
          </a:p>
          <a:p>
            <a:pPr indent="0" defTabSz="914400">
              <a:lnSpc>
                <a:spcPct val="100000"/>
              </a:lnSpc>
              <a:buNone/>
              <a:tabLst>
                <a:tab algn="l" pos="0"/>
              </a:tabLst>
            </a:pPr>
            <a:endParaRPr b="0" lang="en-US" sz="2400" spc="-1" strike="noStrike">
              <a:solidFill>
                <a:schemeClr val="dk1"/>
              </a:solidFill>
              <a:latin typeface="Open Sans Condensed"/>
            </a:endParaRPr>
          </a:p>
          <a:p>
            <a:pPr indent="0" defTabSz="914400">
              <a:lnSpc>
                <a:spcPct val="100000"/>
              </a:lnSpc>
              <a:buNone/>
              <a:tabLst>
                <a:tab algn="l" pos="0"/>
              </a:tabLst>
            </a:pPr>
            <a:r>
              <a:rPr b="0" lang="en-US" sz="2400" spc="-1" strike="noStrike">
                <a:solidFill>
                  <a:schemeClr val="dk1"/>
                </a:solidFill>
                <a:latin typeface="Segoe UI"/>
              </a:rPr>
              <a:t>(Not necessary for parsimony, exact algorithmic solution possible with a “branch and bound” search)</a:t>
            </a:r>
            <a:endParaRPr b="0" lang="en-US" sz="2400" spc="-1" strike="noStrike">
              <a:solidFill>
                <a:schemeClr val="dk1"/>
              </a:solidFill>
              <a:latin typeface="Open Sans Condensed"/>
            </a:endParaRPr>
          </a:p>
          <a:p>
            <a:pPr indent="0" defTabSz="914400">
              <a:lnSpc>
                <a:spcPct val="90000"/>
              </a:lnSpc>
              <a:spcBef>
                <a:spcPts val="1001"/>
              </a:spcBef>
              <a:buNone/>
              <a:tabLst>
                <a:tab algn="l" pos="0"/>
              </a:tabLst>
            </a:pPr>
            <a:endParaRPr b="0" lang="en-US" sz="32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Tree space</a:t>
            </a:r>
            <a:endParaRPr b="0" lang="en-US" sz="4400" spc="-1" strike="noStrike">
              <a:solidFill>
                <a:schemeClr val="dk1"/>
              </a:solidFill>
              <a:latin typeface="Calibri"/>
            </a:endParaRPr>
          </a:p>
        </p:txBody>
      </p:sp>
      <p:sp>
        <p:nvSpPr>
          <p:cNvPr id="168" name="PlaceHolder 2"/>
          <p:cNvSpPr>
            <a:spLocks noGrp="1"/>
          </p:cNvSpPr>
          <p:nvPr>
            <p:ph/>
          </p:nvPr>
        </p:nvSpPr>
        <p:spPr>
          <a:xfrm>
            <a:off x="628560" y="1724040"/>
            <a:ext cx="3578400" cy="4452480"/>
          </a:xfrm>
          <a:prstGeom prst="rect">
            <a:avLst/>
          </a:prstGeom>
          <a:noFill/>
          <a:ln w="0">
            <a:noFill/>
          </a:ln>
        </p:spPr>
        <p:txBody>
          <a:bodyPr lIns="91440" rIns="91440" tIns="45720" bIns="45720" anchor="t">
            <a:normAutofit fontScale="59272"/>
          </a:bodyPr>
          <a:p>
            <a:pPr indent="0" defTabSz="914400">
              <a:lnSpc>
                <a:spcPct val="100000"/>
              </a:lnSpc>
              <a:buNone/>
              <a:tabLst>
                <a:tab algn="l" pos="0"/>
              </a:tabLst>
            </a:pPr>
            <a:r>
              <a:rPr b="0" lang="en-US" sz="3200" spc="-1" strike="noStrike">
                <a:solidFill>
                  <a:schemeClr val="dk1"/>
                </a:solidFill>
                <a:latin typeface="Segoe UI"/>
              </a:rPr>
              <a:t>Each point on the grid is a possible tree. </a:t>
            </a:r>
            <a:endParaRPr b="0" lang="en-US" sz="3200" spc="-1" strike="noStrike">
              <a:solidFill>
                <a:schemeClr val="dk1"/>
              </a:solidFill>
              <a:latin typeface="Open Sans Condensed"/>
            </a:endParaRPr>
          </a:p>
          <a:p>
            <a:pPr indent="0" defTabSz="914400">
              <a:lnSpc>
                <a:spcPct val="100000"/>
              </a:lnSpc>
              <a:buNone/>
              <a:tabLst>
                <a:tab algn="l" pos="0"/>
              </a:tabLst>
            </a:pPr>
            <a:endParaRPr b="0" lang="en-US" sz="3200" spc="-1" strike="noStrike">
              <a:solidFill>
                <a:schemeClr val="dk1"/>
              </a:solidFill>
              <a:latin typeface="Open Sans Condensed"/>
            </a:endParaRPr>
          </a:p>
          <a:p>
            <a:pPr indent="0" defTabSz="914400">
              <a:lnSpc>
                <a:spcPct val="100000"/>
              </a:lnSpc>
              <a:buNone/>
              <a:tabLst>
                <a:tab algn="l" pos="0"/>
              </a:tabLst>
            </a:pPr>
            <a:r>
              <a:rPr b="0" lang="en-US" sz="3200" spc="-1" strike="noStrike">
                <a:solidFill>
                  <a:schemeClr val="dk1"/>
                </a:solidFill>
                <a:latin typeface="Segoe UI"/>
              </a:rPr>
              <a:t>Trees next to each other are “1 step away” via algorithmic manipulation</a:t>
            </a:r>
            <a:endParaRPr b="0" lang="en-US" sz="3200" spc="-1" strike="noStrike">
              <a:solidFill>
                <a:schemeClr val="dk1"/>
              </a:solidFill>
              <a:latin typeface="Open Sans Condensed"/>
            </a:endParaRPr>
          </a:p>
          <a:p>
            <a:pPr indent="0" defTabSz="914400">
              <a:lnSpc>
                <a:spcPct val="100000"/>
              </a:lnSpc>
              <a:buNone/>
              <a:tabLst>
                <a:tab algn="l" pos="0"/>
              </a:tabLst>
            </a:pPr>
            <a:endParaRPr b="0" lang="en-US" sz="3200" spc="-1" strike="noStrike">
              <a:solidFill>
                <a:schemeClr val="dk1"/>
              </a:solidFill>
              <a:latin typeface="Open Sans Condensed"/>
            </a:endParaRPr>
          </a:p>
          <a:p>
            <a:pPr indent="0" defTabSz="914400">
              <a:lnSpc>
                <a:spcPct val="100000"/>
              </a:lnSpc>
              <a:buNone/>
              <a:tabLst>
                <a:tab algn="l" pos="0"/>
              </a:tabLst>
            </a:pPr>
            <a:r>
              <a:rPr b="0" lang="en-US" sz="3200" spc="-1" strike="noStrike">
                <a:solidFill>
                  <a:schemeClr val="dk1"/>
                </a:solidFill>
                <a:latin typeface="Segoe UI"/>
              </a:rPr>
              <a:t>Start at a random tree. </a:t>
            </a:r>
            <a:endParaRPr b="0" lang="en-US" sz="3200" spc="-1" strike="noStrike">
              <a:solidFill>
                <a:schemeClr val="dk1"/>
              </a:solidFill>
              <a:latin typeface="Open Sans Condensed"/>
            </a:endParaRPr>
          </a:p>
          <a:p>
            <a:pPr indent="0" defTabSz="914400">
              <a:lnSpc>
                <a:spcPct val="100000"/>
              </a:lnSpc>
              <a:buNone/>
              <a:tabLst>
                <a:tab algn="l" pos="0"/>
              </a:tabLst>
            </a:pPr>
            <a:endParaRPr b="0" lang="en-US" sz="3200" spc="-1" strike="noStrike">
              <a:solidFill>
                <a:schemeClr val="dk1"/>
              </a:solidFill>
              <a:latin typeface="Open Sans Condensed"/>
            </a:endParaRPr>
          </a:p>
          <a:p>
            <a:pPr indent="0" defTabSz="914400">
              <a:lnSpc>
                <a:spcPct val="100000"/>
              </a:lnSpc>
              <a:buNone/>
              <a:tabLst>
                <a:tab algn="l" pos="0"/>
              </a:tabLst>
            </a:pPr>
            <a:r>
              <a:rPr b="0" lang="en-US" sz="3200" spc="-1" strike="noStrike">
                <a:solidFill>
                  <a:schemeClr val="dk1"/>
                </a:solidFill>
                <a:latin typeface="Segoe UI"/>
              </a:rPr>
              <a:t>Try all trees that are nearby, choose the one that’s best</a:t>
            </a:r>
            <a:endParaRPr b="0" lang="en-US" sz="3200" spc="-1" strike="noStrike">
              <a:solidFill>
                <a:schemeClr val="dk1"/>
              </a:solidFill>
              <a:latin typeface="Open Sans Condensed"/>
            </a:endParaRPr>
          </a:p>
          <a:p>
            <a:pPr indent="0" defTabSz="914400">
              <a:lnSpc>
                <a:spcPct val="100000"/>
              </a:lnSpc>
              <a:buNone/>
              <a:tabLst>
                <a:tab algn="l" pos="0"/>
              </a:tabLst>
            </a:pPr>
            <a:endParaRPr b="0" lang="en-US" sz="3200" spc="-1" strike="noStrike">
              <a:solidFill>
                <a:schemeClr val="dk1"/>
              </a:solidFill>
              <a:latin typeface="Open Sans Condensed"/>
            </a:endParaRPr>
          </a:p>
          <a:p>
            <a:pPr indent="0" defTabSz="914400">
              <a:lnSpc>
                <a:spcPct val="100000"/>
              </a:lnSpc>
              <a:buNone/>
              <a:tabLst>
                <a:tab algn="l" pos="0"/>
              </a:tabLst>
            </a:pPr>
            <a:r>
              <a:rPr b="0" lang="en-US" sz="3200" spc="-1" strike="noStrike">
                <a:solidFill>
                  <a:schemeClr val="dk1"/>
                </a:solidFill>
                <a:latin typeface="Segoe UI"/>
              </a:rPr>
              <a:t>Keep doing that until you can’t make the tree any better. </a:t>
            </a:r>
            <a:endParaRPr b="0" lang="en-US" sz="3200" spc="-1" strike="noStrike">
              <a:solidFill>
                <a:schemeClr val="dk1"/>
              </a:solidFill>
              <a:latin typeface="Open Sans Condensed"/>
            </a:endParaRPr>
          </a:p>
          <a:p>
            <a:pPr indent="0" defTabSz="914400">
              <a:lnSpc>
                <a:spcPct val="90000"/>
              </a:lnSpc>
              <a:spcBef>
                <a:spcPts val="1001"/>
              </a:spcBef>
              <a:buNone/>
              <a:tabLst>
                <a:tab algn="l" pos="0"/>
              </a:tabLst>
            </a:pPr>
            <a:endParaRPr b="0" lang="en-US" sz="4400" spc="-1" strike="noStrike">
              <a:solidFill>
                <a:schemeClr val="dk1"/>
              </a:solidFill>
              <a:latin typeface="Open Sans Condensed"/>
            </a:endParaRPr>
          </a:p>
        </p:txBody>
      </p:sp>
      <p:pic>
        <p:nvPicPr>
          <p:cNvPr id="169" name="Picture 4" descr="Figure 4.1 from Felsenstein's Inferring Phylogenies, showing a heuristic search on a surface rising above a two-dimensional plane. The process of climing uphill on the surface is illustrated, as well as a failure to find the highest peak by a &quot;greedy&quot; method. The global maximum is in a narrower region of the surface than the local peak, where the algorithm ends up. "/>
          <p:cNvPicPr/>
          <p:nvPr/>
        </p:nvPicPr>
        <p:blipFill>
          <a:blip r:embed="rId1"/>
          <a:stretch/>
        </p:blipFill>
        <p:spPr>
          <a:xfrm>
            <a:off x="4233240" y="453240"/>
            <a:ext cx="4627440" cy="339048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47240" y="365040"/>
            <a:ext cx="2929320" cy="1337400"/>
          </a:xfrm>
          <a:prstGeom prst="rect">
            <a:avLst/>
          </a:prstGeom>
          <a:noFill/>
          <a:ln w="0">
            <a:noFill/>
          </a:ln>
        </p:spPr>
        <p:txBody>
          <a:bodyPr lIns="91440" rIns="91440" tIns="45720" bIns="45720" anchor="ctr">
            <a:normAutofit/>
          </a:bodyPr>
          <a:p>
            <a:pPr indent="0" defTabSz="914400">
              <a:lnSpc>
                <a:spcPct val="90000"/>
              </a:lnSpc>
              <a:buNone/>
            </a:pPr>
            <a:r>
              <a:rPr b="0" lang="en-US" sz="4400" spc="-1" strike="noStrike">
                <a:solidFill>
                  <a:schemeClr val="dk1"/>
                </a:solidFill>
                <a:latin typeface="Arial"/>
              </a:rPr>
              <a:t>Visualizing tree space</a:t>
            </a:r>
            <a:endParaRPr b="0" lang="en-US" sz="4400" spc="-1" strike="noStrike">
              <a:solidFill>
                <a:schemeClr val="dk1"/>
              </a:solidFill>
              <a:latin typeface="Calibri"/>
            </a:endParaRPr>
          </a:p>
        </p:txBody>
      </p:sp>
      <p:pic>
        <p:nvPicPr>
          <p:cNvPr id="171" name="Content Placeholder 3" descr="Figure 4.3 from Felsenstein. 15 possible unrooted trees for 5 taxa connected by nearest neighbor interchange &quot;moves&quot;. The overall shape resembles a double flowered rose."/>
          <p:cNvPicPr/>
          <p:nvPr/>
        </p:nvPicPr>
        <p:blipFill>
          <a:blip r:embed="rId1"/>
          <a:stretch/>
        </p:blipFill>
        <p:spPr>
          <a:xfrm>
            <a:off x="2856240" y="232920"/>
            <a:ext cx="6421320" cy="639144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20880" y="1038960"/>
            <a:ext cx="2833200" cy="1337400"/>
          </a:xfrm>
          <a:prstGeom prst="rect">
            <a:avLst/>
          </a:prstGeom>
          <a:noFill/>
          <a:ln w="0">
            <a:noFill/>
          </a:ln>
        </p:spPr>
        <p:txBody>
          <a:bodyPr lIns="91440" rIns="91440" tIns="45720" bIns="45720" anchor="ctr">
            <a:normAutofit fontScale="68418"/>
          </a:bodyPr>
          <a:p>
            <a:pPr indent="0" defTabSz="914400">
              <a:lnSpc>
                <a:spcPct val="90000"/>
              </a:lnSpc>
              <a:buNone/>
            </a:pPr>
            <a:r>
              <a:rPr b="0" lang="en-US" sz="4400" spc="-1" strike="noStrike">
                <a:solidFill>
                  <a:schemeClr val="dk1"/>
                </a:solidFill>
                <a:latin typeface="Arial"/>
              </a:rPr>
              <a:t>Finding the shortest tree in treespace</a:t>
            </a:r>
            <a:endParaRPr b="0" lang="en-US" sz="4400" spc="-1" strike="noStrike">
              <a:solidFill>
                <a:schemeClr val="dk1"/>
              </a:solidFill>
              <a:latin typeface="Calibri"/>
            </a:endParaRPr>
          </a:p>
        </p:txBody>
      </p:sp>
      <p:pic>
        <p:nvPicPr>
          <p:cNvPr id="173" name="Content Placeholder 3" descr="The same tree space, but with depictions of the trees relabeled with their parsimony counts, ranging from 8 to 11. Only one tree (the most parsimonious tree) has a count of 8, while many trees have counts of 9, 10, and 11. "/>
          <p:cNvPicPr/>
          <p:nvPr/>
        </p:nvPicPr>
        <p:blipFill>
          <a:blip r:embed="rId1"/>
          <a:stretch/>
        </p:blipFill>
        <p:spPr>
          <a:xfrm>
            <a:off x="2830680" y="534240"/>
            <a:ext cx="6308280" cy="630720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720" y="240840"/>
            <a:ext cx="6412680" cy="993960"/>
          </a:xfrm>
          <a:prstGeom prst="rect">
            <a:avLst/>
          </a:prstGeom>
          <a:noFill/>
          <a:ln w="0">
            <a:noFill/>
          </a:ln>
        </p:spPr>
        <p:txBody>
          <a:bodyPr lIns="91440" rIns="91440" tIns="45720" bIns="45720" anchor="ctr">
            <a:normAutofit fontScale="74783"/>
          </a:bodyPr>
          <a:p>
            <a:pPr indent="0" algn="ctr" defTabSz="914400">
              <a:lnSpc>
                <a:spcPct val="90000"/>
              </a:lnSpc>
              <a:buNone/>
            </a:pPr>
            <a:r>
              <a:rPr b="0" lang="x-none" sz="4400" spc="-1" strike="noStrike">
                <a:solidFill>
                  <a:schemeClr val="dk1"/>
                </a:solidFill>
                <a:latin typeface="Arial"/>
              </a:rPr>
              <a:t>Tree space connectivity is defined by "moves"</a:t>
            </a:r>
            <a:endParaRPr b="0" lang="en-US" sz="4400" spc="-1" strike="noStrike">
              <a:solidFill>
                <a:schemeClr val="dk1"/>
              </a:solidFill>
              <a:latin typeface="Calibri"/>
            </a:endParaRPr>
          </a:p>
        </p:txBody>
      </p:sp>
      <p:grpSp>
        <p:nvGrpSpPr>
          <p:cNvPr id="175" name="Group 2"/>
          <p:cNvGrpSpPr/>
          <p:nvPr/>
        </p:nvGrpSpPr>
        <p:grpSpPr>
          <a:xfrm>
            <a:off x="950040" y="1651320"/>
            <a:ext cx="3489120" cy="1685880"/>
            <a:chOff x="950040" y="1651320"/>
            <a:chExt cx="3489120" cy="1685880"/>
          </a:xfrm>
        </p:grpSpPr>
        <p:pic>
          <p:nvPicPr>
            <p:cNvPr id="176" name="Picture 3" descr=""/>
            <p:cNvPicPr/>
            <p:nvPr/>
          </p:nvPicPr>
          <p:blipFill>
            <a:blip r:embed="rId1"/>
            <a:stretch/>
          </p:blipFill>
          <p:spPr>
            <a:xfrm>
              <a:off x="950040" y="1651320"/>
              <a:ext cx="3489120" cy="1141560"/>
            </a:xfrm>
            <a:prstGeom prst="rect">
              <a:avLst/>
            </a:prstGeom>
            <a:ln w="0">
              <a:noFill/>
            </a:ln>
          </p:spPr>
        </p:pic>
        <p:sp>
          <p:nvSpPr>
            <p:cNvPr id="177" name="Title 1"/>
            <p:cNvSpPr/>
            <p:nvPr/>
          </p:nvSpPr>
          <p:spPr>
            <a:xfrm>
              <a:off x="1669680" y="2806920"/>
              <a:ext cx="2392200" cy="530280"/>
            </a:xfrm>
            <a:prstGeom prst="rect">
              <a:avLst/>
            </a:prstGeom>
            <a:noFill/>
            <a:ln w="0">
              <a:noFill/>
            </a:ln>
          </p:spPr>
          <p:style>
            <a:lnRef idx="0"/>
            <a:fillRef idx="0"/>
            <a:effectRef idx="0"/>
            <a:fontRef idx="minor"/>
          </p:style>
          <p:txBody>
            <a:bodyPr lIns="68760" rIns="68760" tIns="34200" bIns="34200" anchor="ctr">
              <a:normAutofit fontScale="56111" lnSpcReduction="10000"/>
            </a:bodyPr>
            <a:p>
              <a:pPr algn="ctr" defTabSz="914400">
                <a:lnSpc>
                  <a:spcPct val="90000"/>
                </a:lnSpc>
              </a:pPr>
              <a:r>
                <a:rPr b="0" lang="x-none" sz="3300" spc="-1" strike="noStrike">
                  <a:solidFill>
                    <a:schemeClr val="dk1"/>
                  </a:solidFill>
                  <a:latin typeface="Arial"/>
                </a:rPr>
                <a:t>Nearest Neighbor Interchange (NNI)</a:t>
              </a:r>
              <a:endParaRPr b="0" lang="en-US" sz="3300" spc="-1" strike="noStrike">
                <a:solidFill>
                  <a:srgbClr val="000000"/>
                </a:solidFill>
                <a:latin typeface="Arial"/>
              </a:endParaRPr>
            </a:p>
          </p:txBody>
        </p:sp>
      </p:grpSp>
      <p:pic>
        <p:nvPicPr>
          <p:cNvPr id="178" name="Picture 5" descr="Break a branch, remove a subtree is depicted, where a starting tree is cut into two subtrees."/>
          <p:cNvPicPr/>
          <p:nvPr/>
        </p:nvPicPr>
        <p:blipFill>
          <a:blip r:embed="rId2"/>
          <a:stretch/>
        </p:blipFill>
        <p:spPr>
          <a:xfrm>
            <a:off x="5083560" y="1484640"/>
            <a:ext cx="2058120" cy="1925280"/>
          </a:xfrm>
          <a:prstGeom prst="rect">
            <a:avLst/>
          </a:prstGeom>
          <a:ln w="0">
            <a:noFill/>
          </a:ln>
        </p:spPr>
      </p:pic>
      <p:grpSp>
        <p:nvGrpSpPr>
          <p:cNvPr id="179" name="Group 14"/>
          <p:cNvGrpSpPr/>
          <p:nvPr/>
        </p:nvGrpSpPr>
        <p:grpSpPr>
          <a:xfrm>
            <a:off x="4897440" y="3322800"/>
            <a:ext cx="3016080" cy="2561040"/>
            <a:chOff x="4897440" y="3322800"/>
            <a:chExt cx="3016080" cy="2561040"/>
          </a:xfrm>
        </p:grpSpPr>
        <p:pic>
          <p:nvPicPr>
            <p:cNvPr id="180" name="Picture 6" descr=""/>
            <p:cNvPicPr/>
            <p:nvPr/>
          </p:nvPicPr>
          <p:blipFill>
            <a:blip r:embed="rId3"/>
            <a:stretch/>
          </p:blipFill>
          <p:spPr>
            <a:xfrm>
              <a:off x="4897440" y="3381840"/>
              <a:ext cx="1784160" cy="2005200"/>
            </a:xfrm>
            <a:prstGeom prst="rect">
              <a:avLst/>
            </a:prstGeom>
            <a:ln w="0">
              <a:noFill/>
            </a:ln>
          </p:spPr>
        </p:pic>
        <p:pic>
          <p:nvPicPr>
            <p:cNvPr id="181" name="Picture 7" descr=""/>
            <p:cNvPicPr/>
            <p:nvPr/>
          </p:nvPicPr>
          <p:blipFill>
            <a:blip r:embed="rId4"/>
            <a:stretch/>
          </p:blipFill>
          <p:spPr>
            <a:xfrm>
              <a:off x="6561720" y="3322800"/>
              <a:ext cx="1351800" cy="1823040"/>
            </a:xfrm>
            <a:prstGeom prst="rect">
              <a:avLst/>
            </a:prstGeom>
            <a:ln w="0">
              <a:noFill/>
            </a:ln>
          </p:spPr>
        </p:pic>
        <p:sp>
          <p:nvSpPr>
            <p:cNvPr id="182" name="Title 1"/>
            <p:cNvSpPr/>
            <p:nvPr/>
          </p:nvSpPr>
          <p:spPr>
            <a:xfrm>
              <a:off x="5493240" y="5353560"/>
              <a:ext cx="2392200" cy="530280"/>
            </a:xfrm>
            <a:prstGeom prst="rect">
              <a:avLst/>
            </a:prstGeom>
            <a:noFill/>
            <a:ln w="0">
              <a:noFill/>
            </a:ln>
          </p:spPr>
          <p:style>
            <a:lnRef idx="0"/>
            <a:fillRef idx="0"/>
            <a:effectRef idx="0"/>
            <a:fontRef idx="minor"/>
          </p:style>
          <p:txBody>
            <a:bodyPr lIns="68760" rIns="68760" tIns="34200" bIns="34200" anchor="ctr">
              <a:normAutofit fontScale="56111" lnSpcReduction="10000"/>
            </a:bodyPr>
            <a:p>
              <a:pPr algn="ctr" defTabSz="914400">
                <a:lnSpc>
                  <a:spcPct val="90000"/>
                </a:lnSpc>
              </a:pPr>
              <a:r>
                <a:rPr b="0" lang="x-none" sz="3300" spc="-1" strike="noStrike">
                  <a:solidFill>
                    <a:schemeClr val="dk1"/>
                  </a:solidFill>
                  <a:latin typeface="Arial"/>
                </a:rPr>
                <a:t>Subtree pruning and regrafting (SPR)</a:t>
              </a:r>
              <a:endParaRPr b="0" lang="en-US" sz="3300" spc="-1" strike="noStrike">
                <a:solidFill>
                  <a:srgbClr val="000000"/>
                </a:solidFill>
                <a:latin typeface="Arial"/>
              </a:endParaRPr>
            </a:p>
          </p:txBody>
        </p:sp>
      </p:grpSp>
      <p:grpSp>
        <p:nvGrpSpPr>
          <p:cNvPr id="183" name="Group 9"/>
          <p:cNvGrpSpPr/>
          <p:nvPr/>
        </p:nvGrpSpPr>
        <p:grpSpPr>
          <a:xfrm>
            <a:off x="1016640" y="2539080"/>
            <a:ext cx="4164120" cy="3408480"/>
            <a:chOff x="1016640" y="2539080"/>
            <a:chExt cx="4164120" cy="3408480"/>
          </a:xfrm>
        </p:grpSpPr>
        <p:sp>
          <p:nvSpPr>
            <p:cNvPr id="184" name="Left Arrow 10"/>
            <p:cNvSpPr/>
            <p:nvPr/>
          </p:nvSpPr>
          <p:spPr>
            <a:xfrm rot="19260000">
              <a:off x="3908520" y="2867760"/>
              <a:ext cx="1238760" cy="544320"/>
            </a:xfrm>
            <a:prstGeom prst="leftArrow">
              <a:avLst>
                <a:gd name="adj1" fmla="val 50000"/>
                <a:gd name="adj2" fmla="val 50000"/>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350" spc="-1" strike="noStrike">
                <a:solidFill>
                  <a:schemeClr val="lt1"/>
                </a:solidFill>
                <a:latin typeface="Calibri"/>
              </a:endParaRPr>
            </a:p>
          </p:txBody>
        </p:sp>
        <p:pic>
          <p:nvPicPr>
            <p:cNvPr id="185" name="Picture 11" descr=""/>
            <p:cNvPicPr/>
            <p:nvPr/>
          </p:nvPicPr>
          <p:blipFill>
            <a:blip r:embed="rId5"/>
            <a:stretch/>
          </p:blipFill>
          <p:spPr>
            <a:xfrm>
              <a:off x="1016640" y="3597480"/>
              <a:ext cx="1830240" cy="1648440"/>
            </a:xfrm>
            <a:prstGeom prst="rect">
              <a:avLst/>
            </a:prstGeom>
            <a:ln w="0">
              <a:noFill/>
            </a:ln>
          </p:spPr>
        </p:pic>
        <p:pic>
          <p:nvPicPr>
            <p:cNvPr id="186" name="Picture 12" descr=""/>
            <p:cNvPicPr/>
            <p:nvPr/>
          </p:nvPicPr>
          <p:blipFill>
            <a:blip r:embed="rId6"/>
            <a:stretch/>
          </p:blipFill>
          <p:spPr>
            <a:xfrm>
              <a:off x="2952360" y="3927960"/>
              <a:ext cx="1550160" cy="1945440"/>
            </a:xfrm>
            <a:prstGeom prst="rect">
              <a:avLst/>
            </a:prstGeom>
            <a:ln w="0">
              <a:noFill/>
            </a:ln>
          </p:spPr>
        </p:pic>
        <p:sp>
          <p:nvSpPr>
            <p:cNvPr id="187" name="Title 1"/>
            <p:cNvSpPr/>
            <p:nvPr/>
          </p:nvSpPr>
          <p:spPr>
            <a:xfrm>
              <a:off x="1051920" y="5417280"/>
              <a:ext cx="2392200" cy="530280"/>
            </a:xfrm>
            <a:prstGeom prst="rect">
              <a:avLst/>
            </a:prstGeom>
            <a:noFill/>
            <a:ln w="0">
              <a:noFill/>
            </a:ln>
          </p:spPr>
          <p:style>
            <a:lnRef idx="0"/>
            <a:fillRef idx="0"/>
            <a:effectRef idx="0"/>
            <a:fontRef idx="minor"/>
          </p:style>
          <p:txBody>
            <a:bodyPr lIns="68760" rIns="68760" tIns="34200" bIns="34200" anchor="ctr">
              <a:normAutofit fontScale="56111" lnSpcReduction="10000"/>
            </a:bodyPr>
            <a:p>
              <a:pPr algn="ctr" defTabSz="914400">
                <a:lnSpc>
                  <a:spcPct val="90000"/>
                </a:lnSpc>
              </a:pPr>
              <a:r>
                <a:rPr b="0" lang="x-none" sz="3300" spc="-1" strike="noStrike">
                  <a:solidFill>
                    <a:schemeClr val="dk1"/>
                  </a:solidFill>
                  <a:latin typeface="Arial"/>
                </a:rPr>
                <a:t>Tree bisection and reconnection (TBR)</a:t>
              </a:r>
              <a:endParaRPr b="0" lang="en-US" sz="33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rmAutofit fontScale="87285" lnSpcReduction="20000"/>
          </a:bodyPr>
          <a:p>
            <a:pPr indent="0" defTabSz="914400">
              <a:lnSpc>
                <a:spcPct val="90000"/>
              </a:lnSpc>
              <a:buNone/>
            </a:pPr>
            <a:r>
              <a:rPr b="0" lang="en-US" sz="4400" spc="-1" strike="noStrike">
                <a:solidFill>
                  <a:schemeClr val="dk1"/>
                </a:solidFill>
                <a:latin typeface="Open Sans Condensed"/>
              </a:rPr>
              <a:t>Distance between tree spaces changes depending on which moves you use</a:t>
            </a:r>
            <a:endParaRPr b="0" lang="en-US" sz="4400" spc="-1" strike="noStrike">
              <a:solidFill>
                <a:schemeClr val="dk1"/>
              </a:solidFill>
              <a:latin typeface="Calibri"/>
            </a:endParaRPr>
          </a:p>
        </p:txBody>
      </p:sp>
      <p:sp>
        <p:nvSpPr>
          <p:cNvPr id="189"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NNI fastest, least computationally intensive, but the largest distances between trees</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TBR slowest, most computationally intensive, but shortest distances between trees</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SPR intermediate</a:t>
            </a: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Navigating tree space</a:t>
            </a:r>
            <a:endParaRPr b="0" lang="en-US" sz="4400" spc="-1" strike="noStrike">
              <a:solidFill>
                <a:schemeClr val="dk1"/>
              </a:solidFill>
              <a:latin typeface="Calibri"/>
            </a:endParaRPr>
          </a:p>
        </p:txBody>
      </p:sp>
      <p:sp>
        <p:nvSpPr>
          <p:cNvPr id="191" name="PlaceHolder 2"/>
          <p:cNvSpPr>
            <a:spLocks noGrp="1"/>
          </p:cNvSpPr>
          <p:nvPr>
            <p:ph/>
          </p:nvPr>
        </p:nvSpPr>
        <p:spPr>
          <a:xfrm>
            <a:off x="628560" y="1937520"/>
            <a:ext cx="7886520" cy="4350960"/>
          </a:xfrm>
          <a:prstGeom prst="rect">
            <a:avLst/>
          </a:prstGeom>
          <a:noFill/>
          <a:ln w="0">
            <a:noFill/>
          </a:ln>
        </p:spPr>
        <p:txBody>
          <a:bodyPr lIns="91440" rIns="91440" tIns="45720" bIns="45720" anchor="t">
            <a:normAutofit fontScale="77839" lnSpcReduction="10000"/>
          </a:bodyPr>
          <a:p>
            <a:pPr indent="0" defTabSz="914400">
              <a:lnSpc>
                <a:spcPct val="90000"/>
              </a:lnSpc>
              <a:spcBef>
                <a:spcPts val="1001"/>
              </a:spcBef>
              <a:buNone/>
              <a:tabLst>
                <a:tab algn="l" pos="0"/>
              </a:tabLst>
            </a:pPr>
            <a:r>
              <a:rPr b="0" lang="en-US" sz="2800" spc="-1" strike="noStrike">
                <a:solidFill>
                  <a:schemeClr val="dk1"/>
                </a:solidFill>
                <a:latin typeface="Open Sans Condensed"/>
              </a:rPr>
              <a:t>Optimization/gradient descent (here ascent) is a general problem in computational analyses</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It is always a balance of speed (NNI faster than SPR faster than TBR) and how efficiently you move across tree space (TBR connects more trees than SPR which is more than NNI)</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br>
              <a:rPr sz="2800"/>
            </a:br>
            <a:r>
              <a:rPr b="0" lang="en-US" sz="2800" spc="-1" strike="noStrike">
                <a:solidFill>
                  <a:schemeClr val="dk1"/>
                </a:solidFill>
                <a:latin typeface="Open Sans Condensed"/>
              </a:rPr>
              <a:t>Unless you sample all trees, a heuristic search may not be sure you ever find the global peak.</a:t>
            </a: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endParaRPr b="0" lang="en-US" sz="2800" spc="-1" strike="noStrike">
              <a:solidFill>
                <a:schemeClr val="dk1"/>
              </a:solidFill>
              <a:latin typeface="Open Sans Condensed"/>
            </a:endParaRPr>
          </a:p>
          <a:p>
            <a:pPr indent="0" defTabSz="914400">
              <a:lnSpc>
                <a:spcPct val="90000"/>
              </a:lnSpc>
              <a:spcBef>
                <a:spcPts val="1001"/>
              </a:spcBef>
              <a:buNone/>
              <a:tabLst>
                <a:tab algn="l" pos="0"/>
              </a:tabLst>
            </a:pPr>
            <a:r>
              <a:rPr b="0" lang="en-US" sz="2800" spc="-1" strike="noStrike">
                <a:solidFill>
                  <a:schemeClr val="dk1"/>
                </a:solidFill>
                <a:latin typeface="Open Sans Condensed"/>
              </a:rPr>
              <a:t>Trying lots of different starting points can increase your confidence.</a:t>
            </a: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2" name="Content Placeholder 3" descr="A depiction of the branch and bound algorithm.   A starting tree of 3 taxa is expanded on 3 branches to 4 taxa, then to 5. Whole branches can be eliminated from the algorithm when a tree length at one level becomes higher than the descendants of another level, greatly simplifying the search and eliminating vast regions of tree space. Branch and bound guarantees the shortest tree."/>
          <p:cNvPicPr/>
          <p:nvPr/>
        </p:nvPicPr>
        <p:blipFill>
          <a:blip r:embed="rId1"/>
          <a:stretch/>
        </p:blipFill>
        <p:spPr>
          <a:xfrm>
            <a:off x="2949840" y="1225800"/>
            <a:ext cx="5867640" cy="5565600"/>
          </a:xfrm>
          <a:prstGeom prst="rect">
            <a:avLst/>
          </a:prstGeom>
          <a:ln w="0">
            <a:noFill/>
          </a:ln>
        </p:spPr>
      </p:pic>
      <p:sp>
        <p:nvSpPr>
          <p:cNvPr id="193"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Parsimony has an exact algorithm</a:t>
            </a:r>
            <a:endParaRPr b="0" lang="en-US" sz="4400" spc="-1" strike="noStrike">
              <a:solidFill>
                <a:schemeClr val="dk1"/>
              </a:solidFill>
              <a:latin typeface="Calibri"/>
            </a:endParaRPr>
          </a:p>
        </p:txBody>
      </p:sp>
      <p:sp>
        <p:nvSpPr>
          <p:cNvPr id="194" name="PlaceHolder 2"/>
          <p:cNvSpPr>
            <a:spLocks noGrp="1"/>
          </p:cNvSpPr>
          <p:nvPr>
            <p:ph/>
          </p:nvPr>
        </p:nvSpPr>
        <p:spPr>
          <a:xfrm>
            <a:off x="628560" y="1825560"/>
            <a:ext cx="7886520" cy="43509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2800" spc="-1" strike="noStrike">
                <a:solidFill>
                  <a:schemeClr val="dk1"/>
                </a:solidFill>
                <a:latin typeface="Open Sans Condensed"/>
              </a:rPr>
              <a:t>Branch and bound</a:t>
            </a:r>
            <a:endParaRPr b="0" lang="en-US" sz="2800" spc="-1" strike="noStrike">
              <a:solidFill>
                <a:schemeClr val="dk1"/>
              </a:solidFill>
              <a:latin typeface="Open Sans Condensed"/>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628560" y="365040"/>
            <a:ext cx="788652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Arial"/>
              </a:rPr>
              <a:t>Branch and bound</a:t>
            </a:r>
            <a:endParaRPr b="0" lang="en-US" sz="4400" spc="-1" strike="noStrike">
              <a:solidFill>
                <a:schemeClr val="dk1"/>
              </a:solidFill>
              <a:latin typeface="Calibri"/>
            </a:endParaRPr>
          </a:p>
        </p:txBody>
      </p:sp>
      <p:pic>
        <p:nvPicPr>
          <p:cNvPr id="196" name="Content Placeholder 3" descr="The same depiction of the branch and bound algorithm, but tree topologies replaced with tree length numbers. Dotted lines show branches that can be eliminated from the search because they are descendants of a node that is equal to or higher than the descendants of another node at the next level."/>
          <p:cNvPicPr/>
          <p:nvPr/>
        </p:nvPicPr>
        <p:blipFill>
          <a:blip r:embed="rId1"/>
          <a:stretch/>
        </p:blipFill>
        <p:spPr>
          <a:xfrm>
            <a:off x="3231360" y="1471320"/>
            <a:ext cx="5628960" cy="48708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6188</Words>
  <Paragraphs>242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2024-08-21T20:47:07Z</dcterms:created>
  <dc:creator>juyeda</dc:creator>
  <dc:description/>
  <dc:language>en-US</dc:language>
  <cp:lastModifiedBy/>
  <dcterms:modified xsi:type="dcterms:W3CDTF">2026-08-26T19:36:10Z</dcterms:modified>
  <cp:revision>1005</cp:revision>
  <dc:subject/>
  <dc:title>Macroevolution &amp; Phylogenetics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1033-11.1.0.11720</vt:lpwstr>
  </property>
  <property fmtid="{D5CDD505-2E9C-101B-9397-08002B2CF9AE}" pid="4" name="Notes">
    <vt:i4>9</vt:i4>
  </property>
  <property fmtid="{D5CDD505-2E9C-101B-9397-08002B2CF9AE}" pid="5" name="PresentationFormat">
    <vt:lpwstr>On-screen Show (4:3)</vt:lpwstr>
  </property>
  <property fmtid="{D5CDD505-2E9C-101B-9397-08002B2CF9AE}" pid="6" name="Slides">
    <vt:i4>37</vt:i4>
  </property>
</Properties>
</file>