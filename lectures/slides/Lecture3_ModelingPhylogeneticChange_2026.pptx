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475" r:id="rId2"/>
    <p:sldId id="552" r:id="rId3"/>
    <p:sldId id="545" r:id="rId4"/>
    <p:sldId id="546" r:id="rId5"/>
    <p:sldId id="540" r:id="rId6"/>
    <p:sldId id="537" r:id="rId7"/>
    <p:sldId id="538" r:id="rId8"/>
    <p:sldId id="634" r:id="rId9"/>
    <p:sldId id="541" r:id="rId10"/>
    <p:sldId id="547" r:id="rId11"/>
    <p:sldId id="548" r:id="rId12"/>
    <p:sldId id="635" r:id="rId13"/>
    <p:sldId id="609" r:id="rId14"/>
    <p:sldId id="636" r:id="rId15"/>
    <p:sldId id="637" r:id="rId16"/>
    <p:sldId id="638" r:id="rId17"/>
    <p:sldId id="639" r:id="rId18"/>
    <p:sldId id="640" r:id="rId19"/>
    <p:sldId id="641" r:id="rId20"/>
    <p:sldId id="642" r:id="rId21"/>
    <p:sldId id="643" r:id="rId22"/>
    <p:sldId id="618" r:id="rId23"/>
    <p:sldId id="644" r:id="rId24"/>
    <p:sldId id="645" r:id="rId25"/>
    <p:sldId id="646" r:id="rId26"/>
    <p:sldId id="647" r:id="rId27"/>
    <p:sldId id="648" r:id="rId28"/>
    <p:sldId id="649" r:id="rId29"/>
    <p:sldId id="627" r:id="rId30"/>
    <p:sldId id="628" r:id="rId31"/>
    <p:sldId id="650" r:id="rId32"/>
    <p:sldId id="630" r:id="rId33"/>
    <p:sldId id="631" r:id="rId34"/>
    <p:sldId id="632" r:id="rId35"/>
    <p:sldId id="651" r:id="rId36"/>
    <p:sldId id="652" r:id="rId37"/>
    <p:sldId id="653" r:id="rId38"/>
    <p:sldId id="654" r:id="rId39"/>
    <p:sldId id="655" r:id="rId40"/>
    <p:sldId id="656" r:id="rId41"/>
    <p:sldId id="385" r:id="rId42"/>
    <p:sldId id="402" r:id="rId43"/>
    <p:sldId id="403" r:id="rId44"/>
    <p:sldId id="404" r:id="rId45"/>
    <p:sldId id="406" r:id="rId46"/>
    <p:sldId id="401" r:id="rId47"/>
    <p:sldId id="657" r:id="rId48"/>
    <p:sldId id="658" r:id="rId49"/>
    <p:sldId id="659" r:id="rId50"/>
    <p:sldId id="660" r:id="rId51"/>
    <p:sldId id="661" r:id="rId52"/>
    <p:sldId id="411" r:id="rId53"/>
    <p:sldId id="417" r:id="rId54"/>
    <p:sldId id="418" r:id="rId55"/>
    <p:sldId id="419" r:id="rId56"/>
    <p:sldId id="415" r:id="rId57"/>
    <p:sldId id="420" r:id="rId58"/>
    <p:sldId id="421" r:id="rId59"/>
    <p:sldId id="416" r:id="rId60"/>
    <p:sldId id="662" r:id="rId61"/>
    <p:sldId id="663" r:id="rId62"/>
    <p:sldId id="664"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yeda" initials="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EE276-F940-8782-5E21-C3DED88F585A}" v="2551" dt="2026-08-31T20:51:41.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25.xml" Id="rId26" /><Relationship Type="http://schemas.openxmlformats.org/officeDocument/2006/relationships/slide" Target="slides/slide20.xml" Id="rId21" /><Relationship Type="http://schemas.openxmlformats.org/officeDocument/2006/relationships/slide" Target="slides/slide41.xml" Id="rId42" /><Relationship Type="http://schemas.openxmlformats.org/officeDocument/2006/relationships/slide" Target="slides/slide46.xml" Id="rId47" /><Relationship Type="http://schemas.openxmlformats.org/officeDocument/2006/relationships/slide" Target="slides/slide62.xml" Id="rId63" /><Relationship Type="http://schemas.openxmlformats.org/officeDocument/2006/relationships/theme" Target="theme/theme1.xml" Id="rId68" /><Relationship Type="http://schemas.openxmlformats.org/officeDocument/2006/relationships/slide" Target="slides/slide6.xml" Id="rId7" /><Relationship Type="http://schemas.microsoft.com/office/2015/10/relationships/revisionInfo" Target="revisionInfo.xml" Id="rId71"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28.xml" Id="rId29" /><Relationship Type="http://schemas.openxmlformats.org/officeDocument/2006/relationships/slide" Target="slides/slide10.xml" Id="rId11" /><Relationship Type="http://schemas.openxmlformats.org/officeDocument/2006/relationships/slide" Target="slides/slide23.xml" Id="rId24" /><Relationship Type="http://schemas.openxmlformats.org/officeDocument/2006/relationships/slide" Target="slides/slide31.xml" Id="rId32" /><Relationship Type="http://schemas.openxmlformats.org/officeDocument/2006/relationships/slide" Target="slides/slide36.xml" Id="rId37" /><Relationship Type="http://schemas.openxmlformats.org/officeDocument/2006/relationships/slide" Target="slides/slide39.xml" Id="rId40" /><Relationship Type="http://schemas.openxmlformats.org/officeDocument/2006/relationships/slide" Target="slides/slide44.xml" Id="rId45" /><Relationship Type="http://schemas.openxmlformats.org/officeDocument/2006/relationships/slide" Target="slides/slide52.xml" Id="rId53" /><Relationship Type="http://schemas.openxmlformats.org/officeDocument/2006/relationships/slide" Target="slides/slide57.xml" Id="rId58" /><Relationship Type="http://schemas.openxmlformats.org/officeDocument/2006/relationships/presProps" Target="presProps.xml" Id="rId66" /><Relationship Type="http://schemas.openxmlformats.org/officeDocument/2006/relationships/slide" Target="slides/slide4.xml" Id="rId5" /><Relationship Type="http://schemas.openxmlformats.org/officeDocument/2006/relationships/slide" Target="slides/slide60.xml" Id="rId61" /><Relationship Type="http://schemas.openxmlformats.org/officeDocument/2006/relationships/slide" Target="slides/slide18.xml" Id="rId19" /><Relationship Type="http://schemas.openxmlformats.org/officeDocument/2006/relationships/slide" Target="slides/slide13.xml" Id="rId14" /><Relationship Type="http://schemas.openxmlformats.org/officeDocument/2006/relationships/slide" Target="slides/slide21.xml" Id="rId22" /><Relationship Type="http://schemas.openxmlformats.org/officeDocument/2006/relationships/slide" Target="slides/slide26.xml" Id="rId27" /><Relationship Type="http://schemas.openxmlformats.org/officeDocument/2006/relationships/slide" Target="slides/slide29.xml" Id="rId30" /><Relationship Type="http://schemas.openxmlformats.org/officeDocument/2006/relationships/slide" Target="slides/slide34.xml" Id="rId35" /><Relationship Type="http://schemas.openxmlformats.org/officeDocument/2006/relationships/slide" Target="slides/slide42.xml" Id="rId43" /><Relationship Type="http://schemas.openxmlformats.org/officeDocument/2006/relationships/slide" Target="slides/slide47.xml" Id="rId48" /><Relationship Type="http://schemas.openxmlformats.org/officeDocument/2006/relationships/slide" Target="slides/slide55.xml" Id="rId56" /><Relationship Type="http://schemas.openxmlformats.org/officeDocument/2006/relationships/notesMaster" Target="notesMasters/notesMaster1.xml" Id="rId64" /><Relationship Type="http://schemas.openxmlformats.org/officeDocument/2006/relationships/tableStyles" Target="tableStyles.xml" Id="rId69" /><Relationship Type="http://schemas.openxmlformats.org/officeDocument/2006/relationships/slide" Target="slides/slide7.xml" Id="rId8" /><Relationship Type="http://schemas.openxmlformats.org/officeDocument/2006/relationships/slide" Target="slides/slide50.xml" Id="rId51" /><Relationship Type="http://schemas.openxmlformats.org/officeDocument/2006/relationships/slide" Target="slides/slide2.xml" Id="rId3"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24.xml" Id="rId25" /><Relationship Type="http://schemas.openxmlformats.org/officeDocument/2006/relationships/slide" Target="slides/slide32.xml" Id="rId33" /><Relationship Type="http://schemas.openxmlformats.org/officeDocument/2006/relationships/slide" Target="slides/slide37.xml" Id="rId38" /><Relationship Type="http://schemas.openxmlformats.org/officeDocument/2006/relationships/slide" Target="slides/slide45.xml" Id="rId46" /><Relationship Type="http://schemas.openxmlformats.org/officeDocument/2006/relationships/slide" Target="slides/slide58.xml" Id="rId59" /><Relationship Type="http://schemas.openxmlformats.org/officeDocument/2006/relationships/viewProps" Target="viewProps.xml" Id="rId67" /><Relationship Type="http://schemas.openxmlformats.org/officeDocument/2006/relationships/slide" Target="slides/slide19.xml" Id="rId20" /><Relationship Type="http://schemas.openxmlformats.org/officeDocument/2006/relationships/slide" Target="slides/slide40.xml" Id="rId41" /><Relationship Type="http://schemas.openxmlformats.org/officeDocument/2006/relationships/slide" Target="slides/slide53.xml" Id="rId54" /><Relationship Type="http://schemas.openxmlformats.org/officeDocument/2006/relationships/slide" Target="slides/slide61.xml" Id="rId62"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4.xml" Id="rId15" /><Relationship Type="http://schemas.openxmlformats.org/officeDocument/2006/relationships/slide" Target="slides/slide22.xml" Id="rId23" /><Relationship Type="http://schemas.openxmlformats.org/officeDocument/2006/relationships/slide" Target="slides/slide27.xml" Id="rId28" /><Relationship Type="http://schemas.openxmlformats.org/officeDocument/2006/relationships/slide" Target="slides/slide35.xml" Id="rId36" /><Relationship Type="http://schemas.openxmlformats.org/officeDocument/2006/relationships/slide" Target="slides/slide48.xml" Id="rId49" /><Relationship Type="http://schemas.openxmlformats.org/officeDocument/2006/relationships/slide" Target="slides/slide56.xml" Id="rId57" /><Relationship Type="http://schemas.openxmlformats.org/officeDocument/2006/relationships/slide" Target="slides/slide9.xml" Id="rId10" /><Relationship Type="http://schemas.openxmlformats.org/officeDocument/2006/relationships/slide" Target="slides/slide30.xml" Id="rId31" /><Relationship Type="http://schemas.openxmlformats.org/officeDocument/2006/relationships/slide" Target="slides/slide43.xml" Id="rId44" /><Relationship Type="http://schemas.openxmlformats.org/officeDocument/2006/relationships/slide" Target="slides/slide51.xml" Id="rId52" /><Relationship Type="http://schemas.openxmlformats.org/officeDocument/2006/relationships/slide" Target="slides/slide59.xml" Id="rId60" /><Relationship Type="http://schemas.openxmlformats.org/officeDocument/2006/relationships/commentAuthors" Target="commentAuthors.xml" Id="rId65"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38.xml" Id="rId39" /><Relationship Type="http://schemas.openxmlformats.org/officeDocument/2006/relationships/slide" Target="slides/slide33.xml" Id="rId34" /><Relationship Type="http://schemas.openxmlformats.org/officeDocument/2006/relationships/slide" Target="slides/slide49.xml" Id="rId50" /><Relationship Type="http://schemas.openxmlformats.org/officeDocument/2006/relationships/slide" Target="slides/slide54.xml" Id="rId55"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21B2AA4F-B828-4D7C-AFD3-893933DAFCB4}" type="slidenum">
              <a:rPr lang="en-US" smtClean="0"/>
              <a:t>29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2" y="1122365"/>
            <a:ext cx="6858010" cy="2387603"/>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2" y="3602043"/>
            <a:ext cx="6858010" cy="165576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934FF-F4E1-47C5-9CA5-30A81DDE2BE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12" cy="2852741"/>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70"/>
            <a:ext cx="7886712" cy="150018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1" y="1825628"/>
            <a:ext cx="3886206" cy="4351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7" y="1825628"/>
            <a:ext cx="3886206" cy="4351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934FF-F4E1-47C5-9CA5-30A81DDE2BE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6"/>
            <a:ext cx="7886712" cy="1325565"/>
          </a:xfrm>
        </p:spPr>
        <p:txBody>
          <a:bodyPr/>
          <a:lstStyle/>
          <a:p>
            <a:r>
              <a:rPr lang="en-US"/>
              <a:t>Click to edit Master title style</a:t>
            </a:r>
          </a:p>
        </p:txBody>
      </p:sp>
      <p:sp>
        <p:nvSpPr>
          <p:cNvPr id="3" name="Text Placeholder 2"/>
          <p:cNvSpPr>
            <a:spLocks noGrp="1"/>
          </p:cNvSpPr>
          <p:nvPr>
            <p:ph type="body" idx="1"/>
          </p:nvPr>
        </p:nvSpPr>
        <p:spPr>
          <a:xfrm>
            <a:off x="629842" y="1681165"/>
            <a:ext cx="3868346" cy="823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9"/>
            <a:ext cx="3868346" cy="3684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7" y="1681165"/>
            <a:ext cx="3887397" cy="823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7" y="2505079"/>
            <a:ext cx="3887397" cy="3684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934FF-F4E1-47C5-9CA5-30A81DDE2BE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1"/>
            <a:ext cx="2949182" cy="1600202"/>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7" y="987426"/>
            <a:ext cx="4629157" cy="487363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2" y="2057403"/>
            <a:ext cx="2949182" cy="38115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1"/>
            <a:ext cx="2949182" cy="1600202"/>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7" y="987426"/>
            <a:ext cx="4629157" cy="48736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2" y="2057403"/>
            <a:ext cx="2949182" cy="38115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85" y="365126"/>
            <a:ext cx="1971678" cy="581184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6"/>
            <a:ext cx="5800734" cy="581184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Shape 19"/>
          <p:cNvSpPr/>
          <p:nvPr/>
        </p:nvSpPr>
        <p:spPr>
          <a:xfrm>
            <a:off x="0" y="6727600"/>
            <a:ext cx="9144000" cy="1304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 name="Shape 20"/>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Shape 21"/>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2" name="Shape 2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365126"/>
            <a:ext cx="7886712" cy="13255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1" y="1825628"/>
            <a:ext cx="7886712" cy="43513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1" y="6356359"/>
            <a:ext cx="2057403" cy="365126"/>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t>8/31/2026</a:t>
            </a:fld>
            <a:endParaRPr lang="en-US"/>
          </a:p>
        </p:txBody>
      </p:sp>
      <p:sp>
        <p:nvSpPr>
          <p:cNvPr id="5" name="Footer Placeholder 4"/>
          <p:cNvSpPr>
            <a:spLocks noGrp="1"/>
          </p:cNvSpPr>
          <p:nvPr>
            <p:ph type="ftr" sz="quarter" idx="3"/>
          </p:nvPr>
        </p:nvSpPr>
        <p:spPr>
          <a:xfrm>
            <a:off x="3028955" y="6356359"/>
            <a:ext cx="3086105" cy="365126"/>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60" y="6356359"/>
            <a:ext cx="2057403" cy="365126"/>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Arial Black" panose="020B0A0402010202020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165" y="208557"/>
            <a:ext cx="8520600" cy="763600"/>
          </a:xfrm>
        </p:spPr>
        <p:txBody>
          <a:bodyPr>
            <a:normAutofit fontScale="90000"/>
          </a:bodyPr>
          <a:lstStyle/>
          <a:p>
            <a:r>
              <a:rPr lang="en-US" altLang="en-US">
                <a:latin typeface="Open Sans Condensed" panose="020B0806030504020204" charset="0"/>
                <a:cs typeface="Open Sans Condensed" panose="020B0806030504020204" charset="0"/>
              </a:rPr>
              <a:t>Practical considerations</a:t>
            </a:r>
            <a:br>
              <a:rPr lang="en-US" altLang="en-US">
                <a:latin typeface="Open Sans Condensed" panose="020B0806030504020204" charset="0"/>
                <a:cs typeface="Open Sans Condensed" panose="020B0806030504020204" charset="0"/>
              </a:rPr>
            </a:br>
            <a:br>
              <a:rPr lang="en-US" altLang="en-US" sz="3600">
                <a:latin typeface="Open Sans Condensed" panose="020B0806030504020204" charset="0"/>
                <a:cs typeface="Open Sans Condensed" panose="020B0806030504020204" charset="0"/>
              </a:rPr>
            </a:br>
            <a:br>
              <a:rPr lang="en-US" altLang="en-US" sz="3600">
                <a:latin typeface="Open Sans Condensed" panose="020B0806030504020204" charset="0"/>
                <a:cs typeface="Open Sans Condensed" panose="020B0806030504020204" charset="0"/>
              </a:rPr>
            </a:br>
            <a:endParaRPr lang="en-US" altLang="en-US" sz="3600">
              <a:latin typeface="Open Sans Condensed" panose="020B0806030504020204" charset="0"/>
              <a:cs typeface="Open Sans Condensed" panose="020B0806030504020204" charset="0"/>
            </a:endParaRPr>
          </a:p>
        </p:txBody>
      </p:sp>
      <p:pic>
        <p:nvPicPr>
          <p:cNvPr id="4" name="Picture 3"/>
          <p:cNvPicPr>
            <a:picLocks noChangeAspect="1"/>
          </p:cNvPicPr>
          <p:nvPr/>
        </p:nvPicPr>
        <p:blipFill>
          <a:blip r:embed="rId2"/>
          <a:stretch>
            <a:fillRect/>
          </a:stretch>
        </p:blipFill>
        <p:spPr>
          <a:xfrm>
            <a:off x="4637405" y="1134110"/>
            <a:ext cx="4419600" cy="5013325"/>
          </a:xfrm>
          <a:prstGeom prst="rect">
            <a:avLst/>
          </a:prstGeom>
        </p:spPr>
      </p:pic>
      <p:sp>
        <p:nvSpPr>
          <p:cNvPr id="3" name="Text Box 2"/>
          <p:cNvSpPr txBox="1"/>
          <p:nvPr/>
        </p:nvSpPr>
        <p:spPr>
          <a:xfrm>
            <a:off x="288290" y="1080135"/>
            <a:ext cx="4304030" cy="2584450"/>
          </a:xfrm>
          <a:prstGeom prst="rect">
            <a:avLst/>
          </a:prstGeom>
          <a:noFill/>
        </p:spPr>
        <p:txBody>
          <a:bodyPr wrap="none" rtlCol="0" anchor="t">
            <a:spAutoFit/>
          </a:bodyPr>
          <a:lstStyle/>
          <a:p>
            <a:r>
              <a:rPr lang="en-US" altLang="en-US">
                <a:latin typeface="Open Sans Condensed" panose="020B0806030504020204" charset="0"/>
                <a:cs typeface="Open Sans Condensed" panose="020B0806030504020204" charset="0"/>
                <a:sym typeface="+mn-ea"/>
              </a:rPr>
              <a:t>How do you find the most parsimonious tree?</a:t>
            </a:r>
          </a:p>
          <a:p>
            <a:endParaRPr lang="en-US" altLang="en-US">
              <a:latin typeface="Open Sans Condensed" panose="020B0806030504020204" charset="0"/>
              <a:cs typeface="Open Sans Condensed" panose="020B0806030504020204" charset="0"/>
              <a:sym typeface="+mn-ea"/>
            </a:endParaRPr>
          </a:p>
          <a:p>
            <a:r>
              <a:rPr lang="en-US" altLang="en-US">
                <a:latin typeface="Open Sans Condensed" panose="020B0806030504020204" charset="0"/>
                <a:cs typeface="Open Sans Condensed" panose="020B0806030504020204" charset="0"/>
                <a:sym typeface="+mn-ea"/>
              </a:rPr>
              <a:t>One way: </a:t>
            </a:r>
            <a:br>
              <a:rPr lang="en-US" altLang="en-US">
                <a:latin typeface="Open Sans Condensed" panose="020B0806030504020204" charset="0"/>
                <a:cs typeface="Open Sans Condensed" panose="020B0806030504020204" charset="0"/>
                <a:sym typeface="+mn-ea"/>
              </a:rPr>
            </a:br>
            <a:r>
              <a:rPr lang="en-US" altLang="en-US">
                <a:latin typeface="Open Sans Condensed" panose="020B0806030504020204" charset="0"/>
                <a:cs typeface="Open Sans Condensed" panose="020B0806030504020204" charset="0"/>
                <a:sym typeface="+mn-ea"/>
              </a:rPr>
              <a:t>1. Try every possible tree. </a:t>
            </a:r>
          </a:p>
          <a:p>
            <a:r>
              <a:rPr lang="en-US" altLang="en-US">
                <a:latin typeface="Open Sans Condensed" panose="020B0806030504020204" charset="0"/>
                <a:cs typeface="Open Sans Condensed" panose="020B0806030504020204" charset="0"/>
                <a:sym typeface="+mn-ea"/>
              </a:rPr>
              <a:t>2. For each tree, count min # of steps</a:t>
            </a:r>
            <a:br>
              <a:rPr lang="en-US" altLang="en-US">
                <a:latin typeface="Open Sans Condensed" panose="020B0806030504020204" charset="0"/>
                <a:cs typeface="Open Sans Condensed" panose="020B0806030504020204" charset="0"/>
                <a:sym typeface="+mn-ea"/>
              </a:rPr>
            </a:br>
            <a:r>
              <a:rPr lang="en-US" altLang="en-US">
                <a:latin typeface="Open Sans Condensed" panose="020B0806030504020204" charset="0"/>
                <a:cs typeface="Open Sans Condensed" panose="020B0806030504020204" charset="0"/>
                <a:sym typeface="+mn-ea"/>
              </a:rPr>
              <a:t>3. Choose the tree with the fewest # steps</a:t>
            </a:r>
          </a:p>
          <a:p>
            <a:endParaRPr lang="en-US" altLang="en-US">
              <a:latin typeface="Open Sans Condensed" panose="020B0806030504020204" charset="0"/>
              <a:cs typeface="Open Sans Condensed" panose="020B0806030504020204" charset="0"/>
              <a:sym typeface="+mn-ea"/>
            </a:endParaRPr>
          </a:p>
          <a:p>
            <a:endParaRPr lang="en-US" altLang="en-US">
              <a:latin typeface="Open Sans Condensed" panose="020B0806030504020204" charset="0"/>
              <a:cs typeface="Open Sans Condensed" panose="020B0806030504020204" charset="0"/>
              <a:sym typeface="+mn-ea"/>
            </a:endParaRPr>
          </a:p>
          <a:p>
            <a:endParaRPr lang="en-US" altLang="en-US">
              <a:latin typeface="Open Sans Condensed" panose="020B0806030504020204" charset="0"/>
              <a:cs typeface="Open Sans Condensed" panose="020B0806030504020204" charset="0"/>
              <a:sym typeface="+mn-ea"/>
            </a:endParaRPr>
          </a:p>
        </p:txBody>
      </p:sp>
      <p:sp>
        <p:nvSpPr>
          <p:cNvPr id="5" name="Text Box 4"/>
          <p:cNvSpPr txBox="1"/>
          <p:nvPr/>
        </p:nvSpPr>
        <p:spPr>
          <a:xfrm>
            <a:off x="1865630" y="4571365"/>
            <a:ext cx="1679575" cy="645160"/>
          </a:xfrm>
          <a:prstGeom prst="rect">
            <a:avLst/>
          </a:prstGeom>
          <a:noFill/>
        </p:spPr>
        <p:txBody>
          <a:bodyPr wrap="none" rtlCol="0" anchor="t">
            <a:spAutoFit/>
          </a:bodyPr>
          <a:lstStyle/>
          <a:p>
            <a:r>
              <a:rPr lang="en-US" altLang="en-US">
                <a:latin typeface="Open Sans Condensed" panose="020B0806030504020204" charset="0"/>
                <a:cs typeface="Open Sans Condensed" panose="020B0806030504020204" charset="0"/>
                <a:sym typeface="+mn-ea"/>
              </a:rPr>
              <a:t>Too many trees. </a:t>
            </a:r>
          </a:p>
          <a:p>
            <a:endParaRPr lang="en-US" altLang="en-US">
              <a:latin typeface="Open Sans Condensed" panose="020B0806030504020204" charset="0"/>
              <a:cs typeface="Open Sans Condensed" panose="020B080603050402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3FC94-E5B0-F2BE-8D1D-A98418FC4C2F}"/>
              </a:ext>
            </a:extLst>
          </p:cNvPr>
          <p:cNvSpPr>
            <a:spLocks noGrp="1"/>
          </p:cNvSpPr>
          <p:nvPr>
            <p:ph type="title"/>
          </p:nvPr>
        </p:nvSpPr>
        <p:spPr>
          <a:xfrm>
            <a:off x="311700" y="227607"/>
            <a:ext cx="8520600" cy="763600"/>
          </a:xfrm>
        </p:spPr>
        <p:txBody>
          <a:bodyPr>
            <a:normAutofit fontScale="90000"/>
          </a:bodyPr>
          <a:lstStyle/>
          <a:p>
            <a:r>
              <a:rPr lang="en-US">
                <a:latin typeface="Open Sans Condensed"/>
              </a:rPr>
              <a:t>Finding the best tree: </a:t>
            </a:r>
            <a:br>
              <a:rPr lang="en-US" dirty="0">
                <a:latin typeface="Open Sans Condensed"/>
              </a:rPr>
            </a:br>
            <a:r>
              <a:rPr lang="en-US">
                <a:latin typeface="Open Sans Condensed"/>
              </a:rPr>
              <a:t>Exhaustive searches</a:t>
            </a:r>
            <a:endParaRPr lang="en-US"/>
          </a:p>
        </p:txBody>
      </p:sp>
      <p:pic>
        <p:nvPicPr>
          <p:cNvPr id="4" name="Picture 3" descr="The increase in number of total possible trees with the number of species from Felsenstein Table 3.1. Repeated from the last lecture.">
            <a:extLst>
              <a:ext uri="{FF2B5EF4-FFF2-40B4-BE49-F238E27FC236}">
                <a16:creationId xmlns:a16="http://schemas.microsoft.com/office/drawing/2014/main" id="{55D1CD30-A7FF-0FBD-1E59-89AFF40ACA33}"/>
              </a:ext>
            </a:extLst>
          </p:cNvPr>
          <p:cNvPicPr>
            <a:picLocks noChangeAspect="1"/>
          </p:cNvPicPr>
          <p:nvPr/>
        </p:nvPicPr>
        <p:blipFill>
          <a:blip r:embed="rId2"/>
          <a:stretch>
            <a:fillRect/>
          </a:stretch>
        </p:blipFill>
        <p:spPr>
          <a:xfrm>
            <a:off x="4728845" y="1713230"/>
            <a:ext cx="4419600" cy="5013325"/>
          </a:xfrm>
          <a:prstGeom prst="rect">
            <a:avLst/>
          </a:prstGeom>
        </p:spPr>
      </p:pic>
      <p:sp>
        <p:nvSpPr>
          <p:cNvPr id="5" name="Text Box 2">
            <a:extLst>
              <a:ext uri="{FF2B5EF4-FFF2-40B4-BE49-F238E27FC236}">
                <a16:creationId xmlns:a16="http://schemas.microsoft.com/office/drawing/2014/main" id="{BD980D5C-7F98-76F2-DF51-CD1EFD48BBE5}"/>
              </a:ext>
            </a:extLst>
          </p:cNvPr>
          <p:cNvSpPr txBox="1"/>
          <p:nvPr/>
        </p:nvSpPr>
        <p:spPr>
          <a:xfrm>
            <a:off x="308610" y="1710055"/>
            <a:ext cx="4517390" cy="34778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2000">
                <a:latin typeface="Open Sans Condensed"/>
                <a:cs typeface="Open Sans Condensed" panose="020B0806030504020204" charset="0"/>
                <a:sym typeface="+mn-ea"/>
              </a:rPr>
              <a:t>How do you find the most parsimonious tree?</a:t>
            </a:r>
          </a:p>
          <a:p>
            <a:endParaRPr lang="en-US" altLang="en-US" sz="2000">
              <a:latin typeface="Open Sans Condensed" panose="020B0806030504020204" charset="0"/>
              <a:cs typeface="Open Sans Condensed" panose="020B0806030504020204" charset="0"/>
              <a:sym typeface="+mn-ea"/>
            </a:endParaRPr>
          </a:p>
          <a:p>
            <a:r>
              <a:rPr lang="en-US" altLang="en-US" sz="2000">
                <a:latin typeface="Open Sans Condensed"/>
                <a:cs typeface="Open Sans Condensed" panose="020B0806030504020204" charset="0"/>
                <a:sym typeface="+mn-ea"/>
              </a:rPr>
              <a:t>One way: </a:t>
            </a:r>
            <a:br>
              <a:rPr lang="en-US" altLang="en-US" sz="2000" dirty="0">
                <a:latin typeface="Open Sans Condensed" panose="020B0806030504020204" charset="0"/>
                <a:cs typeface="Open Sans Condensed" panose="020B0806030504020204" charset="0"/>
              </a:rPr>
            </a:br>
            <a:r>
              <a:rPr lang="en-US" altLang="en-US" sz="2000">
                <a:latin typeface="Open Sans Condensed"/>
                <a:cs typeface="Open Sans Condensed" panose="020B0806030504020204" charset="0"/>
                <a:sym typeface="+mn-ea"/>
              </a:rPr>
              <a:t>1. Try every possible tree. </a:t>
            </a:r>
            <a:endParaRPr lang="en-US" altLang="en-US" sz="2000">
              <a:latin typeface="Open Sans Condensed"/>
              <a:cs typeface="Open Sans Condensed" panose="020B0806030504020204" charset="0"/>
            </a:endParaRPr>
          </a:p>
          <a:p>
            <a:r>
              <a:rPr lang="en-US" altLang="en-US" sz="2000">
                <a:latin typeface="Open Sans Condensed"/>
                <a:cs typeface="Open Sans Condensed" panose="020B0806030504020204" charset="0"/>
                <a:sym typeface="+mn-ea"/>
              </a:rPr>
              <a:t>2. For each tree, count min # of steps</a:t>
            </a:r>
            <a:br>
              <a:rPr lang="en-US" altLang="en-US" sz="2000" dirty="0">
                <a:latin typeface="Open Sans Condensed" panose="020B0806030504020204" charset="0"/>
                <a:cs typeface="Open Sans Condensed" panose="020B0806030504020204" charset="0"/>
              </a:rPr>
            </a:br>
            <a:r>
              <a:rPr lang="en-US" altLang="en-US" sz="2000">
                <a:latin typeface="Open Sans Condensed"/>
                <a:cs typeface="Open Sans Condensed" panose="020B0806030504020204" charset="0"/>
                <a:sym typeface="+mn-ea"/>
              </a:rPr>
              <a:t>3. Choose the tree with the fewest # steps</a:t>
            </a:r>
            <a:endParaRPr lang="en-US" altLang="en-US" sz="2000">
              <a:latin typeface="Open Sans Condensed"/>
              <a:cs typeface="Open Sans Condensed" panose="020B0806030504020204" charset="0"/>
            </a:endParaRPr>
          </a:p>
          <a:p>
            <a:endParaRPr lang="en-US" altLang="en-US" sz="2000">
              <a:latin typeface="Open Sans Condensed" panose="020B0806030504020204" charset="0"/>
              <a:cs typeface="Open Sans Condensed" panose="020B0806030504020204" charset="0"/>
              <a:sym typeface="+mn-ea"/>
            </a:endParaRPr>
          </a:p>
          <a:p>
            <a:endParaRPr lang="en-US" altLang="en-US" sz="2000">
              <a:latin typeface="Open Sans Condensed" panose="020B0806030504020204" charset="0"/>
              <a:cs typeface="Open Sans Condensed" panose="020B0806030504020204" charset="0"/>
              <a:sym typeface="+mn-ea"/>
            </a:endParaRPr>
          </a:p>
          <a:p>
            <a:endParaRPr lang="en-US" altLang="en-US" sz="2000">
              <a:latin typeface="Open Sans Condensed" panose="020B0806030504020204" charset="0"/>
              <a:cs typeface="Open Sans Condensed" panose="020B0806030504020204" charset="0"/>
              <a:sym typeface="+mn-ea"/>
            </a:endParaRPr>
          </a:p>
        </p:txBody>
      </p:sp>
      <p:sp>
        <p:nvSpPr>
          <p:cNvPr id="6" name="Text Box 4">
            <a:extLst>
              <a:ext uri="{FF2B5EF4-FFF2-40B4-BE49-F238E27FC236}">
                <a16:creationId xmlns:a16="http://schemas.microsoft.com/office/drawing/2014/main" id="{1E990261-CBA1-5BD9-D923-7399AF0BB391}"/>
              </a:ext>
            </a:extLst>
          </p:cNvPr>
          <p:cNvSpPr txBox="1"/>
          <p:nvPr/>
        </p:nvSpPr>
        <p:spPr>
          <a:xfrm>
            <a:off x="1520190" y="5323205"/>
            <a:ext cx="2765437" cy="954107"/>
          </a:xfrm>
          <a:prstGeom prst="rect">
            <a:avLst/>
          </a:prstGeom>
          <a:noFill/>
        </p:spPr>
        <p:txBody>
          <a:bodyPr wrap="none"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2800">
                <a:latin typeface="Open Sans Condensed" panose="020B0806030504020204" charset="0"/>
                <a:cs typeface="Open Sans Condensed" panose="020B0806030504020204" charset="0"/>
                <a:sym typeface="+mn-ea"/>
              </a:rPr>
              <a:t>Too many trees. </a:t>
            </a:r>
          </a:p>
          <a:p>
            <a:endParaRPr lang="en-US" altLang="en-US" sz="2800">
              <a:latin typeface="Open Sans Condensed" panose="020B0806030504020204" charset="0"/>
              <a:cs typeface="Open Sans Condensed" panose="020B0806030504020204" charset="0"/>
              <a:sym typeface="+mn-ea"/>
            </a:endParaRPr>
          </a:p>
        </p:txBody>
      </p:sp>
    </p:spTree>
    <p:extLst>
      <p:ext uri="{BB962C8B-B14F-4D97-AF65-F5344CB8AC3E}">
        <p14:creationId xmlns:p14="http://schemas.microsoft.com/office/powerpoint/2010/main" val="292205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4.1 from Felsenstein's Inferring Phylogenies, showing a heuristic search on a surface rising above a two-dimensional plane. The process of climing uphill on the surface is illustrated, as well as a failure to find the highest peak by a &quot;greedy&quot; method. The global maximum is in a narrower region of the surface than the local peak, where the algorithm ends up. ">
            <a:extLst>
              <a:ext uri="{FF2B5EF4-FFF2-40B4-BE49-F238E27FC236}">
                <a16:creationId xmlns:a16="http://schemas.microsoft.com/office/drawing/2014/main" id="{227B6826-85A7-3EF2-B8CF-FF87E3634435}"/>
              </a:ext>
            </a:extLst>
          </p:cNvPr>
          <p:cNvPicPr>
            <a:picLocks noChangeAspect="1"/>
          </p:cNvPicPr>
          <p:nvPr/>
        </p:nvPicPr>
        <p:blipFill>
          <a:blip r:embed="rId2"/>
          <a:stretch>
            <a:fillRect/>
          </a:stretch>
        </p:blipFill>
        <p:spPr>
          <a:xfrm>
            <a:off x="4324509" y="2932271"/>
            <a:ext cx="4627880" cy="3390900"/>
          </a:xfrm>
          <a:prstGeom prst="rect">
            <a:avLst/>
          </a:prstGeom>
        </p:spPr>
      </p:pic>
      <p:sp>
        <p:nvSpPr>
          <p:cNvPr id="2" name="Title 1">
            <a:extLst>
              <a:ext uri="{FF2B5EF4-FFF2-40B4-BE49-F238E27FC236}">
                <a16:creationId xmlns:a16="http://schemas.microsoft.com/office/drawing/2014/main" id="{845A7428-CC4B-9E23-D671-ACFEF7A8458D}"/>
              </a:ext>
            </a:extLst>
          </p:cNvPr>
          <p:cNvSpPr>
            <a:spLocks noGrp="1"/>
          </p:cNvSpPr>
          <p:nvPr>
            <p:ph type="title"/>
          </p:nvPr>
        </p:nvSpPr>
        <p:spPr>
          <a:xfrm>
            <a:off x="-1269" y="-634"/>
            <a:ext cx="7886712" cy="1325565"/>
          </a:xfrm>
        </p:spPr>
        <p:txBody>
          <a:bodyPr/>
          <a:lstStyle/>
          <a:p>
            <a:r>
              <a:rPr lang="x-none" sz="5400">
                <a:cs typeface="Arial"/>
              </a:rPr>
              <a:t>Heuristic searches</a:t>
            </a:r>
            <a:endParaRPr lang="en-US" sz="5400">
              <a:cs typeface="Arial"/>
            </a:endParaRPr>
          </a:p>
        </p:txBody>
      </p:sp>
      <p:sp>
        <p:nvSpPr>
          <p:cNvPr id="3" name="Content Placeholder 2">
            <a:extLst>
              <a:ext uri="{FF2B5EF4-FFF2-40B4-BE49-F238E27FC236}">
                <a16:creationId xmlns:a16="http://schemas.microsoft.com/office/drawing/2014/main" id="{17A405E7-96A5-5DE3-3BB7-D495A472619B}"/>
              </a:ext>
            </a:extLst>
          </p:cNvPr>
          <p:cNvSpPr>
            <a:spLocks noGrp="1"/>
          </p:cNvSpPr>
          <p:nvPr>
            <p:ph idx="1"/>
          </p:nvPr>
        </p:nvSpPr>
        <p:spPr>
          <a:xfrm>
            <a:off x="130811" y="1500508"/>
            <a:ext cx="4320552" cy="4351344"/>
          </a:xfrm>
        </p:spPr>
        <p:txBody>
          <a:bodyPr vert="horz" lIns="91440" tIns="45720" rIns="91440" bIns="45720" rtlCol="0" anchor="t">
            <a:normAutofit fontScale="85000" lnSpcReduction="20000"/>
          </a:bodyPr>
          <a:lstStyle/>
          <a:p>
            <a:pPr marL="0" indent="0">
              <a:lnSpc>
                <a:spcPct val="100000"/>
              </a:lnSpc>
              <a:spcBef>
                <a:spcPts val="0"/>
              </a:spcBef>
              <a:buNone/>
            </a:pPr>
            <a:r>
              <a:rPr lang="en-US" sz="2400">
                <a:latin typeface="Segoe UI"/>
                <a:cs typeface="Segoe UI"/>
              </a:rPr>
              <a:t>Don’t try every tree. </a:t>
            </a:r>
            <a:endParaRPr lang="en-US" sz="2400" dirty="0">
              <a:latin typeface="Segoe UI"/>
              <a:cs typeface="Segoe UI"/>
            </a:endParaRPr>
          </a:p>
          <a:p>
            <a:pPr marL="0" indent="0">
              <a:lnSpc>
                <a:spcPct val="100000"/>
              </a:lnSpc>
              <a:spcBef>
                <a:spcPts val="0"/>
              </a:spcBef>
              <a:buNone/>
            </a:pPr>
            <a:endParaRPr lang="en-US" sz="2400" dirty="0">
              <a:latin typeface="Segoe UI"/>
              <a:cs typeface="Segoe UI"/>
            </a:endParaRPr>
          </a:p>
          <a:p>
            <a:pPr marL="0" indent="0">
              <a:lnSpc>
                <a:spcPct val="100000"/>
              </a:lnSpc>
              <a:spcBef>
                <a:spcPts val="0"/>
              </a:spcBef>
              <a:buNone/>
            </a:pPr>
            <a:r>
              <a:rPr lang="en-US" sz="2400">
                <a:latin typeface="Segoe UI"/>
                <a:cs typeface="Segoe UI"/>
              </a:rPr>
              <a:t>“Hill-climbing algorithm”</a:t>
            </a:r>
            <a:endParaRPr lang="en-US" sz="2400" dirty="0">
              <a:latin typeface="Segoe UI"/>
              <a:cs typeface="Segoe UI"/>
            </a:endParaRPr>
          </a:p>
          <a:p>
            <a:pPr marL="0" indent="0">
              <a:lnSpc>
                <a:spcPct val="100000"/>
              </a:lnSpc>
              <a:spcBef>
                <a:spcPts val="0"/>
              </a:spcBef>
              <a:buNone/>
            </a:pPr>
            <a:endParaRPr lang="en-US" sz="2400" dirty="0">
              <a:latin typeface="Segoe UI"/>
              <a:cs typeface="Segoe UI"/>
            </a:endParaRPr>
          </a:p>
          <a:p>
            <a:pPr marL="0" indent="0">
              <a:lnSpc>
                <a:spcPct val="100000"/>
              </a:lnSpc>
              <a:spcBef>
                <a:spcPts val="0"/>
              </a:spcBef>
              <a:buNone/>
            </a:pPr>
            <a:r>
              <a:rPr lang="en-US" sz="2400">
                <a:latin typeface="Segoe UI"/>
                <a:cs typeface="Segoe UI"/>
              </a:rPr>
              <a:t>Wander around under certain rules. Hope that what you eventually stop at is the best. </a:t>
            </a:r>
            <a:endParaRPr lang="en-US" sz="2400" dirty="0">
              <a:latin typeface="Segoe UI"/>
              <a:cs typeface="Segoe UI"/>
            </a:endParaRPr>
          </a:p>
          <a:p>
            <a:pPr marL="0" indent="0">
              <a:lnSpc>
                <a:spcPct val="100000"/>
              </a:lnSpc>
              <a:spcBef>
                <a:spcPts val="0"/>
              </a:spcBef>
              <a:buNone/>
            </a:pPr>
            <a:endParaRPr lang="en-US" sz="2400" dirty="0">
              <a:latin typeface="Segoe UI"/>
              <a:cs typeface="Segoe UI"/>
            </a:endParaRPr>
          </a:p>
          <a:p>
            <a:pPr marL="0" indent="0">
              <a:lnSpc>
                <a:spcPct val="100000"/>
              </a:lnSpc>
              <a:spcBef>
                <a:spcPts val="0"/>
              </a:spcBef>
              <a:buNone/>
            </a:pPr>
            <a:r>
              <a:rPr lang="en-US" sz="2400">
                <a:latin typeface="Segoe UI"/>
                <a:cs typeface="Segoe UI"/>
              </a:rPr>
              <a:t>Not guaranteed to find the best tree. </a:t>
            </a:r>
            <a:endParaRPr lang="en-US" sz="2400" dirty="0">
              <a:latin typeface="Segoe UI"/>
              <a:cs typeface="Segoe UI"/>
            </a:endParaRPr>
          </a:p>
          <a:p>
            <a:pPr marL="0" indent="0">
              <a:lnSpc>
                <a:spcPct val="100000"/>
              </a:lnSpc>
              <a:spcBef>
                <a:spcPts val="0"/>
              </a:spcBef>
              <a:buNone/>
            </a:pPr>
            <a:endParaRPr lang="en-US" sz="2400" dirty="0">
              <a:latin typeface="Segoe UI"/>
              <a:cs typeface="Segoe UI"/>
            </a:endParaRPr>
          </a:p>
          <a:p>
            <a:pPr marL="0" indent="0">
              <a:lnSpc>
                <a:spcPct val="100000"/>
              </a:lnSpc>
              <a:spcBef>
                <a:spcPts val="0"/>
              </a:spcBef>
              <a:buNone/>
            </a:pPr>
            <a:r>
              <a:rPr lang="en-US" sz="2400">
                <a:latin typeface="Segoe UI"/>
                <a:cs typeface="Segoe UI"/>
              </a:rPr>
              <a:t>Can be improved by lots of random starting points. </a:t>
            </a:r>
            <a:endParaRPr lang="en-US" sz="2400" dirty="0">
              <a:latin typeface="Segoe UI"/>
              <a:cs typeface="Segoe UI"/>
            </a:endParaRPr>
          </a:p>
          <a:p>
            <a:pPr marL="0" indent="0">
              <a:lnSpc>
                <a:spcPct val="100000"/>
              </a:lnSpc>
              <a:spcBef>
                <a:spcPts val="0"/>
              </a:spcBef>
              <a:buNone/>
            </a:pPr>
            <a:endParaRPr lang="en-US" sz="2400" dirty="0">
              <a:latin typeface="Segoe UI"/>
              <a:cs typeface="Segoe UI"/>
            </a:endParaRPr>
          </a:p>
          <a:p>
            <a:pPr marL="0" indent="0">
              <a:lnSpc>
                <a:spcPct val="100000"/>
              </a:lnSpc>
              <a:spcBef>
                <a:spcPts val="0"/>
              </a:spcBef>
              <a:buNone/>
            </a:pPr>
            <a:r>
              <a:rPr lang="en-US" sz="2400">
                <a:latin typeface="Segoe UI"/>
                <a:cs typeface="Segoe UI"/>
              </a:rPr>
              <a:t>(Not necessary for parsimony, exact algorithmic solution possible with a “branch and bound” search)</a:t>
            </a:r>
            <a:endParaRPr lang="en-US" sz="2400" dirty="0">
              <a:latin typeface="Segoe UI"/>
              <a:cs typeface="Segoe UI"/>
            </a:endParaRPr>
          </a:p>
          <a:p>
            <a:pPr marL="0" indent="0">
              <a:buNone/>
            </a:pPr>
            <a:endParaRPr lang="en-US" sz="3200" dirty="0"/>
          </a:p>
        </p:txBody>
      </p:sp>
    </p:spTree>
    <p:extLst>
      <p:ext uri="{BB962C8B-B14F-4D97-AF65-F5344CB8AC3E}">
        <p14:creationId xmlns:p14="http://schemas.microsoft.com/office/powerpoint/2010/main" val="119566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C828-5B00-2C76-25EC-5D24A7AE092B}"/>
              </a:ext>
            </a:extLst>
          </p:cNvPr>
          <p:cNvSpPr>
            <a:spLocks noGrp="1"/>
          </p:cNvSpPr>
          <p:nvPr>
            <p:ph type="title"/>
          </p:nvPr>
        </p:nvSpPr>
        <p:spPr/>
        <p:txBody>
          <a:bodyPr/>
          <a:lstStyle/>
          <a:p>
            <a:r>
              <a:rPr lang="en-US">
                <a:latin typeface="Arial"/>
              </a:rPr>
              <a:t>Tree space</a:t>
            </a:r>
            <a:endParaRPr lang="en-US"/>
          </a:p>
        </p:txBody>
      </p:sp>
      <p:sp>
        <p:nvSpPr>
          <p:cNvPr id="3" name="Content Placeholder 2">
            <a:extLst>
              <a:ext uri="{FF2B5EF4-FFF2-40B4-BE49-F238E27FC236}">
                <a16:creationId xmlns:a16="http://schemas.microsoft.com/office/drawing/2014/main" id="{4A6DA67F-AB51-2D38-B896-080C43058FC8}"/>
              </a:ext>
            </a:extLst>
          </p:cNvPr>
          <p:cNvSpPr>
            <a:spLocks noGrp="1"/>
          </p:cNvSpPr>
          <p:nvPr>
            <p:ph idx="1"/>
          </p:nvPr>
        </p:nvSpPr>
        <p:spPr>
          <a:xfrm>
            <a:off x="628651" y="1724028"/>
            <a:ext cx="3578872" cy="4452944"/>
          </a:xfrm>
        </p:spPr>
        <p:txBody>
          <a:bodyPr vert="horz" lIns="91440" tIns="45720" rIns="91440" bIns="45720" rtlCol="0" anchor="t">
            <a:normAutofit fontScale="70000" lnSpcReduction="20000"/>
          </a:bodyPr>
          <a:lstStyle/>
          <a:p>
            <a:pPr marL="0" indent="0">
              <a:lnSpc>
                <a:spcPct val="100000"/>
              </a:lnSpc>
              <a:spcBef>
                <a:spcPts val="0"/>
              </a:spcBef>
              <a:buNone/>
            </a:pPr>
            <a:r>
              <a:rPr lang="en-US" sz="3200">
                <a:latin typeface="Segoe UI"/>
                <a:cs typeface="Segoe UI"/>
              </a:rPr>
              <a:t>Each point on the grid is a possible tree. </a:t>
            </a:r>
            <a:endParaRPr lang="en-US"/>
          </a:p>
          <a:p>
            <a:pPr marL="0" indent="0">
              <a:lnSpc>
                <a:spcPct val="100000"/>
              </a:lnSpc>
              <a:spcBef>
                <a:spcPts val="0"/>
              </a:spcBef>
              <a:buNone/>
            </a:pPr>
            <a:endParaRPr lang="en-US" sz="3200" dirty="0">
              <a:latin typeface="Segoe UI"/>
              <a:cs typeface="Segoe UI"/>
            </a:endParaRPr>
          </a:p>
          <a:p>
            <a:pPr marL="0" indent="0">
              <a:lnSpc>
                <a:spcPct val="100000"/>
              </a:lnSpc>
              <a:spcBef>
                <a:spcPts val="0"/>
              </a:spcBef>
              <a:buNone/>
            </a:pPr>
            <a:r>
              <a:rPr lang="en-US" sz="3200">
                <a:latin typeface="Segoe UI"/>
                <a:cs typeface="Segoe UI"/>
              </a:rPr>
              <a:t>Trees next to each other are “1 step away” via algorithmic manipulation</a:t>
            </a:r>
            <a:endParaRPr lang="en-US" sz="3200" dirty="0">
              <a:latin typeface="Segoe UI"/>
              <a:cs typeface="Segoe UI"/>
            </a:endParaRPr>
          </a:p>
          <a:p>
            <a:pPr marL="0" indent="0">
              <a:lnSpc>
                <a:spcPct val="100000"/>
              </a:lnSpc>
              <a:spcBef>
                <a:spcPts val="0"/>
              </a:spcBef>
              <a:buNone/>
            </a:pPr>
            <a:endParaRPr lang="en-US" sz="3200" dirty="0">
              <a:latin typeface="Segoe UI"/>
              <a:cs typeface="Segoe UI"/>
            </a:endParaRPr>
          </a:p>
          <a:p>
            <a:pPr marL="0" indent="0">
              <a:lnSpc>
                <a:spcPct val="100000"/>
              </a:lnSpc>
              <a:spcBef>
                <a:spcPts val="0"/>
              </a:spcBef>
              <a:buNone/>
            </a:pPr>
            <a:r>
              <a:rPr lang="en-US" sz="3200">
                <a:latin typeface="Segoe UI"/>
                <a:cs typeface="Segoe UI"/>
              </a:rPr>
              <a:t>Start at a random tree. </a:t>
            </a:r>
            <a:endParaRPr lang="en-US" sz="3200" dirty="0">
              <a:latin typeface="Segoe UI"/>
              <a:cs typeface="Segoe UI"/>
            </a:endParaRPr>
          </a:p>
          <a:p>
            <a:pPr marL="0" indent="0">
              <a:lnSpc>
                <a:spcPct val="100000"/>
              </a:lnSpc>
              <a:spcBef>
                <a:spcPts val="0"/>
              </a:spcBef>
              <a:buNone/>
            </a:pPr>
            <a:endParaRPr lang="en-US" sz="3200" dirty="0">
              <a:latin typeface="Segoe UI"/>
              <a:cs typeface="Segoe UI"/>
            </a:endParaRPr>
          </a:p>
          <a:p>
            <a:pPr marL="0" indent="0">
              <a:lnSpc>
                <a:spcPct val="100000"/>
              </a:lnSpc>
              <a:spcBef>
                <a:spcPts val="0"/>
              </a:spcBef>
              <a:buNone/>
            </a:pPr>
            <a:r>
              <a:rPr lang="en-US" sz="3200">
                <a:latin typeface="Segoe UI"/>
                <a:cs typeface="Segoe UI"/>
              </a:rPr>
              <a:t>Try all trees that are nearby, choose the one that’s best</a:t>
            </a:r>
            <a:endParaRPr lang="en-US" sz="3200" dirty="0">
              <a:latin typeface="Segoe UI"/>
              <a:cs typeface="Segoe UI"/>
            </a:endParaRPr>
          </a:p>
          <a:p>
            <a:pPr marL="0" indent="0">
              <a:lnSpc>
                <a:spcPct val="100000"/>
              </a:lnSpc>
              <a:spcBef>
                <a:spcPts val="0"/>
              </a:spcBef>
              <a:buNone/>
            </a:pPr>
            <a:endParaRPr lang="en-US" sz="3200" dirty="0">
              <a:latin typeface="Segoe UI"/>
              <a:cs typeface="Segoe UI"/>
            </a:endParaRPr>
          </a:p>
          <a:p>
            <a:pPr marL="0" indent="0">
              <a:lnSpc>
                <a:spcPct val="100000"/>
              </a:lnSpc>
              <a:spcBef>
                <a:spcPts val="0"/>
              </a:spcBef>
              <a:buNone/>
            </a:pPr>
            <a:r>
              <a:rPr lang="en-US" sz="3200">
                <a:latin typeface="Segoe UI"/>
                <a:cs typeface="Segoe UI"/>
              </a:rPr>
              <a:t>Keep doing that un</a:t>
            </a:r>
            <a:r>
              <a:rPr lang="en-US" sz="3200" dirty="0">
                <a:latin typeface="Segoe UI"/>
                <a:cs typeface="Segoe UI"/>
              </a:rPr>
              <a:t>til you can’t make the tree any better. </a:t>
            </a:r>
          </a:p>
          <a:p>
            <a:pPr marL="0" indent="0">
              <a:buNone/>
            </a:pPr>
            <a:endParaRPr lang="en-US" sz="4400" dirty="0"/>
          </a:p>
        </p:txBody>
      </p:sp>
      <p:pic>
        <p:nvPicPr>
          <p:cNvPr id="5" name="Picture 4" descr="Figure 4.1 from Felsenstein's Inferring Phylogenies, showing a heuristic search on a surface rising above a two-dimensional plane. The process of climing uphill on the surface is illustrated, as well as a failure to find the highest peak by a &quot;greedy&quot; method. The global maximum is in a narrower region of the surface than the local peak, where the algorithm ends up. ">
            <a:extLst>
              <a:ext uri="{FF2B5EF4-FFF2-40B4-BE49-F238E27FC236}">
                <a16:creationId xmlns:a16="http://schemas.microsoft.com/office/drawing/2014/main" id="{D938F79A-426E-E895-F4B1-7726D9C50ED3}"/>
              </a:ext>
            </a:extLst>
          </p:cNvPr>
          <p:cNvPicPr>
            <a:picLocks noChangeAspect="1"/>
          </p:cNvPicPr>
          <p:nvPr/>
        </p:nvPicPr>
        <p:blipFill>
          <a:blip r:embed="rId2"/>
          <a:stretch>
            <a:fillRect/>
          </a:stretch>
        </p:blipFill>
        <p:spPr>
          <a:xfrm>
            <a:off x="4233069" y="453231"/>
            <a:ext cx="4627880" cy="3390900"/>
          </a:xfrm>
          <a:prstGeom prst="rect">
            <a:avLst/>
          </a:prstGeom>
        </p:spPr>
      </p:pic>
    </p:spTree>
    <p:extLst>
      <p:ext uri="{BB962C8B-B14F-4D97-AF65-F5344CB8AC3E}">
        <p14:creationId xmlns:p14="http://schemas.microsoft.com/office/powerpoint/2010/main" val="3079493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03B28-69B7-0B7A-5359-4B639B41607C}"/>
              </a:ext>
            </a:extLst>
          </p:cNvPr>
          <p:cNvSpPr>
            <a:spLocks noGrp="1"/>
          </p:cNvSpPr>
          <p:nvPr>
            <p:ph type="title"/>
          </p:nvPr>
        </p:nvSpPr>
        <p:spPr>
          <a:xfrm>
            <a:off x="147388" y="365126"/>
            <a:ext cx="2929701" cy="1337596"/>
          </a:xfrm>
        </p:spPr>
        <p:txBody>
          <a:bodyPr>
            <a:normAutofit/>
          </a:bodyPr>
          <a:lstStyle/>
          <a:p>
            <a:r>
              <a:rPr lang="en-US" dirty="0">
                <a:latin typeface="Arial"/>
              </a:rPr>
              <a:t>Visualiz</a:t>
            </a:r>
            <a:r>
              <a:rPr lang="en-US">
                <a:latin typeface="Arial"/>
              </a:rPr>
              <a:t>ing tree</a:t>
            </a:r>
            <a:r>
              <a:rPr lang="en-US" dirty="0">
                <a:latin typeface="Arial"/>
              </a:rPr>
              <a:t> space</a:t>
            </a:r>
            <a:endParaRPr lang="en-US"/>
          </a:p>
        </p:txBody>
      </p:sp>
      <p:pic>
        <p:nvPicPr>
          <p:cNvPr id="5" name="Content Placeholder 3" descr="Figure 4.3 from Felsenstein. 15 possible unrooted trees for 5 taxa connected by nearest neighbor interchange &quot;moves&quot;. The overall shape resembles a double flowered rose.">
            <a:extLst>
              <a:ext uri="{FF2B5EF4-FFF2-40B4-BE49-F238E27FC236}">
                <a16:creationId xmlns:a16="http://schemas.microsoft.com/office/drawing/2014/main" id="{198BF8A5-D2BC-927D-7B8D-A09DF04CD56C}"/>
              </a:ext>
            </a:extLst>
          </p:cNvPr>
          <p:cNvPicPr>
            <a:picLocks noChangeAspect="1"/>
          </p:cNvPicPr>
          <p:nvPr/>
        </p:nvPicPr>
        <p:blipFill>
          <a:blip r:embed="rId2"/>
          <a:stretch>
            <a:fillRect/>
          </a:stretch>
        </p:blipFill>
        <p:spPr>
          <a:xfrm>
            <a:off x="2856130" y="233045"/>
            <a:ext cx="6421755" cy="6391910"/>
          </a:xfrm>
          <a:prstGeom prst="rect">
            <a:avLst/>
          </a:prstGeom>
        </p:spPr>
      </p:pic>
    </p:spTree>
    <p:extLst>
      <p:ext uri="{BB962C8B-B14F-4D97-AF65-F5344CB8AC3E}">
        <p14:creationId xmlns:p14="http://schemas.microsoft.com/office/powerpoint/2010/main" val="455168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4" y="1038894"/>
            <a:ext cx="2833449" cy="1337596"/>
          </a:xfrm>
        </p:spPr>
        <p:txBody>
          <a:bodyPr>
            <a:normAutofit fontScale="90000"/>
          </a:bodyPr>
          <a:lstStyle/>
          <a:p>
            <a:r>
              <a:rPr lang="en-US" dirty="0">
                <a:latin typeface="Arial"/>
              </a:rPr>
              <a:t>Finding the shortest tree in </a:t>
            </a:r>
            <a:r>
              <a:rPr lang="en-US" dirty="0" err="1">
                <a:latin typeface="Arial"/>
              </a:rPr>
              <a:t>treespace</a:t>
            </a:r>
            <a:endParaRPr lang="en-US" dirty="0" err="1"/>
          </a:p>
        </p:txBody>
      </p:sp>
      <p:pic>
        <p:nvPicPr>
          <p:cNvPr id="4" name="Content Placeholder 3" descr="The same tree space, but with depictions of the trees relabeled with their parsimony counts, ranging from 8 to 11. Only one tree (the most parsimonious tree) has a count of 8, while many trees have counts of 9, 10, and 11. "/>
          <p:cNvPicPr>
            <a:picLocks noGrp="1" noChangeAspect="1"/>
          </p:cNvPicPr>
          <p:nvPr>
            <p:ph idx="1"/>
          </p:nvPr>
        </p:nvPicPr>
        <p:blipFill>
          <a:blip r:embed="rId2"/>
          <a:stretch>
            <a:fillRect/>
          </a:stretch>
        </p:blipFill>
        <p:spPr>
          <a:xfrm>
            <a:off x="2830832" y="534136"/>
            <a:ext cx="6308758" cy="6307721"/>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 y="240666"/>
            <a:ext cx="6412874" cy="994174"/>
          </a:xfrm>
        </p:spPr>
        <p:txBody>
          <a:bodyPr>
            <a:normAutofit fontScale="90000"/>
          </a:bodyPr>
          <a:lstStyle/>
          <a:p>
            <a:pPr algn="ctr"/>
            <a:r>
              <a:rPr lang="x-none" altLang="en-US">
                <a:latin typeface="Arial"/>
              </a:rPr>
              <a:t>Tree space connectivity is defined by "moves"</a:t>
            </a:r>
          </a:p>
        </p:txBody>
      </p:sp>
      <p:grpSp>
        <p:nvGrpSpPr>
          <p:cNvPr id="3" name="Group 2" descr="A depiction of a nearest neighbor interchange, where a quartet phylogeny is rearranged.">
            <a:extLst>
              <a:ext uri="{FF2B5EF4-FFF2-40B4-BE49-F238E27FC236}">
                <a16:creationId xmlns:a16="http://schemas.microsoft.com/office/drawing/2014/main" id="{A45CFBF8-83CC-5ED6-F6AE-925030DB3211}"/>
              </a:ext>
            </a:extLst>
          </p:cNvPr>
          <p:cNvGrpSpPr/>
          <p:nvPr/>
        </p:nvGrpSpPr>
        <p:grpSpPr>
          <a:xfrm>
            <a:off x="950119" y="1651159"/>
            <a:ext cx="3489484" cy="1686402"/>
            <a:chOff x="950119" y="1651159"/>
            <a:chExt cx="3489484" cy="1686402"/>
          </a:xfrm>
        </p:grpSpPr>
        <p:pic>
          <p:nvPicPr>
            <p:cNvPr id="4" name="Picture 3"/>
            <p:cNvPicPr>
              <a:picLocks noChangeAspect="1"/>
            </p:cNvPicPr>
            <p:nvPr/>
          </p:nvPicPr>
          <p:blipFill>
            <a:blip r:embed="rId2"/>
            <a:stretch>
              <a:fillRect/>
            </a:stretch>
          </p:blipFill>
          <p:spPr>
            <a:xfrm>
              <a:off x="950119" y="1651159"/>
              <a:ext cx="3489484" cy="1142048"/>
            </a:xfrm>
            <a:prstGeom prst="rect">
              <a:avLst/>
            </a:prstGeom>
          </p:spPr>
        </p:pic>
        <p:sp>
          <p:nvSpPr>
            <p:cNvPr id="5" name="Title 1"/>
            <p:cNvSpPr>
              <a:spLocks noGrp="1"/>
            </p:cNvSpPr>
            <p:nvPr/>
          </p:nvSpPr>
          <p:spPr>
            <a:xfrm>
              <a:off x="1669733" y="2807018"/>
              <a:ext cx="2392680" cy="530543"/>
            </a:xfrm>
            <a:prstGeom prst="rect">
              <a:avLst/>
            </a:prstGeom>
          </p:spPr>
          <p:txBody>
            <a:bodyPr vert="horz" lIns="68580" tIns="34290" rIns="68580" bIns="34290" rtlCol="0" anchor="ctr">
              <a:normAutofit fontScale="4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300"/>
                <a:t>Nearest Neighbor Interchange (NNI)</a:t>
              </a:r>
            </a:p>
          </p:txBody>
        </p:sp>
      </p:grpSp>
      <p:pic>
        <p:nvPicPr>
          <p:cNvPr id="6" name="Picture 5" descr="Break a branch, remove a subtree is depicted, where a starting tree is cut into two subtrees."/>
          <p:cNvPicPr>
            <a:picLocks noChangeAspect="1"/>
          </p:cNvPicPr>
          <p:nvPr/>
        </p:nvPicPr>
        <p:blipFill>
          <a:blip r:embed="rId3"/>
          <a:stretch>
            <a:fillRect/>
          </a:stretch>
        </p:blipFill>
        <p:spPr>
          <a:xfrm>
            <a:off x="5083493" y="1484471"/>
            <a:ext cx="2058353" cy="1925479"/>
          </a:xfrm>
          <a:prstGeom prst="rect">
            <a:avLst/>
          </a:prstGeom>
        </p:spPr>
      </p:pic>
      <p:grpSp>
        <p:nvGrpSpPr>
          <p:cNvPr id="15" name="Group 14" descr="Alternatively, you can add it to a single point rather than all possible locations, that is subtree pruning and regrafting. SPR is a subset of TBR.">
            <a:extLst>
              <a:ext uri="{FF2B5EF4-FFF2-40B4-BE49-F238E27FC236}">
                <a16:creationId xmlns:a16="http://schemas.microsoft.com/office/drawing/2014/main" id="{B1D7E357-CEEF-FFB9-E4B1-F99CF20F5577}"/>
              </a:ext>
            </a:extLst>
          </p:cNvPr>
          <p:cNvGrpSpPr/>
          <p:nvPr/>
        </p:nvGrpSpPr>
        <p:grpSpPr>
          <a:xfrm>
            <a:off x="4897279" y="3322796"/>
            <a:ext cx="3016568" cy="2561273"/>
            <a:chOff x="4897279" y="3322796"/>
            <a:chExt cx="3016568" cy="2561273"/>
          </a:xfrm>
        </p:grpSpPr>
        <p:pic>
          <p:nvPicPr>
            <p:cNvPr id="7" name="Picture 6"/>
            <p:cNvPicPr>
              <a:picLocks noChangeAspect="1"/>
            </p:cNvPicPr>
            <p:nvPr/>
          </p:nvPicPr>
          <p:blipFill>
            <a:blip r:embed="rId4"/>
            <a:stretch>
              <a:fillRect/>
            </a:stretch>
          </p:blipFill>
          <p:spPr>
            <a:xfrm>
              <a:off x="4897279" y="3381851"/>
              <a:ext cx="1784509" cy="2005489"/>
            </a:xfrm>
            <a:prstGeom prst="rect">
              <a:avLst/>
            </a:prstGeom>
          </p:spPr>
        </p:pic>
        <p:pic>
          <p:nvPicPr>
            <p:cNvPr id="8" name="Picture 7"/>
            <p:cNvPicPr>
              <a:picLocks noChangeAspect="1"/>
            </p:cNvPicPr>
            <p:nvPr/>
          </p:nvPicPr>
          <p:blipFill>
            <a:blip r:embed="rId5"/>
            <a:stretch>
              <a:fillRect/>
            </a:stretch>
          </p:blipFill>
          <p:spPr>
            <a:xfrm>
              <a:off x="6561773" y="3322796"/>
              <a:ext cx="1352074" cy="1823561"/>
            </a:xfrm>
            <a:prstGeom prst="rect">
              <a:avLst/>
            </a:prstGeom>
          </p:spPr>
        </p:pic>
        <p:sp>
          <p:nvSpPr>
            <p:cNvPr id="9" name="Title 1"/>
            <p:cNvSpPr>
              <a:spLocks noGrp="1"/>
            </p:cNvSpPr>
            <p:nvPr/>
          </p:nvSpPr>
          <p:spPr>
            <a:xfrm>
              <a:off x="5493068" y="5353526"/>
              <a:ext cx="2392680" cy="530543"/>
            </a:xfrm>
            <a:prstGeom prst="rect">
              <a:avLst/>
            </a:prstGeom>
          </p:spPr>
          <p:txBody>
            <a:bodyPr vert="horz" lIns="68580" tIns="34290" rIns="68580" bIns="34290" rtlCol="0" anchor="ctr">
              <a:normAutofit fontScale="4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300"/>
                <a:t>Subtree pruning and regrafting (SPR)</a:t>
              </a:r>
            </a:p>
          </p:txBody>
        </p:sp>
      </p:grpSp>
      <p:grpSp>
        <p:nvGrpSpPr>
          <p:cNvPr id="10" name="Group 9" descr="Going from breaking a branch, you can reattach it by connecting a branch from the subtree to another branch of the remaining tree., trying all possible reconnection locations This is Tree bisection and reconnection.">
            <a:extLst>
              <a:ext uri="{FF2B5EF4-FFF2-40B4-BE49-F238E27FC236}">
                <a16:creationId xmlns:a16="http://schemas.microsoft.com/office/drawing/2014/main" id="{2FADC6A3-4802-076F-C26F-5AFE0C27CCD0}"/>
              </a:ext>
            </a:extLst>
          </p:cNvPr>
          <p:cNvGrpSpPr/>
          <p:nvPr/>
        </p:nvGrpSpPr>
        <p:grpSpPr>
          <a:xfrm>
            <a:off x="1016794" y="2867978"/>
            <a:ext cx="4130993" cy="3079909"/>
            <a:chOff x="1016794" y="2867978"/>
            <a:chExt cx="4130993" cy="3079909"/>
          </a:xfrm>
        </p:grpSpPr>
        <p:sp>
          <p:nvSpPr>
            <p:cNvPr id="11" name="Left Arrow 10"/>
            <p:cNvSpPr/>
            <p:nvPr/>
          </p:nvSpPr>
          <p:spPr>
            <a:xfrm rot="19260000">
              <a:off x="3908584" y="2867978"/>
              <a:ext cx="1239203" cy="54483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p:cNvPicPr>
              <a:picLocks noChangeAspect="1"/>
            </p:cNvPicPr>
            <p:nvPr/>
          </p:nvPicPr>
          <p:blipFill>
            <a:blip r:embed="rId6"/>
            <a:stretch>
              <a:fillRect/>
            </a:stretch>
          </p:blipFill>
          <p:spPr>
            <a:xfrm>
              <a:off x="1016794" y="3597593"/>
              <a:ext cx="1830705" cy="1648778"/>
            </a:xfrm>
            <a:prstGeom prst="rect">
              <a:avLst/>
            </a:prstGeom>
          </p:spPr>
        </p:pic>
        <p:pic>
          <p:nvPicPr>
            <p:cNvPr id="13" name="Picture 12"/>
            <p:cNvPicPr>
              <a:picLocks noChangeAspect="1"/>
            </p:cNvPicPr>
            <p:nvPr/>
          </p:nvPicPr>
          <p:blipFill>
            <a:blip r:embed="rId7"/>
            <a:stretch>
              <a:fillRect/>
            </a:stretch>
          </p:blipFill>
          <p:spPr>
            <a:xfrm>
              <a:off x="2952274" y="3928110"/>
              <a:ext cx="1550670" cy="1945958"/>
            </a:xfrm>
            <a:prstGeom prst="rect">
              <a:avLst/>
            </a:prstGeom>
          </p:spPr>
        </p:pic>
        <p:sp>
          <p:nvSpPr>
            <p:cNvPr id="14" name="Title 1"/>
            <p:cNvSpPr>
              <a:spLocks noGrp="1"/>
            </p:cNvSpPr>
            <p:nvPr/>
          </p:nvSpPr>
          <p:spPr>
            <a:xfrm>
              <a:off x="1052036" y="5417344"/>
              <a:ext cx="2392680" cy="530543"/>
            </a:xfrm>
            <a:prstGeom prst="rect">
              <a:avLst/>
            </a:prstGeom>
          </p:spPr>
          <p:txBody>
            <a:bodyPr vert="horz" lIns="68580" tIns="34290" rIns="68580" bIns="34290" rtlCol="0" anchor="ctr">
              <a:normAutofit fontScale="4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300"/>
                <a:t>Tree bisection and reconnection (TBR)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latin typeface="Open Sans Condensed" panose="020B0806030504020204" charset="0"/>
                <a:cs typeface="Open Sans Condensed" panose="020B0806030504020204" charset="0"/>
              </a:rPr>
              <a:t>Distance between tree spaces changes depending on which moves you use</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endParaRPr lang="en-US" altLang="en-US" dirty="0">
              <a:latin typeface="Open Sans Condensed"/>
            </a:endParaRPr>
          </a:p>
          <a:p>
            <a:pPr marL="0" indent="0">
              <a:buNone/>
            </a:pPr>
            <a:r>
              <a:rPr lang="en-US" altLang="en-US">
                <a:latin typeface="Open Sans Condensed"/>
              </a:rPr>
              <a:t>NNI fastest, least computationally intensive, but the largest distances between trees</a:t>
            </a:r>
            <a:endParaRPr lang="en-US">
              <a:latin typeface="Open Sans Condensed"/>
            </a:endParaRPr>
          </a:p>
          <a:p>
            <a:pPr marL="0" indent="0">
              <a:buNone/>
            </a:pPr>
            <a:endParaRPr lang="en-US" altLang="en-US">
              <a:latin typeface="Open Sans Condensed" panose="020B0806030504020204" charset="0"/>
              <a:cs typeface="Open Sans Condensed" panose="020B0806030504020204" charset="0"/>
            </a:endParaRPr>
          </a:p>
          <a:p>
            <a:pPr marL="0" indent="0">
              <a:buNone/>
            </a:pPr>
            <a:r>
              <a:rPr lang="en-US" altLang="en-US">
                <a:latin typeface="Open Sans Condensed" panose="020B0806030504020204" charset="0"/>
                <a:cs typeface="Open Sans Condensed" panose="020B0806030504020204" charset="0"/>
              </a:rPr>
              <a:t>TBR slowest, most computationally intensive, but shortest distances between trees</a:t>
            </a:r>
          </a:p>
          <a:p>
            <a:pPr marL="0" indent="0">
              <a:buNone/>
            </a:pPr>
            <a:endParaRPr lang="en-US" altLang="en-US">
              <a:latin typeface="Open Sans Condensed" panose="020B0806030504020204" charset="0"/>
              <a:cs typeface="Open Sans Condensed" panose="020B0806030504020204" charset="0"/>
            </a:endParaRPr>
          </a:p>
          <a:p>
            <a:pPr marL="0" indent="0">
              <a:buNone/>
            </a:pPr>
            <a:r>
              <a:rPr lang="en-US" altLang="en-US">
                <a:latin typeface="Open Sans Condensed" panose="020B0806030504020204" charset="0"/>
                <a:cs typeface="Open Sans Condensed" panose="020B0806030504020204" charset="0"/>
              </a:rPr>
              <a:t>SPR intermediate</a:t>
            </a:r>
          </a:p>
        </p:txBody>
      </p:sp>
    </p:spTree>
    <p:extLst>
      <p:ext uri="{BB962C8B-B14F-4D97-AF65-F5344CB8AC3E}">
        <p14:creationId xmlns:p14="http://schemas.microsoft.com/office/powerpoint/2010/main" val="405517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8256D-07AF-A6CD-B235-1BBB17542AD0}"/>
              </a:ext>
            </a:extLst>
          </p:cNvPr>
          <p:cNvSpPr>
            <a:spLocks noGrp="1"/>
          </p:cNvSpPr>
          <p:nvPr>
            <p:ph type="title"/>
          </p:nvPr>
        </p:nvSpPr>
        <p:spPr/>
        <p:txBody>
          <a:bodyPr/>
          <a:lstStyle/>
          <a:p>
            <a:r>
              <a:rPr lang="en-US">
                <a:latin typeface="Arial"/>
              </a:rPr>
              <a:t>Navigating tree space</a:t>
            </a:r>
            <a:endParaRPr lang="en-US"/>
          </a:p>
        </p:txBody>
      </p:sp>
      <p:sp>
        <p:nvSpPr>
          <p:cNvPr id="3" name="Content Placeholder 2">
            <a:extLst>
              <a:ext uri="{FF2B5EF4-FFF2-40B4-BE49-F238E27FC236}">
                <a16:creationId xmlns:a16="http://schemas.microsoft.com/office/drawing/2014/main" id="{DBCA7BBF-C7C7-E3AA-F93C-E35E8A8B2865}"/>
              </a:ext>
            </a:extLst>
          </p:cNvPr>
          <p:cNvSpPr>
            <a:spLocks noGrp="1"/>
          </p:cNvSpPr>
          <p:nvPr>
            <p:ph idx="1"/>
          </p:nvPr>
        </p:nvSpPr>
        <p:spPr>
          <a:xfrm>
            <a:off x="628651" y="1937388"/>
            <a:ext cx="7886712" cy="4351344"/>
          </a:xfrm>
        </p:spPr>
        <p:txBody>
          <a:bodyPr vert="horz" lIns="91440" tIns="45720" rIns="91440" bIns="45720" rtlCol="0" anchor="t">
            <a:normAutofit fontScale="92500" lnSpcReduction="20000"/>
          </a:bodyPr>
          <a:lstStyle/>
          <a:p>
            <a:pPr marL="0" indent="0">
              <a:buNone/>
            </a:pPr>
            <a:r>
              <a:rPr lang="en-US" dirty="0">
                <a:latin typeface="Open Sans Condensed"/>
              </a:rPr>
              <a:t>Optimization/gradient descent (here ascent) is a general problem in </a:t>
            </a:r>
            <a:r>
              <a:rPr lang="en-US">
                <a:latin typeface="Open Sans Condensed"/>
              </a:rPr>
              <a:t>computational analyses</a:t>
            </a:r>
            <a:endParaRPr lang="en-US"/>
          </a:p>
          <a:p>
            <a:pPr marL="0" indent="0">
              <a:buNone/>
            </a:pPr>
            <a:endParaRPr lang="en-US" dirty="0"/>
          </a:p>
          <a:p>
            <a:pPr marL="0" indent="0">
              <a:buNone/>
            </a:pPr>
            <a:r>
              <a:rPr lang="en-US" dirty="0">
                <a:latin typeface="Open Sans Condensed"/>
              </a:rPr>
              <a:t>It is always a balance of speed (NNI faster than SPR faster than TBR) and how efficiently you move across tree space (TBR connects more trees </a:t>
            </a:r>
            <a:r>
              <a:rPr lang="en-US">
                <a:latin typeface="Open Sans Condensed"/>
              </a:rPr>
              <a:t>than SPR which is more than NNI)</a:t>
            </a:r>
          </a:p>
          <a:p>
            <a:pPr marL="0" indent="0">
              <a:buNone/>
            </a:pPr>
            <a:br>
              <a:rPr lang="en-US" dirty="0"/>
            </a:br>
            <a:r>
              <a:rPr lang="en-US" dirty="0">
                <a:latin typeface="Open Sans Condensed"/>
              </a:rPr>
              <a:t>Unless you sample all trees, a heuristic </a:t>
            </a:r>
            <a:r>
              <a:rPr lang="en-US">
                <a:latin typeface="Open Sans Condensed"/>
              </a:rPr>
              <a:t>search may not be sure you ever find the global peak.</a:t>
            </a:r>
            <a:endParaRPr lang="en-US"/>
          </a:p>
          <a:p>
            <a:pPr marL="0" indent="0">
              <a:buNone/>
            </a:pPr>
            <a:endParaRPr lang="en-US" dirty="0"/>
          </a:p>
          <a:p>
            <a:pPr marL="0" indent="0">
              <a:buNone/>
            </a:pPr>
            <a:r>
              <a:rPr lang="en-US" dirty="0">
                <a:latin typeface="Open Sans Condensed"/>
              </a:rPr>
              <a:t>Trying lots of different starting points can increase </a:t>
            </a:r>
            <a:r>
              <a:rPr lang="en-US">
                <a:latin typeface="Open Sans Condensed"/>
              </a:rPr>
              <a:t>your confidence.</a:t>
            </a:r>
            <a:endParaRPr lang="en-US"/>
          </a:p>
        </p:txBody>
      </p:sp>
    </p:spTree>
    <p:extLst>
      <p:ext uri="{BB962C8B-B14F-4D97-AF65-F5344CB8AC3E}">
        <p14:creationId xmlns:p14="http://schemas.microsoft.com/office/powerpoint/2010/main" val="617407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A depiction of the branch and bound algorithm.   A starting tree of 3 taxa is expanded on 3 branches to 4 taxa, then to 5. Whole branches can be eliminated from the algorithm when a tree length at one level becomes higher than the descendants of another level, greatly simplifying the search and eliminating vast regions of tree space. Branch and bound guarantees the shortest tree.">
            <a:extLst>
              <a:ext uri="{FF2B5EF4-FFF2-40B4-BE49-F238E27FC236}">
                <a16:creationId xmlns:a16="http://schemas.microsoft.com/office/drawing/2014/main" id="{7557557A-24D0-48A5-D7FE-0B7DD1777C05}"/>
              </a:ext>
            </a:extLst>
          </p:cNvPr>
          <p:cNvPicPr>
            <a:picLocks noChangeAspect="1"/>
          </p:cNvPicPr>
          <p:nvPr/>
        </p:nvPicPr>
        <p:blipFill>
          <a:blip r:embed="rId2"/>
          <a:stretch>
            <a:fillRect/>
          </a:stretch>
        </p:blipFill>
        <p:spPr>
          <a:xfrm>
            <a:off x="2949893" y="1225709"/>
            <a:ext cx="5867876" cy="5565934"/>
          </a:xfrm>
          <a:prstGeom prst="rect">
            <a:avLst/>
          </a:prstGeom>
        </p:spPr>
      </p:pic>
      <p:sp>
        <p:nvSpPr>
          <p:cNvPr id="2" name="Title 1">
            <a:extLst>
              <a:ext uri="{FF2B5EF4-FFF2-40B4-BE49-F238E27FC236}">
                <a16:creationId xmlns:a16="http://schemas.microsoft.com/office/drawing/2014/main" id="{8E43CB0D-CD62-2956-A3C4-441D84EA2144}"/>
              </a:ext>
            </a:extLst>
          </p:cNvPr>
          <p:cNvSpPr>
            <a:spLocks noGrp="1"/>
          </p:cNvSpPr>
          <p:nvPr>
            <p:ph type="title"/>
          </p:nvPr>
        </p:nvSpPr>
        <p:spPr/>
        <p:txBody>
          <a:bodyPr/>
          <a:lstStyle/>
          <a:p>
            <a:r>
              <a:rPr lang="en-US">
                <a:latin typeface="Arial"/>
              </a:rPr>
              <a:t>Parsimony has an exact algorithm</a:t>
            </a:r>
            <a:endParaRPr lang="en-US"/>
          </a:p>
        </p:txBody>
      </p:sp>
      <p:sp>
        <p:nvSpPr>
          <p:cNvPr id="3" name="Content Placeholder 2">
            <a:extLst>
              <a:ext uri="{FF2B5EF4-FFF2-40B4-BE49-F238E27FC236}">
                <a16:creationId xmlns:a16="http://schemas.microsoft.com/office/drawing/2014/main" id="{21A7E90A-909D-0B67-2D95-6D13FB1ECA91}"/>
              </a:ext>
            </a:extLst>
          </p:cNvPr>
          <p:cNvSpPr>
            <a:spLocks noGrp="1"/>
          </p:cNvSpPr>
          <p:nvPr>
            <p:ph idx="1"/>
          </p:nvPr>
        </p:nvSpPr>
        <p:spPr/>
        <p:txBody>
          <a:bodyPr vert="horz" lIns="91440" tIns="45720" rIns="91440" bIns="45720" rtlCol="0" anchor="t">
            <a:normAutofit/>
          </a:bodyPr>
          <a:lstStyle/>
          <a:p>
            <a:pPr marL="0" indent="0">
              <a:buNone/>
            </a:pPr>
            <a:r>
              <a:rPr lang="en-US">
                <a:latin typeface="Open Sans Condensed"/>
              </a:rPr>
              <a:t>Branch and bound</a:t>
            </a:r>
          </a:p>
        </p:txBody>
      </p:sp>
    </p:spTree>
    <p:extLst>
      <p:ext uri="{BB962C8B-B14F-4D97-AF65-F5344CB8AC3E}">
        <p14:creationId xmlns:p14="http://schemas.microsoft.com/office/powerpoint/2010/main" val="337402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8552-FFAB-FAC3-F27B-21E1F11C42E9}"/>
              </a:ext>
            </a:extLst>
          </p:cNvPr>
          <p:cNvSpPr>
            <a:spLocks noGrp="1"/>
          </p:cNvSpPr>
          <p:nvPr>
            <p:ph type="title"/>
          </p:nvPr>
        </p:nvSpPr>
        <p:spPr/>
        <p:txBody>
          <a:bodyPr/>
          <a:lstStyle/>
          <a:p>
            <a:r>
              <a:rPr lang="en-US">
                <a:latin typeface="Arial"/>
              </a:rPr>
              <a:t>Branch and bound</a:t>
            </a:r>
            <a:endParaRPr lang="en-US"/>
          </a:p>
        </p:txBody>
      </p:sp>
      <p:pic>
        <p:nvPicPr>
          <p:cNvPr id="5" name="Content Placeholder 3" descr="The same depiction of the branch and bound algorithm, but tree topologies replaced with tree length numbers. Dotted lines show branches that can be eliminated from the search because they are descendants of a node that is equal to or higher than the descendants of another node at the next level.">
            <a:extLst>
              <a:ext uri="{FF2B5EF4-FFF2-40B4-BE49-F238E27FC236}">
                <a16:creationId xmlns:a16="http://schemas.microsoft.com/office/drawing/2014/main" id="{62D8DD13-9BDB-0915-FC09-EAEDA50AD814}"/>
              </a:ext>
            </a:extLst>
          </p:cNvPr>
          <p:cNvPicPr>
            <a:picLocks noGrp="1" noChangeAspect="1"/>
          </p:cNvPicPr>
          <p:nvPr>
            <p:ph idx="1"/>
          </p:nvPr>
        </p:nvPicPr>
        <p:blipFill>
          <a:blip r:embed="rId2"/>
          <a:stretch>
            <a:fillRect/>
          </a:stretch>
        </p:blipFill>
        <p:spPr>
          <a:xfrm>
            <a:off x="3231198" y="1471295"/>
            <a:ext cx="5629275" cy="4871085"/>
          </a:xfrm>
          <a:prstGeom prst="rect">
            <a:avLst/>
          </a:prstGeom>
        </p:spPr>
      </p:pic>
    </p:spTree>
    <p:extLst>
      <p:ext uri="{BB962C8B-B14F-4D97-AF65-F5344CB8AC3E}">
        <p14:creationId xmlns:p14="http://schemas.microsoft.com/office/powerpoint/2010/main" val="1301527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D888E-700A-8110-DF86-D69D23908929}"/>
              </a:ext>
            </a:extLst>
          </p:cNvPr>
          <p:cNvSpPr>
            <a:spLocks noGrp="1"/>
          </p:cNvSpPr>
          <p:nvPr>
            <p:ph type="title"/>
          </p:nvPr>
        </p:nvSpPr>
        <p:spPr/>
        <p:txBody>
          <a:bodyPr/>
          <a:lstStyle/>
          <a:p>
            <a:r>
              <a:rPr lang="en-US">
                <a:latin typeface="Arial"/>
                <a:cs typeface="Arial"/>
              </a:rPr>
              <a:t>Felsenstein and the birth of statistical phylogenetics</a:t>
            </a:r>
            <a:endParaRPr lang="en-US"/>
          </a:p>
        </p:txBody>
      </p:sp>
      <p:sp>
        <p:nvSpPr>
          <p:cNvPr id="3" name="Content Placeholder 2">
            <a:extLst>
              <a:ext uri="{FF2B5EF4-FFF2-40B4-BE49-F238E27FC236}">
                <a16:creationId xmlns:a16="http://schemas.microsoft.com/office/drawing/2014/main" id="{27ED3A2C-4B6A-9F02-E031-70BE2ECFBF2A}"/>
              </a:ext>
            </a:extLst>
          </p:cNvPr>
          <p:cNvSpPr>
            <a:spLocks noGrp="1"/>
          </p:cNvSpPr>
          <p:nvPr>
            <p:ph idx="1"/>
          </p:nvPr>
        </p:nvSpPr>
        <p:spPr>
          <a:xfrm>
            <a:off x="628651" y="3595189"/>
            <a:ext cx="7886712" cy="2581783"/>
          </a:xfrm>
        </p:spPr>
        <p:txBody>
          <a:bodyPr vert="horz" lIns="91440" tIns="45720" rIns="91440" bIns="45720" rtlCol="0" anchor="t">
            <a:normAutofit/>
          </a:bodyPr>
          <a:lstStyle/>
          <a:p>
            <a:pPr marL="0" indent="0" algn="ctr">
              <a:buNone/>
            </a:pPr>
            <a:r>
              <a:rPr lang="en-US">
                <a:latin typeface="Arial"/>
                <a:cs typeface="Arial"/>
              </a:rPr>
              <a:t>How do we think about probabilities and trees?</a:t>
            </a:r>
            <a:endParaRPr lang="en-US">
              <a:latin typeface="Arial"/>
              <a:cs typeface="Arial" panose="020B0604020202020204" pitchFamily="34" charset="0"/>
            </a:endParaRPr>
          </a:p>
        </p:txBody>
      </p:sp>
    </p:spTree>
    <p:extLst>
      <p:ext uri="{BB962C8B-B14F-4D97-AF65-F5344CB8AC3E}">
        <p14:creationId xmlns:p14="http://schemas.microsoft.com/office/powerpoint/2010/main" val="1215091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8" y="581"/>
            <a:ext cx="7886712" cy="1325565"/>
          </a:xfrm>
        </p:spPr>
        <p:txBody>
          <a:bodyPr>
            <a:normAutofit/>
          </a:bodyPr>
          <a:lstStyle/>
          <a:p>
            <a:r>
              <a:rPr lang="en-US" sz="3200">
                <a:latin typeface="Arial"/>
                <a:cs typeface="Arial"/>
              </a:rPr>
              <a:t>Joe Felsenstein</a:t>
            </a:r>
            <a:endParaRPr lang="en-US" sz="3200"/>
          </a:p>
        </p:txBody>
      </p:sp>
      <p:pic>
        <p:nvPicPr>
          <p:cNvPr id="6" name="Content Placeholder 5" descr="Joe Felsenstein's google scholar page. Showing 165,918 citations and an H-index of 83. ">
            <a:extLst>
              <a:ext uri="{FF2B5EF4-FFF2-40B4-BE49-F238E27FC236}">
                <a16:creationId xmlns:a16="http://schemas.microsoft.com/office/drawing/2014/main" id="{2E232385-FE51-64C4-6642-913EBA7032EA}"/>
              </a:ext>
            </a:extLst>
          </p:cNvPr>
          <p:cNvPicPr>
            <a:picLocks noGrp="1" noChangeAspect="1"/>
          </p:cNvPicPr>
          <p:nvPr>
            <p:ph idx="1"/>
          </p:nvPr>
        </p:nvPicPr>
        <p:blipFill>
          <a:blip r:embed="rId2"/>
          <a:stretch>
            <a:fillRect/>
          </a:stretch>
        </p:blipFill>
        <p:spPr>
          <a:xfrm>
            <a:off x="-1708" y="1075421"/>
            <a:ext cx="9177808" cy="44619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62BB8-8509-3FC7-BD49-805AB7494685}"/>
              </a:ext>
            </a:extLst>
          </p:cNvPr>
          <p:cNvSpPr>
            <a:spLocks noGrp="1"/>
          </p:cNvSpPr>
          <p:nvPr>
            <p:ph type="title"/>
          </p:nvPr>
        </p:nvSpPr>
        <p:spPr/>
        <p:txBody>
          <a:bodyPr>
            <a:normAutofit fontScale="90000"/>
          </a:bodyPr>
          <a:lstStyle/>
          <a:p>
            <a:r>
              <a:rPr lang="en-US" dirty="0">
                <a:latin typeface="Arial"/>
                <a:cs typeface="Arial"/>
              </a:rPr>
              <a:t>Disclaimer: Heavily borrowed material from Paul Lewis </a:t>
            </a:r>
            <a:r>
              <a:rPr lang="en-US">
                <a:latin typeface="Arial"/>
                <a:cs typeface="Arial"/>
              </a:rPr>
              <a:t>(UConn)</a:t>
            </a:r>
            <a:endParaRPr lang="en-US">
              <a:cs typeface="Arial"/>
            </a:endParaRPr>
          </a:p>
        </p:txBody>
      </p:sp>
      <p:sp>
        <p:nvSpPr>
          <p:cNvPr id="3" name="Content Placeholder 2">
            <a:extLst>
              <a:ext uri="{FF2B5EF4-FFF2-40B4-BE49-F238E27FC236}">
                <a16:creationId xmlns:a16="http://schemas.microsoft.com/office/drawing/2014/main" id="{3CE75348-2459-04E8-99B3-7DA75491F3A0}"/>
              </a:ext>
            </a:extLst>
          </p:cNvPr>
          <p:cNvSpPr>
            <a:spLocks noGrp="1"/>
          </p:cNvSpPr>
          <p:nvPr>
            <p:ph idx="1"/>
          </p:nvPr>
        </p:nvSpPr>
        <p:spPr/>
        <p:txBody>
          <a:bodyPr vert="horz" lIns="91440" tIns="45720" rIns="91440" bIns="45720" rtlCol="0" anchor="t">
            <a:normAutofit/>
          </a:bodyPr>
          <a:lstStyle/>
          <a:p>
            <a:pPr marL="0" indent="0">
              <a:buNone/>
            </a:pPr>
            <a:r>
              <a:rPr lang="en-US">
                <a:latin typeface="Arial"/>
                <a:cs typeface="Arial"/>
              </a:rPr>
              <a:t>Check out Paul Lewis' website for EXCELLENT teaching materials!</a:t>
            </a:r>
            <a:endParaRPr lang="en-US">
              <a:latin typeface="Arial"/>
              <a:cs typeface="Arial" panose="020B0604020202020204" pitchFamily="34" charset="0"/>
            </a:endParaRPr>
          </a:p>
        </p:txBody>
      </p:sp>
      <p:pic>
        <p:nvPicPr>
          <p:cNvPr id="4" name="Picture 3" descr="A screenshot of a online phyloseminar by Paul Lewis on Trees and Likelihood. ">
            <a:extLst>
              <a:ext uri="{FF2B5EF4-FFF2-40B4-BE49-F238E27FC236}">
                <a16:creationId xmlns:a16="http://schemas.microsoft.com/office/drawing/2014/main" id="{4B3A6205-B3E1-72D9-B41C-F28DF06AE2B1}"/>
              </a:ext>
            </a:extLst>
          </p:cNvPr>
          <p:cNvPicPr>
            <a:picLocks noChangeAspect="1"/>
          </p:cNvPicPr>
          <p:nvPr/>
        </p:nvPicPr>
        <p:blipFill>
          <a:blip r:embed="rId2"/>
          <a:srcRect/>
          <a:stretch>
            <a:fillRect/>
          </a:stretch>
        </p:blipFill>
        <p:spPr>
          <a:xfrm>
            <a:off x="4567506" y="2563586"/>
            <a:ext cx="4269605" cy="3720636"/>
          </a:xfrm>
          <a:prstGeom prst="rect">
            <a:avLst/>
          </a:prstGeom>
        </p:spPr>
      </p:pic>
    </p:spTree>
    <p:extLst>
      <p:ext uri="{BB962C8B-B14F-4D97-AF65-F5344CB8AC3E}">
        <p14:creationId xmlns:p14="http://schemas.microsoft.com/office/powerpoint/2010/main" val="1752669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D1EBC-1E7E-7D05-C2EF-5A4221720A1C}"/>
              </a:ext>
            </a:extLst>
          </p:cNvPr>
          <p:cNvSpPr>
            <a:spLocks noGrp="1"/>
          </p:cNvSpPr>
          <p:nvPr>
            <p:ph type="title"/>
          </p:nvPr>
        </p:nvSpPr>
        <p:spPr/>
        <p:txBody>
          <a:bodyPr>
            <a:noAutofit/>
          </a:bodyPr>
          <a:lstStyle/>
          <a:p>
            <a:r>
              <a:rPr lang="en-US" sz="3600" dirty="0">
                <a:latin typeface="Arial"/>
                <a:cs typeface="Arial"/>
              </a:rPr>
              <a:t>If two DNA sequences are unrelated, what percent of bases </a:t>
            </a:r>
            <a:r>
              <a:rPr lang="en-US" sz="3600">
                <a:latin typeface="Arial"/>
                <a:cs typeface="Arial"/>
              </a:rPr>
              <a:t>(aligned sites) do you expect to be identical?</a:t>
            </a:r>
            <a:endParaRPr lang="en-US" sz="3600"/>
          </a:p>
        </p:txBody>
      </p:sp>
      <p:sp>
        <p:nvSpPr>
          <p:cNvPr id="3" name="Content Placeholder 2">
            <a:extLst>
              <a:ext uri="{FF2B5EF4-FFF2-40B4-BE49-F238E27FC236}">
                <a16:creationId xmlns:a16="http://schemas.microsoft.com/office/drawing/2014/main" id="{1EE0AEA3-9E42-F99A-5012-977DF2F634E1}"/>
              </a:ext>
            </a:extLst>
          </p:cNvPr>
          <p:cNvSpPr>
            <a:spLocks noGrp="1"/>
          </p:cNvSpPr>
          <p:nvPr>
            <p:ph idx="1"/>
          </p:nvPr>
        </p:nvSpPr>
        <p:spPr>
          <a:xfrm>
            <a:off x="628651" y="2577501"/>
            <a:ext cx="7886712" cy="4055152"/>
          </a:xfrm>
        </p:spPr>
        <p:txBody>
          <a:bodyPr vert="horz" lIns="91440" tIns="45720" rIns="91440" bIns="45720" rtlCol="0" anchor="t">
            <a:normAutofit/>
          </a:bodyPr>
          <a:lstStyle/>
          <a:p>
            <a:pPr marL="514350" indent="-514350">
              <a:buAutoNum type="alphaUcPeriod"/>
            </a:pPr>
            <a:r>
              <a:rPr lang="en-US" sz="4000">
                <a:latin typeface="Arial"/>
                <a:cs typeface="Arial"/>
              </a:rPr>
              <a:t>50%</a:t>
            </a:r>
            <a:endParaRPr lang="en-US" sz="4000" dirty="0">
              <a:cs typeface="Arial"/>
            </a:endParaRPr>
          </a:p>
          <a:p>
            <a:pPr marL="514350" indent="-514350">
              <a:buAutoNum type="alphaUcPeriod"/>
            </a:pPr>
            <a:r>
              <a:rPr lang="en-US" sz="4000">
                <a:latin typeface="Arial"/>
                <a:cs typeface="Arial"/>
              </a:rPr>
              <a:t>25%</a:t>
            </a:r>
            <a:endParaRPr lang="en-US" sz="4000" dirty="0">
              <a:cs typeface="Arial"/>
            </a:endParaRPr>
          </a:p>
          <a:p>
            <a:pPr marL="514350" indent="-514350">
              <a:buAutoNum type="alphaUcPeriod"/>
            </a:pPr>
            <a:r>
              <a:rPr lang="en-US" sz="4000">
                <a:latin typeface="Arial"/>
                <a:cs typeface="Arial"/>
              </a:rPr>
              <a:t>0%</a:t>
            </a:r>
            <a:endParaRPr lang="en-US" sz="4000" dirty="0">
              <a:latin typeface="Arial"/>
              <a:cs typeface="Arial"/>
            </a:endParaRPr>
          </a:p>
          <a:p>
            <a:pPr marL="514350" indent="-514350">
              <a:buAutoNum type="alphaUcPeriod"/>
            </a:pPr>
            <a:r>
              <a:rPr lang="en-US" sz="4000">
                <a:latin typeface="Arial"/>
                <a:cs typeface="Arial"/>
              </a:rPr>
              <a:t>I need more information</a:t>
            </a:r>
            <a:endParaRPr lang="en-US" sz="4000" dirty="0">
              <a:cs typeface="Arial"/>
            </a:endParaRPr>
          </a:p>
        </p:txBody>
      </p:sp>
    </p:spTree>
    <p:extLst>
      <p:ext uri="{BB962C8B-B14F-4D97-AF65-F5344CB8AC3E}">
        <p14:creationId xmlns:p14="http://schemas.microsoft.com/office/powerpoint/2010/main" val="2914246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E9B2-8B2E-8FEC-6DA6-859DBC6B58BA}"/>
              </a:ext>
            </a:extLst>
          </p:cNvPr>
          <p:cNvSpPr>
            <a:spLocks noGrp="1"/>
          </p:cNvSpPr>
          <p:nvPr>
            <p:ph type="title"/>
          </p:nvPr>
        </p:nvSpPr>
        <p:spPr/>
        <p:txBody>
          <a:bodyPr/>
          <a:lstStyle/>
          <a:p>
            <a:r>
              <a:rPr lang="en-US">
                <a:latin typeface="Arial"/>
                <a:cs typeface="Arial"/>
              </a:rPr>
              <a:t>Why do we need statistics and probability?</a:t>
            </a:r>
            <a:endParaRPr lang="en-US"/>
          </a:p>
        </p:txBody>
      </p:sp>
      <p:pic>
        <p:nvPicPr>
          <p:cNvPr id="4" name="Content Placeholder 3" descr="A DNA saturation plot showing &quot;genetic distance&quot; on the X-axis and &quot;Differences&quot; on the Y-axis. The points of data show a plateau representing saturation of changes.">
            <a:extLst>
              <a:ext uri="{FF2B5EF4-FFF2-40B4-BE49-F238E27FC236}">
                <a16:creationId xmlns:a16="http://schemas.microsoft.com/office/drawing/2014/main" id="{ECE091F9-BF78-DD52-F4F4-549FE9820989}"/>
              </a:ext>
            </a:extLst>
          </p:cNvPr>
          <p:cNvPicPr>
            <a:picLocks noGrp="1" noChangeAspect="1"/>
          </p:cNvPicPr>
          <p:nvPr>
            <p:ph idx="1"/>
          </p:nvPr>
        </p:nvPicPr>
        <p:blipFill>
          <a:blip r:embed="rId2"/>
          <a:srcRect r="-96"/>
          <a:stretch>
            <a:fillRect/>
          </a:stretch>
        </p:blipFill>
        <p:spPr>
          <a:xfrm>
            <a:off x="941407" y="2045874"/>
            <a:ext cx="7571615" cy="4693104"/>
          </a:xfrm>
          <a:prstGeom prst="rect">
            <a:avLst/>
          </a:prstGeom>
        </p:spPr>
      </p:pic>
    </p:spTree>
    <p:extLst>
      <p:ext uri="{BB962C8B-B14F-4D97-AF65-F5344CB8AC3E}">
        <p14:creationId xmlns:p14="http://schemas.microsoft.com/office/powerpoint/2010/main" val="2120380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7DC75-C228-2E0E-27EA-0080EBC54132}"/>
              </a:ext>
            </a:extLst>
          </p:cNvPr>
          <p:cNvSpPr>
            <a:spLocks noGrp="1"/>
          </p:cNvSpPr>
          <p:nvPr>
            <p:ph type="title"/>
          </p:nvPr>
        </p:nvSpPr>
        <p:spPr>
          <a:xfrm>
            <a:off x="5888" y="160070"/>
            <a:ext cx="3215980" cy="1340754"/>
          </a:xfrm>
        </p:spPr>
        <p:txBody>
          <a:bodyPr>
            <a:normAutofit fontScale="90000"/>
          </a:bodyPr>
          <a:lstStyle/>
          <a:p>
            <a:r>
              <a:rPr lang="en-US">
                <a:latin typeface="Arial"/>
                <a:cs typeface="Arial"/>
              </a:rPr>
              <a:t>Long branch attraction</a:t>
            </a:r>
            <a:endParaRPr lang="en-US"/>
          </a:p>
        </p:txBody>
      </p:sp>
      <p:grpSp>
        <p:nvGrpSpPr>
          <p:cNvPr id="11" name="Group 10" descr="A 3 panel figure showing a true tree quartet with two long branches leading to taxa A and D producing a 4 species DNA alignment with arrows pointing to an inferred quartet with A and D forming a bipartition, despite not in the original tree.">
            <a:extLst>
              <a:ext uri="{FF2B5EF4-FFF2-40B4-BE49-F238E27FC236}">
                <a16:creationId xmlns:a16="http://schemas.microsoft.com/office/drawing/2014/main" id="{6FDC3816-9507-2C24-DC78-80D8F8449037}"/>
              </a:ext>
            </a:extLst>
          </p:cNvPr>
          <p:cNvGrpSpPr/>
          <p:nvPr/>
        </p:nvGrpSpPr>
        <p:grpSpPr>
          <a:xfrm>
            <a:off x="15240" y="1506220"/>
            <a:ext cx="8934450" cy="5212080"/>
            <a:chOff x="15240" y="1506220"/>
            <a:chExt cx="8934450" cy="5212080"/>
          </a:xfrm>
        </p:grpSpPr>
        <p:pic>
          <p:nvPicPr>
            <p:cNvPr id="6" name="Picture 5">
              <a:extLst>
                <a:ext uri="{FF2B5EF4-FFF2-40B4-BE49-F238E27FC236}">
                  <a16:creationId xmlns:a16="http://schemas.microsoft.com/office/drawing/2014/main" id="{7078C0D0-B2A9-DE2D-D904-CBE77C9C906B}"/>
                </a:ext>
              </a:extLst>
            </p:cNvPr>
            <p:cNvPicPr>
              <a:picLocks noChangeAspect="1"/>
            </p:cNvPicPr>
            <p:nvPr/>
          </p:nvPicPr>
          <p:blipFill>
            <a:blip r:embed="rId2"/>
            <a:stretch>
              <a:fillRect/>
            </a:stretch>
          </p:blipFill>
          <p:spPr>
            <a:xfrm>
              <a:off x="70485" y="1506220"/>
              <a:ext cx="3536950" cy="2119630"/>
            </a:xfrm>
            <a:prstGeom prst="rect">
              <a:avLst/>
            </a:prstGeom>
          </p:spPr>
        </p:pic>
        <p:pic>
          <p:nvPicPr>
            <p:cNvPr id="7" name="Picture 6">
              <a:extLst>
                <a:ext uri="{FF2B5EF4-FFF2-40B4-BE49-F238E27FC236}">
                  <a16:creationId xmlns:a16="http://schemas.microsoft.com/office/drawing/2014/main" id="{BC0AD73B-A859-E707-E3F6-99F177D0DBB5}"/>
                </a:ext>
              </a:extLst>
            </p:cNvPr>
            <p:cNvPicPr>
              <a:picLocks noChangeAspect="1"/>
            </p:cNvPicPr>
            <p:nvPr/>
          </p:nvPicPr>
          <p:blipFill>
            <a:blip r:embed="rId3"/>
            <a:stretch>
              <a:fillRect/>
            </a:stretch>
          </p:blipFill>
          <p:spPr>
            <a:xfrm>
              <a:off x="3980815" y="5033010"/>
              <a:ext cx="4968875" cy="838835"/>
            </a:xfrm>
            <a:prstGeom prst="rect">
              <a:avLst/>
            </a:prstGeom>
          </p:spPr>
        </p:pic>
        <p:sp>
          <p:nvSpPr>
            <p:cNvPr id="8" name="Right Arrow 6">
              <a:extLst>
                <a:ext uri="{FF2B5EF4-FFF2-40B4-BE49-F238E27FC236}">
                  <a16:creationId xmlns:a16="http://schemas.microsoft.com/office/drawing/2014/main" id="{7C84F961-2001-4203-09ED-B477B04414FD}"/>
                </a:ext>
              </a:extLst>
            </p:cNvPr>
            <p:cNvSpPr/>
            <p:nvPr/>
          </p:nvSpPr>
          <p:spPr>
            <a:xfrm rot="2760000">
              <a:off x="2826385" y="3419475"/>
              <a:ext cx="2623820" cy="809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2291BB9-282F-766C-30B4-EDC00432A8ED}"/>
                </a:ext>
              </a:extLst>
            </p:cNvPr>
            <p:cNvPicPr>
              <a:picLocks noChangeAspect="1"/>
            </p:cNvPicPr>
            <p:nvPr/>
          </p:nvPicPr>
          <p:blipFill>
            <a:blip r:embed="rId4"/>
            <a:stretch>
              <a:fillRect/>
            </a:stretch>
          </p:blipFill>
          <p:spPr>
            <a:xfrm>
              <a:off x="15240" y="3925570"/>
              <a:ext cx="3338195" cy="2792730"/>
            </a:xfrm>
            <a:prstGeom prst="rect">
              <a:avLst/>
            </a:prstGeom>
          </p:spPr>
        </p:pic>
        <p:sp>
          <p:nvSpPr>
            <p:cNvPr id="10" name="Right Arrow 8">
              <a:extLst>
                <a:ext uri="{FF2B5EF4-FFF2-40B4-BE49-F238E27FC236}">
                  <a16:creationId xmlns:a16="http://schemas.microsoft.com/office/drawing/2014/main" id="{64823429-CF17-A2F4-5233-33861BCF460C}"/>
                </a:ext>
              </a:extLst>
            </p:cNvPr>
            <p:cNvSpPr/>
            <p:nvPr/>
          </p:nvSpPr>
          <p:spPr>
            <a:xfrm rot="10800000">
              <a:off x="3065145" y="4937125"/>
              <a:ext cx="797560" cy="863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Content Placeholder 3" descr="A screenshot of Felsenstien's &quot;Cases in which parsimony or compatibility methods will be positively misleading&quot; including the abstract.">
            <a:extLst>
              <a:ext uri="{FF2B5EF4-FFF2-40B4-BE49-F238E27FC236}">
                <a16:creationId xmlns:a16="http://schemas.microsoft.com/office/drawing/2014/main" id="{03E7C1DD-27BE-ABDE-449C-C7B195DB2985}"/>
              </a:ext>
            </a:extLst>
          </p:cNvPr>
          <p:cNvPicPr>
            <a:picLocks noChangeAspect="1"/>
          </p:cNvPicPr>
          <p:nvPr/>
        </p:nvPicPr>
        <p:blipFill>
          <a:blip r:embed="rId5"/>
          <a:stretch>
            <a:fillRect/>
          </a:stretch>
        </p:blipFill>
        <p:spPr>
          <a:xfrm>
            <a:off x="4122988" y="197002"/>
            <a:ext cx="4821849" cy="2614823"/>
          </a:xfrm>
          <a:prstGeom prst="rect">
            <a:avLst/>
          </a:prstGeom>
        </p:spPr>
      </p:pic>
    </p:spTree>
    <p:extLst>
      <p:ext uri="{BB962C8B-B14F-4D97-AF65-F5344CB8AC3E}">
        <p14:creationId xmlns:p14="http://schemas.microsoft.com/office/powerpoint/2010/main" val="290767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29CD-EF08-55F0-8455-F77F2E3BC415}"/>
              </a:ext>
            </a:extLst>
          </p:cNvPr>
          <p:cNvSpPr>
            <a:spLocks noGrp="1"/>
          </p:cNvSpPr>
          <p:nvPr>
            <p:ph type="title"/>
          </p:nvPr>
        </p:nvSpPr>
        <p:spPr>
          <a:xfrm>
            <a:off x="-1708" y="581"/>
            <a:ext cx="7886712" cy="1325565"/>
          </a:xfrm>
        </p:spPr>
        <p:txBody>
          <a:bodyPr/>
          <a:lstStyle/>
          <a:p>
            <a:r>
              <a:rPr lang="en-US">
                <a:latin typeface="Arial"/>
                <a:cs typeface="Arial"/>
              </a:rPr>
              <a:t>Conditional probabilities </a:t>
            </a:r>
            <a:endParaRPr lang="en-US"/>
          </a:p>
        </p:txBody>
      </p:sp>
      <p:sp>
        <p:nvSpPr>
          <p:cNvPr id="3" name="Content Placeholder 2">
            <a:extLst>
              <a:ext uri="{FF2B5EF4-FFF2-40B4-BE49-F238E27FC236}">
                <a16:creationId xmlns:a16="http://schemas.microsoft.com/office/drawing/2014/main" id="{C9F9B14D-E7BD-3C13-F108-9F8C1EC3F674}"/>
              </a:ext>
            </a:extLst>
          </p:cNvPr>
          <p:cNvSpPr>
            <a:spLocks noGrp="1"/>
          </p:cNvSpPr>
          <p:nvPr>
            <p:ph idx="1"/>
          </p:nvPr>
        </p:nvSpPr>
        <p:spPr>
          <a:xfrm>
            <a:off x="628651" y="5288804"/>
            <a:ext cx="7886712" cy="1207145"/>
          </a:xfrm>
        </p:spPr>
        <p:txBody>
          <a:bodyPr vert="horz" lIns="91440" tIns="45720" rIns="91440" bIns="45720" rtlCol="0" anchor="t">
            <a:normAutofit lnSpcReduction="10000"/>
          </a:bodyPr>
          <a:lstStyle/>
          <a:p>
            <a:pPr marL="0" indent="0">
              <a:buNone/>
            </a:pPr>
            <a:r>
              <a:rPr lang="en-US" dirty="0">
                <a:latin typeface="Arial"/>
                <a:cs typeface="Arial"/>
              </a:rPr>
              <a:t>Read as: The probability of this alignment (the data) </a:t>
            </a:r>
            <a:r>
              <a:rPr lang="en-US">
                <a:latin typeface="Arial"/>
                <a:cs typeface="Arial"/>
              </a:rPr>
              <a:t>GIVEN</a:t>
            </a:r>
            <a:r>
              <a:rPr lang="en-US" dirty="0">
                <a:latin typeface="Arial"/>
                <a:cs typeface="Arial"/>
              </a:rPr>
              <a:t> or CONDITIONAL UPON this being the true tree.</a:t>
            </a:r>
            <a:endParaRPr lang="en-US" dirty="0">
              <a:cs typeface="Arial" panose="020B0604020202020204" pitchFamily="34" charset="0"/>
            </a:endParaRPr>
          </a:p>
        </p:txBody>
      </p:sp>
      <p:pic>
        <p:nvPicPr>
          <p:cNvPr id="5" name="Picture 4" descr="P( alignment | tree A)">
            <a:extLst>
              <a:ext uri="{FF2B5EF4-FFF2-40B4-BE49-F238E27FC236}">
                <a16:creationId xmlns:a16="http://schemas.microsoft.com/office/drawing/2014/main" id="{9214CD5C-E6EE-7A11-C2BC-E82FCEB4A141}"/>
              </a:ext>
            </a:extLst>
          </p:cNvPr>
          <p:cNvPicPr>
            <a:picLocks noChangeAspect="1"/>
          </p:cNvPicPr>
          <p:nvPr/>
        </p:nvPicPr>
        <p:blipFill>
          <a:blip r:embed="rId2"/>
          <a:stretch>
            <a:fillRect/>
          </a:stretch>
        </p:blipFill>
        <p:spPr>
          <a:xfrm>
            <a:off x="5360265" y="1322156"/>
            <a:ext cx="2536825" cy="1520190"/>
          </a:xfrm>
          <a:prstGeom prst="rect">
            <a:avLst/>
          </a:prstGeom>
        </p:spPr>
      </p:pic>
      <p:pic>
        <p:nvPicPr>
          <p:cNvPr id="7" name="Picture 6" descr="An alternative tree hypothesis">
            <a:extLst>
              <a:ext uri="{FF2B5EF4-FFF2-40B4-BE49-F238E27FC236}">
                <a16:creationId xmlns:a16="http://schemas.microsoft.com/office/drawing/2014/main" id="{F6BC4793-CE0D-C192-C0AB-8CB458DE0A35}"/>
              </a:ext>
            </a:extLst>
          </p:cNvPr>
          <p:cNvPicPr>
            <a:picLocks noChangeAspect="1"/>
          </p:cNvPicPr>
          <p:nvPr/>
        </p:nvPicPr>
        <p:blipFill>
          <a:blip r:embed="rId3"/>
          <a:stretch>
            <a:fillRect/>
          </a:stretch>
        </p:blipFill>
        <p:spPr>
          <a:xfrm>
            <a:off x="5515610" y="3260725"/>
            <a:ext cx="2259965" cy="1891030"/>
          </a:xfrm>
          <a:prstGeom prst="rect">
            <a:avLst/>
          </a:prstGeom>
        </p:spPr>
      </p:pic>
      <p:sp>
        <p:nvSpPr>
          <p:cNvPr id="9" name="Title 1" descr="P( alignment | tree A)">
            <a:extLst>
              <a:ext uri="{FF2B5EF4-FFF2-40B4-BE49-F238E27FC236}">
                <a16:creationId xmlns:a16="http://schemas.microsoft.com/office/drawing/2014/main" id="{E0C604BA-5320-AF93-5816-586324B53E14}"/>
              </a:ext>
            </a:extLst>
          </p:cNvPr>
          <p:cNvSpPr txBox="1">
            <a:spLocks/>
          </p:cNvSpPr>
          <p:nvPr/>
        </p:nvSpPr>
        <p:spPr>
          <a:xfrm>
            <a:off x="646026" y="1516467"/>
            <a:ext cx="7886712" cy="13255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r>
              <a:rPr lang="x-none" altLang="en-US" sz="8000"/>
              <a:t>P(            |         )</a:t>
            </a:r>
          </a:p>
        </p:txBody>
      </p:sp>
      <p:pic>
        <p:nvPicPr>
          <p:cNvPr id="11" name="Content Placeholder 5" descr="The alignment">
            <a:extLst>
              <a:ext uri="{FF2B5EF4-FFF2-40B4-BE49-F238E27FC236}">
                <a16:creationId xmlns:a16="http://schemas.microsoft.com/office/drawing/2014/main" id="{0A4B6E5F-F1DD-974E-2170-4D73FC405D96}"/>
              </a:ext>
            </a:extLst>
          </p:cNvPr>
          <p:cNvPicPr>
            <a:picLocks noChangeAspect="1"/>
          </p:cNvPicPr>
          <p:nvPr/>
        </p:nvPicPr>
        <p:blipFill>
          <a:blip r:embed="rId4"/>
          <a:srcRect l="19712"/>
          <a:stretch>
            <a:fillRect/>
          </a:stretch>
        </p:blipFill>
        <p:spPr>
          <a:xfrm>
            <a:off x="1691870" y="1818091"/>
            <a:ext cx="2928620" cy="722630"/>
          </a:xfrm>
          <a:prstGeom prst="rect">
            <a:avLst/>
          </a:prstGeom>
        </p:spPr>
      </p:pic>
      <p:sp>
        <p:nvSpPr>
          <p:cNvPr id="13" name="Title 1" descr="P( alignment | tree B)">
            <a:extLst>
              <a:ext uri="{FF2B5EF4-FFF2-40B4-BE49-F238E27FC236}">
                <a16:creationId xmlns:a16="http://schemas.microsoft.com/office/drawing/2014/main" id="{C46F4236-73AE-75F3-4912-315E2CE294E6}"/>
              </a:ext>
            </a:extLst>
          </p:cNvPr>
          <p:cNvSpPr>
            <a:spLocks noGrp="1"/>
          </p:cNvSpPr>
          <p:nvPr/>
        </p:nvSpPr>
        <p:spPr>
          <a:xfrm>
            <a:off x="648336" y="3467101"/>
            <a:ext cx="7886712" cy="13255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r>
              <a:rPr lang="x-none" altLang="en-US" sz="8000"/>
              <a:t>P(            |         )</a:t>
            </a:r>
          </a:p>
        </p:txBody>
      </p:sp>
      <p:pic>
        <p:nvPicPr>
          <p:cNvPr id="15" name="Content Placeholder 5" descr="The alignment">
            <a:extLst>
              <a:ext uri="{FF2B5EF4-FFF2-40B4-BE49-F238E27FC236}">
                <a16:creationId xmlns:a16="http://schemas.microsoft.com/office/drawing/2014/main" id="{4D8A0987-07F2-8AA3-AC65-7706EE5EFF68}"/>
              </a:ext>
            </a:extLst>
          </p:cNvPr>
          <p:cNvPicPr>
            <a:picLocks noChangeAspect="1"/>
          </p:cNvPicPr>
          <p:nvPr/>
        </p:nvPicPr>
        <p:blipFill>
          <a:blip r:embed="rId4"/>
          <a:srcRect l="19712"/>
          <a:stretch>
            <a:fillRect/>
          </a:stretch>
        </p:blipFill>
        <p:spPr>
          <a:xfrm>
            <a:off x="1838960" y="3768725"/>
            <a:ext cx="3029585" cy="722630"/>
          </a:xfrm>
          <a:prstGeom prst="rect">
            <a:avLst/>
          </a:prstGeom>
        </p:spPr>
      </p:pic>
    </p:spTree>
    <p:extLst>
      <p:ext uri="{BB962C8B-B14F-4D97-AF65-F5344CB8AC3E}">
        <p14:creationId xmlns:p14="http://schemas.microsoft.com/office/powerpoint/2010/main" val="140764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CB6C8-0B95-4B85-6DD0-4BB7EA24A802}"/>
              </a:ext>
            </a:extLst>
          </p:cNvPr>
          <p:cNvSpPr>
            <a:spLocks noGrp="1"/>
          </p:cNvSpPr>
          <p:nvPr>
            <p:ph type="title"/>
          </p:nvPr>
        </p:nvSpPr>
        <p:spPr>
          <a:xfrm>
            <a:off x="628651" y="167664"/>
            <a:ext cx="7886712" cy="1325565"/>
          </a:xfrm>
        </p:spPr>
        <p:txBody>
          <a:bodyPr/>
          <a:lstStyle/>
          <a:p>
            <a:pPr algn="ctr"/>
            <a:r>
              <a:rPr lang="en-US" dirty="0">
                <a:latin typeface="Arial"/>
                <a:cs typeface="Arial"/>
              </a:rPr>
              <a:t>How do we treat trees </a:t>
            </a:r>
            <a:r>
              <a:rPr lang="en-US">
                <a:latin typeface="Arial"/>
                <a:cs typeface="Arial"/>
              </a:rPr>
              <a:t>probabilistically?</a:t>
            </a:r>
            <a:endParaRPr lang="en-US"/>
          </a:p>
        </p:txBody>
      </p:sp>
      <p:sp>
        <p:nvSpPr>
          <p:cNvPr id="3" name="Content Placeholder 2">
            <a:extLst>
              <a:ext uri="{FF2B5EF4-FFF2-40B4-BE49-F238E27FC236}">
                <a16:creationId xmlns:a16="http://schemas.microsoft.com/office/drawing/2014/main" id="{BFF3F707-131B-53C6-0467-0272CB70EFF9}"/>
              </a:ext>
            </a:extLst>
          </p:cNvPr>
          <p:cNvSpPr>
            <a:spLocks noGrp="1"/>
          </p:cNvSpPr>
          <p:nvPr>
            <p:ph idx="1"/>
          </p:nvPr>
        </p:nvSpPr>
        <p:spPr/>
        <p:txBody>
          <a:bodyPr vert="horz" lIns="91440" tIns="45720" rIns="91440" bIns="45720" rtlCol="0" anchor="t">
            <a:normAutofit/>
          </a:bodyPr>
          <a:lstStyle/>
          <a:p>
            <a:pPr marL="0" indent="0" algn="ctr">
              <a:lnSpc>
                <a:spcPct val="100000"/>
              </a:lnSpc>
              <a:spcBef>
                <a:spcPts val="0"/>
              </a:spcBef>
              <a:buNone/>
            </a:pPr>
            <a:r>
              <a:rPr lang="en-US" sz="1800">
                <a:latin typeface="Segoe UI"/>
                <a:cs typeface="Segoe UI"/>
              </a:rPr>
              <a:t>Let’s simplify to a binary (0/1) trait</a:t>
            </a:r>
          </a:p>
          <a:p>
            <a:pPr marL="0" indent="0" algn="ctr">
              <a:lnSpc>
                <a:spcPct val="100000"/>
              </a:lnSpc>
              <a:spcBef>
                <a:spcPts val="0"/>
              </a:spcBef>
              <a:buNone/>
            </a:pPr>
            <a:r>
              <a:rPr lang="en-US" sz="1800">
                <a:latin typeface="Segoe UI"/>
                <a:cs typeface="Segoe UI"/>
              </a:rPr>
              <a:t>(rather than 4 DNA bases)</a:t>
            </a:r>
          </a:p>
          <a:p>
            <a:pPr marL="0" indent="0">
              <a:buNone/>
            </a:pPr>
            <a:endParaRPr lang="en-US" dirty="0">
              <a:cs typeface="Arial" panose="020B0604020202020204" pitchFamily="34" charset="0"/>
            </a:endParaRPr>
          </a:p>
        </p:txBody>
      </p:sp>
      <p:grpSp>
        <p:nvGrpSpPr>
          <p:cNvPr id="14" name="Group 13" descr="Six faces of a die. 1 and 2 are grouped. The rest (3 to 6) are also grouped.">
            <a:extLst>
              <a:ext uri="{FF2B5EF4-FFF2-40B4-BE49-F238E27FC236}">
                <a16:creationId xmlns:a16="http://schemas.microsoft.com/office/drawing/2014/main" id="{34D4E6EC-9964-9951-9233-EE395A7B1735}"/>
              </a:ext>
            </a:extLst>
          </p:cNvPr>
          <p:cNvGrpSpPr/>
          <p:nvPr/>
        </p:nvGrpSpPr>
        <p:grpSpPr>
          <a:xfrm>
            <a:off x="2781935" y="2962275"/>
            <a:ext cx="3825875" cy="769938"/>
            <a:chOff x="2781935" y="2962275"/>
            <a:chExt cx="3825875" cy="769938"/>
          </a:xfrm>
        </p:grpSpPr>
        <p:pic>
          <p:nvPicPr>
            <p:cNvPr id="6" name="Picture 5">
              <a:extLst>
                <a:ext uri="{FF2B5EF4-FFF2-40B4-BE49-F238E27FC236}">
                  <a16:creationId xmlns:a16="http://schemas.microsoft.com/office/drawing/2014/main" id="{54045377-764E-A977-A670-0C4A6A9BFC65}"/>
                </a:ext>
              </a:extLst>
            </p:cNvPr>
            <p:cNvPicPr>
              <a:picLocks noChangeAspect="1"/>
            </p:cNvPicPr>
            <p:nvPr/>
          </p:nvPicPr>
          <p:blipFill>
            <a:blip r:embed="rId2"/>
            <a:stretch>
              <a:fillRect/>
            </a:stretch>
          </p:blipFill>
          <p:spPr>
            <a:xfrm>
              <a:off x="2782570" y="2978150"/>
              <a:ext cx="553085" cy="588010"/>
            </a:xfrm>
            <a:prstGeom prst="rect">
              <a:avLst/>
            </a:prstGeom>
          </p:spPr>
        </p:pic>
        <p:pic>
          <p:nvPicPr>
            <p:cNvPr id="7" name="Picture 6">
              <a:extLst>
                <a:ext uri="{FF2B5EF4-FFF2-40B4-BE49-F238E27FC236}">
                  <a16:creationId xmlns:a16="http://schemas.microsoft.com/office/drawing/2014/main" id="{EC78E925-E10F-B8E7-759A-072496DC6994}"/>
                </a:ext>
              </a:extLst>
            </p:cNvPr>
            <p:cNvPicPr>
              <a:picLocks noChangeAspect="1"/>
            </p:cNvPicPr>
            <p:nvPr/>
          </p:nvPicPr>
          <p:blipFill>
            <a:blip r:embed="rId3"/>
            <a:stretch>
              <a:fillRect/>
            </a:stretch>
          </p:blipFill>
          <p:spPr>
            <a:xfrm>
              <a:off x="3256915" y="3002915"/>
              <a:ext cx="581025" cy="517525"/>
            </a:xfrm>
            <a:prstGeom prst="rect">
              <a:avLst/>
            </a:prstGeom>
          </p:spPr>
        </p:pic>
        <p:pic>
          <p:nvPicPr>
            <p:cNvPr id="8" name="Picture 7">
              <a:extLst>
                <a:ext uri="{FF2B5EF4-FFF2-40B4-BE49-F238E27FC236}">
                  <a16:creationId xmlns:a16="http://schemas.microsoft.com/office/drawing/2014/main" id="{392FA6B3-ED06-3FA8-5E3C-479C26B77D39}"/>
                </a:ext>
              </a:extLst>
            </p:cNvPr>
            <p:cNvPicPr>
              <a:picLocks noChangeAspect="1"/>
            </p:cNvPicPr>
            <p:nvPr/>
          </p:nvPicPr>
          <p:blipFill>
            <a:blip r:embed="rId4"/>
            <a:stretch>
              <a:fillRect/>
            </a:stretch>
          </p:blipFill>
          <p:spPr>
            <a:xfrm>
              <a:off x="4044315" y="3004820"/>
              <a:ext cx="708660" cy="538480"/>
            </a:xfrm>
            <a:prstGeom prst="rect">
              <a:avLst/>
            </a:prstGeom>
          </p:spPr>
        </p:pic>
        <p:pic>
          <p:nvPicPr>
            <p:cNvPr id="9" name="Picture 8">
              <a:extLst>
                <a:ext uri="{FF2B5EF4-FFF2-40B4-BE49-F238E27FC236}">
                  <a16:creationId xmlns:a16="http://schemas.microsoft.com/office/drawing/2014/main" id="{0A382093-A6A5-DEB2-21DA-2DE49F3899AD}"/>
                </a:ext>
              </a:extLst>
            </p:cNvPr>
            <p:cNvPicPr>
              <a:picLocks noChangeAspect="1"/>
            </p:cNvPicPr>
            <p:nvPr/>
          </p:nvPicPr>
          <p:blipFill>
            <a:blip r:embed="rId5"/>
            <a:stretch>
              <a:fillRect/>
            </a:stretch>
          </p:blipFill>
          <p:spPr>
            <a:xfrm>
              <a:off x="4648835" y="2962275"/>
              <a:ext cx="737235" cy="609600"/>
            </a:xfrm>
            <a:prstGeom prst="rect">
              <a:avLst/>
            </a:prstGeom>
          </p:spPr>
        </p:pic>
        <p:pic>
          <p:nvPicPr>
            <p:cNvPr id="10" name="Picture 9">
              <a:extLst>
                <a:ext uri="{FF2B5EF4-FFF2-40B4-BE49-F238E27FC236}">
                  <a16:creationId xmlns:a16="http://schemas.microsoft.com/office/drawing/2014/main" id="{224CF24C-91F0-B056-B3E8-5777E668B0D7}"/>
                </a:ext>
              </a:extLst>
            </p:cNvPr>
            <p:cNvPicPr>
              <a:picLocks noChangeAspect="1"/>
            </p:cNvPicPr>
            <p:nvPr/>
          </p:nvPicPr>
          <p:blipFill>
            <a:blip r:embed="rId6"/>
            <a:stretch>
              <a:fillRect/>
            </a:stretch>
          </p:blipFill>
          <p:spPr>
            <a:xfrm>
              <a:off x="5315585" y="2999105"/>
              <a:ext cx="737235" cy="595630"/>
            </a:xfrm>
            <a:prstGeom prst="rect">
              <a:avLst/>
            </a:prstGeom>
          </p:spPr>
        </p:pic>
        <p:pic>
          <p:nvPicPr>
            <p:cNvPr id="11" name="Picture 10">
              <a:extLst>
                <a:ext uri="{FF2B5EF4-FFF2-40B4-BE49-F238E27FC236}">
                  <a16:creationId xmlns:a16="http://schemas.microsoft.com/office/drawing/2014/main" id="{5F1C3D5D-AB2F-1998-1634-8F118401650C}"/>
                </a:ext>
              </a:extLst>
            </p:cNvPr>
            <p:cNvPicPr>
              <a:picLocks noChangeAspect="1"/>
            </p:cNvPicPr>
            <p:nvPr/>
          </p:nvPicPr>
          <p:blipFill>
            <a:blip r:embed="rId7"/>
            <a:stretch>
              <a:fillRect/>
            </a:stretch>
          </p:blipFill>
          <p:spPr>
            <a:xfrm>
              <a:off x="5856605" y="2972435"/>
              <a:ext cx="751205" cy="673100"/>
            </a:xfrm>
            <a:prstGeom prst="rect">
              <a:avLst/>
            </a:prstGeom>
          </p:spPr>
        </p:pic>
        <p:sp>
          <p:nvSpPr>
            <p:cNvPr id="12" name="Left Brace 11">
              <a:extLst>
                <a:ext uri="{FF2B5EF4-FFF2-40B4-BE49-F238E27FC236}">
                  <a16:creationId xmlns:a16="http://schemas.microsoft.com/office/drawing/2014/main" id="{FB786A54-752D-8B51-07DD-6B887440DEC4}"/>
                </a:ext>
              </a:extLst>
            </p:cNvPr>
            <p:cNvSpPr/>
            <p:nvPr/>
          </p:nvSpPr>
          <p:spPr>
            <a:xfrm rot="16140000">
              <a:off x="3171190" y="3161030"/>
              <a:ext cx="173990" cy="952500"/>
            </a:xfrm>
            <a:prstGeom prst="leftBrace">
              <a:avLst>
                <a:gd name="adj1" fmla="val 8333"/>
                <a:gd name="adj2" fmla="val 49979"/>
              </a:avLst>
            </a:prstGeom>
            <a:ln w="603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DE0900FF-BC55-0E68-448B-52F3C14C8D97}"/>
                </a:ext>
              </a:extLst>
            </p:cNvPr>
            <p:cNvSpPr/>
            <p:nvPr/>
          </p:nvSpPr>
          <p:spPr>
            <a:xfrm rot="16200000">
              <a:off x="5257165" y="2496185"/>
              <a:ext cx="173990" cy="2298065"/>
            </a:xfrm>
            <a:prstGeom prst="leftBrace">
              <a:avLst>
                <a:gd name="adj1" fmla="val 8333"/>
                <a:gd name="adj2" fmla="val 49979"/>
              </a:avLst>
            </a:prstGeom>
            <a:ln w="603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6" name="Text Box 9">
            <a:extLst>
              <a:ext uri="{FF2B5EF4-FFF2-40B4-BE49-F238E27FC236}">
                <a16:creationId xmlns:a16="http://schemas.microsoft.com/office/drawing/2014/main" id="{08D82B48-E7F2-84B9-3592-8EDE1BA82EBD}"/>
              </a:ext>
            </a:extLst>
          </p:cNvPr>
          <p:cNvSpPr txBox="1"/>
          <p:nvPr/>
        </p:nvSpPr>
        <p:spPr>
          <a:xfrm>
            <a:off x="2288007" y="3999154"/>
            <a:ext cx="2014272" cy="922020"/>
          </a:xfrm>
          <a:prstGeom prst="rect">
            <a:avLst/>
          </a:prstGeom>
          <a:noFill/>
        </p:spPr>
        <p:txBody>
          <a:bodyPr wrap="square" lIns="91440" tIns="45720" rIns="91440" bIns="45720" rtlCol="0" anchor="t">
            <a:spAutoFit/>
          </a:bodyPr>
          <a:lstStyle/>
          <a:p>
            <a:pPr algn="ctr"/>
            <a:r>
              <a:rPr lang="x-none" altLang="en-US">
                <a:latin typeface="Open Sans Condensed"/>
                <a:cs typeface="Open Sans Condensed" panose="020B0806030504020204" charset="0"/>
              </a:rPr>
              <a:t>If 1 or 2 come up, </a:t>
            </a:r>
            <a:r>
              <a:rPr lang="en-US" altLang="x-none" dirty="0">
                <a:latin typeface="Open Sans Condensed"/>
                <a:cs typeface="Open Sans Condensed" panose="020B0806030504020204" charset="0"/>
              </a:rPr>
              <a:t>a substitution occurs</a:t>
            </a:r>
          </a:p>
        </p:txBody>
      </p:sp>
      <p:sp>
        <p:nvSpPr>
          <p:cNvPr id="18" name="Text Box 10">
            <a:extLst>
              <a:ext uri="{FF2B5EF4-FFF2-40B4-BE49-F238E27FC236}">
                <a16:creationId xmlns:a16="http://schemas.microsoft.com/office/drawing/2014/main" id="{6957CB41-7EE8-7297-A86E-C81D0ECDB32F}"/>
              </a:ext>
            </a:extLst>
          </p:cNvPr>
          <p:cNvSpPr txBox="1"/>
          <p:nvPr/>
        </p:nvSpPr>
        <p:spPr>
          <a:xfrm>
            <a:off x="4439920" y="3972560"/>
            <a:ext cx="2264897" cy="646331"/>
          </a:xfrm>
          <a:prstGeom prst="rect">
            <a:avLst/>
          </a:prstGeom>
          <a:noFill/>
        </p:spPr>
        <p:txBody>
          <a:bodyPr wrap="square" lIns="91440" tIns="45720" rIns="91440" bIns="45720" rtlCol="0" anchor="t">
            <a:spAutoFit/>
          </a:bodyPr>
          <a:lstStyle/>
          <a:p>
            <a:pPr algn="ctr"/>
            <a:r>
              <a:rPr lang="x-none" altLang="en-US">
                <a:latin typeface="Open Sans Condensed"/>
                <a:cs typeface="Open Sans Condensed" panose="020B0806030504020204" charset="0"/>
              </a:rPr>
              <a:t>Otherwise, </a:t>
            </a:r>
            <a:r>
              <a:rPr lang="en-US" altLang="x-none">
                <a:latin typeface="Open Sans Condensed"/>
                <a:cs typeface="Open Sans Condensed" panose="020B0806030504020204" charset="0"/>
              </a:rPr>
              <a:t>no substitution occured</a:t>
            </a:r>
          </a:p>
        </p:txBody>
      </p:sp>
      <p:pic>
        <p:nvPicPr>
          <p:cNvPr id="19" name="Picture 18" descr="A coin showing alternate heads and tails faces.">
            <a:extLst>
              <a:ext uri="{FF2B5EF4-FFF2-40B4-BE49-F238E27FC236}">
                <a16:creationId xmlns:a16="http://schemas.microsoft.com/office/drawing/2014/main" id="{977BB3A2-B106-7360-7B74-540D67D8B97F}"/>
              </a:ext>
            </a:extLst>
          </p:cNvPr>
          <p:cNvPicPr>
            <a:picLocks noChangeAspect="1"/>
          </p:cNvPicPr>
          <p:nvPr/>
        </p:nvPicPr>
        <p:blipFill>
          <a:blip r:embed="rId8"/>
          <a:stretch>
            <a:fillRect/>
          </a:stretch>
        </p:blipFill>
        <p:spPr>
          <a:xfrm>
            <a:off x="2331950" y="5547843"/>
            <a:ext cx="1966391" cy="1310919"/>
          </a:xfrm>
          <a:prstGeom prst="rect">
            <a:avLst/>
          </a:prstGeom>
        </p:spPr>
      </p:pic>
      <p:sp>
        <p:nvSpPr>
          <p:cNvPr id="20" name="Down Arrow 2">
            <a:extLst>
              <a:ext uri="{FF2B5EF4-FFF2-40B4-BE49-F238E27FC236}">
                <a16:creationId xmlns:a16="http://schemas.microsoft.com/office/drawing/2014/main" id="{5586D1EB-E60D-FEA1-E1C3-ACF9D71B2F3E}"/>
              </a:ext>
            </a:extLst>
          </p:cNvPr>
          <p:cNvSpPr/>
          <p:nvPr/>
        </p:nvSpPr>
        <p:spPr>
          <a:xfrm>
            <a:off x="2922703" y="5048783"/>
            <a:ext cx="746912" cy="6969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 Box 12">
            <a:extLst>
              <a:ext uri="{FF2B5EF4-FFF2-40B4-BE49-F238E27FC236}">
                <a16:creationId xmlns:a16="http://schemas.microsoft.com/office/drawing/2014/main" id="{50BDAD55-1864-F096-0BCD-2D235FC114E8}"/>
              </a:ext>
            </a:extLst>
          </p:cNvPr>
          <p:cNvSpPr txBox="1"/>
          <p:nvPr/>
        </p:nvSpPr>
        <p:spPr>
          <a:xfrm>
            <a:off x="4252595" y="5738495"/>
            <a:ext cx="3100070" cy="922020"/>
          </a:xfrm>
          <a:prstGeom prst="rect">
            <a:avLst/>
          </a:prstGeom>
          <a:noFill/>
        </p:spPr>
        <p:txBody>
          <a:bodyPr wrap="square" rtlCol="0">
            <a:spAutoFit/>
          </a:bodyPr>
          <a:lstStyle/>
          <a:p>
            <a:pPr algn="ctr"/>
            <a:r>
              <a:rPr lang="en-US" altLang="x-none">
                <a:latin typeface="Open Sans Condensed" panose="020B0806030504020204" charset="0"/>
                <a:cs typeface="Open Sans Condensed" panose="020B0806030504020204" charset="0"/>
              </a:rPr>
              <a:t>If a substitution occurs, choose </a:t>
            </a:r>
            <a:r>
              <a:rPr lang="en-US" altLang="x-none" i="1">
                <a:latin typeface="Open Sans Condensed" panose="020B0806030504020204" charset="0"/>
                <a:cs typeface="Open Sans Condensed" panose="020B0806030504020204" charset="0"/>
              </a:rPr>
              <a:t>which </a:t>
            </a:r>
            <a:r>
              <a:rPr lang="en-US" altLang="x-none">
                <a:latin typeface="Open Sans Condensed" panose="020B0806030504020204" charset="0"/>
                <a:cs typeface="Open Sans Condensed" panose="020B0806030504020204" charset="0"/>
              </a:rPr>
              <a:t>substitution occurs by a coin flip. </a:t>
            </a:r>
          </a:p>
        </p:txBody>
      </p:sp>
    </p:spTree>
    <p:extLst>
      <p:ext uri="{BB962C8B-B14F-4D97-AF65-F5344CB8AC3E}">
        <p14:creationId xmlns:p14="http://schemas.microsoft.com/office/powerpoint/2010/main" val="416541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21C32-74CA-B551-986E-FB1EA1E969F3}"/>
              </a:ext>
            </a:extLst>
          </p:cNvPr>
          <p:cNvSpPr>
            <a:spLocks noGrp="1"/>
          </p:cNvSpPr>
          <p:nvPr>
            <p:ph type="title"/>
          </p:nvPr>
        </p:nvSpPr>
        <p:spPr>
          <a:xfrm>
            <a:off x="165375" y="122096"/>
            <a:ext cx="7886712" cy="1325565"/>
          </a:xfrm>
        </p:spPr>
        <p:txBody>
          <a:bodyPr/>
          <a:lstStyle/>
          <a:p>
            <a:r>
              <a:rPr lang="en-US">
                <a:latin typeface="Arial"/>
                <a:cs typeface="Arial"/>
              </a:rPr>
              <a:t>Generating data on a tree</a:t>
            </a:r>
            <a:endParaRPr lang="en-US" dirty="0">
              <a:cs typeface="Arial"/>
            </a:endParaRPr>
          </a:p>
        </p:txBody>
      </p:sp>
      <p:pic>
        <p:nvPicPr>
          <p:cNvPr id="4" name="Content Placeholder 3" descr="A phylogenetic tree of (Silvery Gibbon, Lar Gibbon) and (Human, (Bonobo, Chimpanzee)). Nodes and tips are labeled and numbered with boxes. Four time epochs are marked with 4 vertical lines.">
            <a:extLst>
              <a:ext uri="{FF2B5EF4-FFF2-40B4-BE49-F238E27FC236}">
                <a16:creationId xmlns:a16="http://schemas.microsoft.com/office/drawing/2014/main" id="{646652DB-2E15-4006-4BE5-D4BFE07C7FB4}"/>
              </a:ext>
            </a:extLst>
          </p:cNvPr>
          <p:cNvPicPr>
            <a:picLocks noGrp="1" noChangeAspect="1"/>
          </p:cNvPicPr>
          <p:nvPr/>
        </p:nvPicPr>
        <p:blipFill>
          <a:blip r:embed="rId2"/>
          <a:stretch>
            <a:fillRect/>
          </a:stretch>
        </p:blipFill>
        <p:spPr>
          <a:xfrm>
            <a:off x="1266825" y="1450975"/>
            <a:ext cx="6386830" cy="4351655"/>
          </a:xfrm>
          <a:prstGeom prst="rect">
            <a:avLst/>
          </a:prstGeom>
        </p:spPr>
      </p:pic>
      <p:grpSp>
        <p:nvGrpSpPr>
          <p:cNvPr id="5" name="Group 4">
            <a:extLst>
              <a:ext uri="{FF2B5EF4-FFF2-40B4-BE49-F238E27FC236}">
                <a16:creationId xmlns:a16="http://schemas.microsoft.com/office/drawing/2014/main" id="{9FC91049-CAD9-7FEB-ACD9-E8EF01206FB0}"/>
              </a:ext>
            </a:extLst>
          </p:cNvPr>
          <p:cNvGrpSpPr/>
          <p:nvPr/>
        </p:nvGrpSpPr>
        <p:grpSpPr>
          <a:xfrm>
            <a:off x="1685925" y="2038350"/>
            <a:ext cx="3949700" cy="3082925"/>
            <a:chOff x="1685925" y="2038350"/>
            <a:chExt cx="3949700" cy="3082925"/>
          </a:xfrm>
        </p:grpSpPr>
        <p:sp>
          <p:nvSpPr>
            <p:cNvPr id="6" name="Rectangle 5">
              <a:extLst>
                <a:ext uri="{FF2B5EF4-FFF2-40B4-BE49-F238E27FC236}">
                  <a16:creationId xmlns:a16="http://schemas.microsoft.com/office/drawing/2014/main" id="{BD03D6E1-419F-0145-5FEC-1EF716CA2B7B}"/>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7" name="Rectangle 6">
              <a:extLst>
                <a:ext uri="{FF2B5EF4-FFF2-40B4-BE49-F238E27FC236}">
                  <a16:creationId xmlns:a16="http://schemas.microsoft.com/office/drawing/2014/main" id="{12508CEA-C889-561A-73C0-D16A978CA973}"/>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DA55A8E9-DC32-12C0-ADA0-870B82D1C96A}"/>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F0170915-FD29-8B7C-0ED7-291C7269DBC7}"/>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0" name="Rectangle 9">
              <a:extLst>
                <a:ext uri="{FF2B5EF4-FFF2-40B4-BE49-F238E27FC236}">
                  <a16:creationId xmlns:a16="http://schemas.microsoft.com/office/drawing/2014/main" id="{C050E003-3524-E3F8-6A85-9DF6367C2F9B}"/>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06B7C0DC-13FD-67D1-E203-D92AADD595E4}"/>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E47BD729-2FF2-47CA-762C-4DF7ECFCDDB4}"/>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D2F7BE04-799F-DD7B-4867-68DB3CC7A0B6}"/>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EF2279E8-DEB9-ED0C-0917-2F4A36755804}"/>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5" name="Rectangle 14">
              <a:extLst>
                <a:ext uri="{FF2B5EF4-FFF2-40B4-BE49-F238E27FC236}">
                  <a16:creationId xmlns:a16="http://schemas.microsoft.com/office/drawing/2014/main" id="{E5392E6A-69D6-90C4-CD38-5C42E38DA2D0}"/>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6" name="Rectangle 15">
              <a:extLst>
                <a:ext uri="{FF2B5EF4-FFF2-40B4-BE49-F238E27FC236}">
                  <a16:creationId xmlns:a16="http://schemas.microsoft.com/office/drawing/2014/main" id="{5AD74039-C5EE-D72A-C175-52B9BF92321D}"/>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grpSp>
    </p:spTree>
    <p:extLst>
      <p:ext uri="{BB962C8B-B14F-4D97-AF65-F5344CB8AC3E}">
        <p14:creationId xmlns:p14="http://schemas.microsoft.com/office/powerpoint/2010/main" val="139540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7839A-4BBF-C9BE-CFC4-9B513FA84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6D1B8-ED11-B9F5-AE46-576672144D7B}"/>
              </a:ext>
            </a:extLst>
          </p:cNvPr>
          <p:cNvSpPr>
            <a:spLocks noGrp="1"/>
          </p:cNvSpPr>
          <p:nvPr>
            <p:ph type="title"/>
          </p:nvPr>
        </p:nvSpPr>
        <p:spPr>
          <a:xfrm>
            <a:off x="165375" y="122096"/>
            <a:ext cx="7886712" cy="1325565"/>
          </a:xfrm>
        </p:spPr>
        <p:txBody>
          <a:bodyPr/>
          <a:lstStyle/>
          <a:p>
            <a:r>
              <a:rPr lang="en-US">
                <a:latin typeface="Arial"/>
                <a:cs typeface="Arial"/>
              </a:rPr>
              <a:t>Initialize root</a:t>
            </a:r>
            <a:endParaRPr lang="en-US"/>
          </a:p>
        </p:txBody>
      </p:sp>
      <p:pic>
        <p:nvPicPr>
          <p:cNvPr id="4" name="Content Placeholder 3" descr="Same phylogeny as previous slide, with root box filled with state 0. ">
            <a:extLst>
              <a:ext uri="{FF2B5EF4-FFF2-40B4-BE49-F238E27FC236}">
                <a16:creationId xmlns:a16="http://schemas.microsoft.com/office/drawing/2014/main" id="{110EE9D3-1F1C-B14F-759E-FB2FFDA3B59B}"/>
              </a:ext>
            </a:extLst>
          </p:cNvPr>
          <p:cNvPicPr>
            <a:picLocks noGrp="1" noChangeAspect="1"/>
          </p:cNvPicPr>
          <p:nvPr/>
        </p:nvPicPr>
        <p:blipFill>
          <a:blip r:embed="rId2"/>
          <a:stretch>
            <a:fillRect/>
          </a:stretch>
        </p:blipFill>
        <p:spPr>
          <a:xfrm>
            <a:off x="1266825" y="1450975"/>
            <a:ext cx="6386830" cy="4351655"/>
          </a:xfrm>
          <a:prstGeom prst="rect">
            <a:avLst/>
          </a:prstGeom>
        </p:spPr>
      </p:pic>
      <p:grpSp>
        <p:nvGrpSpPr>
          <p:cNvPr id="5" name="Group 4">
            <a:extLst>
              <a:ext uri="{FF2B5EF4-FFF2-40B4-BE49-F238E27FC236}">
                <a16:creationId xmlns:a16="http://schemas.microsoft.com/office/drawing/2014/main" id="{26185537-EB1B-940C-3EC7-9687A51AAFF0}"/>
              </a:ext>
            </a:extLst>
          </p:cNvPr>
          <p:cNvGrpSpPr/>
          <p:nvPr/>
        </p:nvGrpSpPr>
        <p:grpSpPr>
          <a:xfrm>
            <a:off x="1685925" y="2038350"/>
            <a:ext cx="3949700" cy="3082925"/>
            <a:chOff x="1685925" y="2038350"/>
            <a:chExt cx="3949700" cy="3082925"/>
          </a:xfrm>
        </p:grpSpPr>
        <p:sp>
          <p:nvSpPr>
            <p:cNvPr id="6" name="Rectangle 5" descr="Now the root box is filled with 0">
              <a:extLst>
                <a:ext uri="{FF2B5EF4-FFF2-40B4-BE49-F238E27FC236}">
                  <a16:creationId xmlns:a16="http://schemas.microsoft.com/office/drawing/2014/main" id="{EE520311-E58F-1416-A306-B933E229ADE8}"/>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endParaRPr lang="en-US"/>
            </a:p>
          </p:txBody>
        </p:sp>
        <p:sp>
          <p:nvSpPr>
            <p:cNvPr id="7" name="Rectangle 6">
              <a:extLst>
                <a:ext uri="{FF2B5EF4-FFF2-40B4-BE49-F238E27FC236}">
                  <a16:creationId xmlns:a16="http://schemas.microsoft.com/office/drawing/2014/main" id="{B22C6D14-E9DD-A0A4-FC2C-9613ACA8C45E}"/>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11D0DC8E-297B-386E-3652-DB3D60B3CE13}"/>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49068A79-09D3-D6EA-FD72-B64BDC0431DD}"/>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0" name="Rectangle 9">
              <a:extLst>
                <a:ext uri="{FF2B5EF4-FFF2-40B4-BE49-F238E27FC236}">
                  <a16:creationId xmlns:a16="http://schemas.microsoft.com/office/drawing/2014/main" id="{8D97B071-04EB-C8EF-4994-476DF6277182}"/>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B5978049-49BC-2702-0B2C-C6E3846476CC}"/>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CC9F4E01-9C49-92C2-B538-9DEB201118B5}"/>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1A098C6C-40E0-521D-FCF4-32FD37FB5FF6}"/>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4B5A1BCB-D491-CF49-7E72-EBE4A5BBAB47}"/>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5" name="Rectangle 14">
              <a:extLst>
                <a:ext uri="{FF2B5EF4-FFF2-40B4-BE49-F238E27FC236}">
                  <a16:creationId xmlns:a16="http://schemas.microsoft.com/office/drawing/2014/main" id="{EB8F0BE8-2B7D-F849-B923-68D97F3E6D07}"/>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sp>
          <p:nvSpPr>
            <p:cNvPr id="16" name="Rectangle 15">
              <a:extLst>
                <a:ext uri="{FF2B5EF4-FFF2-40B4-BE49-F238E27FC236}">
                  <a16:creationId xmlns:a16="http://schemas.microsoft.com/office/drawing/2014/main" id="{BF141F48-757D-524D-49B7-0F0DC2EF6279}"/>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Arial Black" panose="020B0A04020102020204" charset="0"/>
              </a:endParaRPr>
            </a:p>
          </p:txBody>
        </p:sp>
      </p:grpSp>
    </p:spTree>
    <p:extLst>
      <p:ext uri="{BB962C8B-B14F-4D97-AF65-F5344CB8AC3E}">
        <p14:creationId xmlns:p14="http://schemas.microsoft.com/office/powerpoint/2010/main" val="723917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ame tree as before, now box 1 on branch 1 has a 0 and a die with a number 4, indicating no change."/>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8" name="Rectangle 7"/>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9" name="Rectangle 8"/>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0" name="Rectangle 9"/>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1" name="Rectangle 10"/>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2" name="Rectangle 11"/>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3" name="Rectangle 12"/>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4" name="Rectangle 13"/>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5" name="Rectangle 14"/>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pic>
        <p:nvPicPr>
          <p:cNvPr id="16" name="Picture 15" descr="A die with the number 4"/>
          <p:cNvPicPr>
            <a:picLocks noChangeAspect="1"/>
          </p:cNvPicPr>
          <p:nvPr/>
        </p:nvPicPr>
        <p:blipFill>
          <a:blip r:embed="rId3"/>
          <a:stretch>
            <a:fillRect/>
          </a:stretch>
        </p:blipFill>
        <p:spPr>
          <a:xfrm>
            <a:off x="1988820" y="1665605"/>
            <a:ext cx="737235" cy="609600"/>
          </a:xfrm>
          <a:prstGeom prst="rect">
            <a:avLst/>
          </a:prstGeom>
        </p:spPr>
      </p:pic>
      <p:sp>
        <p:nvSpPr>
          <p:cNvPr id="3" name="Title 1">
            <a:extLst>
              <a:ext uri="{FF2B5EF4-FFF2-40B4-BE49-F238E27FC236}">
                <a16:creationId xmlns:a16="http://schemas.microsoft.com/office/drawing/2014/main" id="{EB838BFD-DA8E-07CB-CFEE-A64BFFC0644E}"/>
              </a:ext>
            </a:extLst>
          </p:cNvPr>
          <p:cNvSpPr>
            <a:spLocks noGrp="1"/>
          </p:cNvSpPr>
          <p:nvPr>
            <p:ph type="title"/>
          </p:nvPr>
        </p:nvSpPr>
        <p:spPr>
          <a:xfrm>
            <a:off x="165375" y="122096"/>
            <a:ext cx="7886712" cy="1325565"/>
          </a:xfrm>
        </p:spPr>
        <p:txBody>
          <a:bodyPr/>
          <a:lstStyle/>
          <a:p>
            <a:r>
              <a:rPr lang="en-US">
                <a:latin typeface="Arial"/>
                <a:cs typeface="Arial"/>
              </a:rPr>
              <a:t>Step 1</a:t>
            </a:r>
            <a:endParaRPr lang="en-US" dirty="0">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6C332-7BA1-FAF9-FEE8-53371C121C22}"/>
            </a:ext>
          </a:extLst>
        </p:cNvPr>
        <p:cNvGrpSpPr/>
        <p:nvPr/>
      </p:nvGrpSpPr>
      <p:grpSpPr>
        <a:xfrm>
          <a:off x="0" y="0"/>
          <a:ext cx="0" cy="0"/>
          <a:chOff x="0" y="0"/>
          <a:chExt cx="0" cy="0"/>
        </a:xfrm>
      </p:grpSpPr>
      <p:pic>
        <p:nvPicPr>
          <p:cNvPr id="4" name="Content Placeholder 3" descr="Same tree as before with nodes being filled in.">
            <a:extLst>
              <a:ext uri="{FF2B5EF4-FFF2-40B4-BE49-F238E27FC236}">
                <a16:creationId xmlns:a16="http://schemas.microsoft.com/office/drawing/2014/main" id="{0FC98797-6078-B3CD-E39E-8A2B0562896D}"/>
              </a:ext>
            </a:extLst>
          </p:cNvPr>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a:extLst>
              <a:ext uri="{FF2B5EF4-FFF2-40B4-BE49-F238E27FC236}">
                <a16:creationId xmlns:a16="http://schemas.microsoft.com/office/drawing/2014/main" id="{0A55071F-473E-6F9F-34D6-EC4BB940178D}"/>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a:extLst>
              <a:ext uri="{FF2B5EF4-FFF2-40B4-BE49-F238E27FC236}">
                <a16:creationId xmlns:a16="http://schemas.microsoft.com/office/drawing/2014/main" id="{B022865F-1424-D3BF-030A-9ED1FC61207E}"/>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a:extLst>
              <a:ext uri="{FF2B5EF4-FFF2-40B4-BE49-F238E27FC236}">
                <a16:creationId xmlns:a16="http://schemas.microsoft.com/office/drawing/2014/main" id="{8E38A1A7-09D1-B194-1048-B7CC9BF635E9}"/>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344B58F3-2B40-526B-1A3C-7A02BB564B20}"/>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B092106E-92F5-D354-991F-26939316A8CF}"/>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0" name="Rectangle 9">
            <a:extLst>
              <a:ext uri="{FF2B5EF4-FFF2-40B4-BE49-F238E27FC236}">
                <a16:creationId xmlns:a16="http://schemas.microsoft.com/office/drawing/2014/main" id="{4ED327F0-C2A3-3E9B-1E3D-52D7577D5BD1}"/>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B843B64A-D9FC-08DD-999D-9A0B7F5A0386}"/>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7CD3FAB8-46B9-0372-0140-BABB58FF6030}"/>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946CA120-8F53-2FDF-327A-C97D9926B151}"/>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3E372D12-2C5C-7E3B-9B26-0C0D26832343}"/>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5" name="Rectangle 14">
            <a:extLst>
              <a:ext uri="{FF2B5EF4-FFF2-40B4-BE49-F238E27FC236}">
                <a16:creationId xmlns:a16="http://schemas.microsoft.com/office/drawing/2014/main" id="{FE8F34CC-C56E-08A7-3E69-479A5E0595A9}"/>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3" name="Title 1">
            <a:extLst>
              <a:ext uri="{FF2B5EF4-FFF2-40B4-BE49-F238E27FC236}">
                <a16:creationId xmlns:a16="http://schemas.microsoft.com/office/drawing/2014/main" id="{9FA6280C-E902-6658-6AD2-13E0FB655317}"/>
              </a:ext>
            </a:extLst>
          </p:cNvPr>
          <p:cNvSpPr>
            <a:spLocks noGrp="1"/>
          </p:cNvSpPr>
          <p:nvPr>
            <p:ph type="title"/>
          </p:nvPr>
        </p:nvSpPr>
        <p:spPr>
          <a:xfrm>
            <a:off x="165375" y="122096"/>
            <a:ext cx="7886712" cy="1325565"/>
          </a:xfrm>
        </p:spPr>
        <p:txBody>
          <a:bodyPr/>
          <a:lstStyle/>
          <a:p>
            <a:r>
              <a:rPr lang="en-US">
                <a:latin typeface="Arial"/>
                <a:cs typeface="Arial"/>
              </a:rPr>
              <a:t>Step 2</a:t>
            </a:r>
            <a:endParaRPr lang="en-US" dirty="0">
              <a:latin typeface="Arial"/>
              <a:cs typeface="Arial"/>
            </a:endParaRPr>
          </a:p>
        </p:txBody>
      </p:sp>
      <p:pic>
        <p:nvPicPr>
          <p:cNvPr id="17" name="Picture 16" descr="A die with the num">
            <a:extLst>
              <a:ext uri="{FF2B5EF4-FFF2-40B4-BE49-F238E27FC236}">
                <a16:creationId xmlns:a16="http://schemas.microsoft.com/office/drawing/2014/main" id="{08AD2248-A02B-254F-3287-719B6FE5E72A}"/>
              </a:ext>
            </a:extLst>
          </p:cNvPr>
          <p:cNvPicPr>
            <a:picLocks noChangeAspect="1"/>
          </p:cNvPicPr>
          <p:nvPr/>
        </p:nvPicPr>
        <p:blipFill>
          <a:blip r:embed="rId3"/>
          <a:stretch>
            <a:fillRect/>
          </a:stretch>
        </p:blipFill>
        <p:spPr>
          <a:xfrm>
            <a:off x="3282950" y="1802765"/>
            <a:ext cx="708660" cy="538480"/>
          </a:xfrm>
          <a:prstGeom prst="rect">
            <a:avLst/>
          </a:prstGeom>
        </p:spPr>
      </p:pic>
    </p:spTree>
    <p:extLst>
      <p:ext uri="{BB962C8B-B14F-4D97-AF65-F5344CB8AC3E}">
        <p14:creationId xmlns:p14="http://schemas.microsoft.com/office/powerpoint/2010/main" val="1919718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D7EE-05FC-05D9-A65A-C29AFB2E3A6A}"/>
            </a:ext>
          </a:extLst>
        </p:cNvPr>
        <p:cNvGrpSpPr/>
        <p:nvPr/>
      </p:nvGrpSpPr>
      <p:grpSpPr>
        <a:xfrm>
          <a:off x="0" y="0"/>
          <a:ext cx="0" cy="0"/>
          <a:chOff x="0" y="0"/>
          <a:chExt cx="0" cy="0"/>
        </a:xfrm>
      </p:grpSpPr>
      <p:pic>
        <p:nvPicPr>
          <p:cNvPr id="4" name="Content Placeholder 3" descr="Same tree as before with nodes being filled in.">
            <a:extLst>
              <a:ext uri="{FF2B5EF4-FFF2-40B4-BE49-F238E27FC236}">
                <a16:creationId xmlns:a16="http://schemas.microsoft.com/office/drawing/2014/main" id="{19503D42-7BAF-A3C7-F613-85C1C2557DFC}"/>
              </a:ext>
            </a:extLst>
          </p:cNvPr>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a:extLst>
              <a:ext uri="{FF2B5EF4-FFF2-40B4-BE49-F238E27FC236}">
                <a16:creationId xmlns:a16="http://schemas.microsoft.com/office/drawing/2014/main" id="{A9C73404-0764-0C90-8C34-1BD31F09584A}"/>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a:extLst>
              <a:ext uri="{FF2B5EF4-FFF2-40B4-BE49-F238E27FC236}">
                <a16:creationId xmlns:a16="http://schemas.microsoft.com/office/drawing/2014/main" id="{A5AB9634-81FD-765F-2F32-DABAA3B99E1B}"/>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a:extLst>
              <a:ext uri="{FF2B5EF4-FFF2-40B4-BE49-F238E27FC236}">
                <a16:creationId xmlns:a16="http://schemas.microsoft.com/office/drawing/2014/main" id="{FA19EE92-35B1-8E31-5B13-31B19D414BDF}"/>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72960944-C592-1313-DE7B-4754AFD13C58}"/>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C7B862BD-ACAF-D49D-E826-528C97E56D03}"/>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0" name="Rectangle 9">
            <a:extLst>
              <a:ext uri="{FF2B5EF4-FFF2-40B4-BE49-F238E27FC236}">
                <a16:creationId xmlns:a16="http://schemas.microsoft.com/office/drawing/2014/main" id="{1BE58E11-399E-A446-AF5B-132650E837DD}"/>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10153508-7347-60AD-B5E1-B66A075FA8A0}"/>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D9D6A82F-82AB-2F9E-F29A-6FDFCFE0DEAC}"/>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233F52FA-B96F-9720-A74D-5F43F08D15EB}"/>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7AB8E549-3D6D-A353-282D-259C4000E695}"/>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F4940A13-5B7E-AC4E-E881-746FCB0824DA}"/>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3" name="Title 1">
            <a:extLst>
              <a:ext uri="{FF2B5EF4-FFF2-40B4-BE49-F238E27FC236}">
                <a16:creationId xmlns:a16="http://schemas.microsoft.com/office/drawing/2014/main" id="{2E54914E-DC61-6488-5B54-9D06C6F5F0C7}"/>
              </a:ext>
            </a:extLst>
          </p:cNvPr>
          <p:cNvSpPr>
            <a:spLocks noGrp="1"/>
          </p:cNvSpPr>
          <p:nvPr>
            <p:ph type="title"/>
          </p:nvPr>
        </p:nvSpPr>
        <p:spPr>
          <a:xfrm>
            <a:off x="165375" y="122096"/>
            <a:ext cx="7886712" cy="1325565"/>
          </a:xfrm>
        </p:spPr>
        <p:txBody>
          <a:bodyPr/>
          <a:lstStyle/>
          <a:p>
            <a:r>
              <a:rPr lang="en-US">
                <a:latin typeface="Arial"/>
                <a:cs typeface="Arial"/>
              </a:rPr>
              <a:t>Step 3 and 4</a:t>
            </a:r>
            <a:endParaRPr lang="en-US" dirty="0">
              <a:cs typeface="Arial"/>
            </a:endParaRPr>
          </a:p>
        </p:txBody>
      </p:sp>
      <p:pic>
        <p:nvPicPr>
          <p:cNvPr id="16" name="Picture 15" descr="A white dice with black dots&#10;&#10;AI-generated content may be incorrect.">
            <a:extLst>
              <a:ext uri="{FF2B5EF4-FFF2-40B4-BE49-F238E27FC236}">
                <a16:creationId xmlns:a16="http://schemas.microsoft.com/office/drawing/2014/main" id="{1C4BD50E-8CD1-ABCE-01FC-7D34B0A03FC1}"/>
              </a:ext>
            </a:extLst>
          </p:cNvPr>
          <p:cNvPicPr>
            <a:picLocks noChangeAspect="1"/>
          </p:cNvPicPr>
          <p:nvPr/>
        </p:nvPicPr>
        <p:blipFill>
          <a:blip r:embed="rId3"/>
          <a:stretch>
            <a:fillRect/>
          </a:stretch>
        </p:blipFill>
        <p:spPr>
          <a:xfrm>
            <a:off x="4493895" y="1365885"/>
            <a:ext cx="751205" cy="673100"/>
          </a:xfrm>
          <a:prstGeom prst="rect">
            <a:avLst/>
          </a:prstGeom>
        </p:spPr>
      </p:pic>
      <p:pic>
        <p:nvPicPr>
          <p:cNvPr id="19" name="Picture 18" descr="A white dice with black dots&#10;&#10;AI-generated content may be incorrect.">
            <a:extLst>
              <a:ext uri="{FF2B5EF4-FFF2-40B4-BE49-F238E27FC236}">
                <a16:creationId xmlns:a16="http://schemas.microsoft.com/office/drawing/2014/main" id="{29216217-43DB-1DD7-BAB1-9D5C36F57E3F}"/>
              </a:ext>
            </a:extLst>
          </p:cNvPr>
          <p:cNvPicPr>
            <a:picLocks noChangeAspect="1"/>
          </p:cNvPicPr>
          <p:nvPr/>
        </p:nvPicPr>
        <p:blipFill>
          <a:blip r:embed="rId4"/>
          <a:stretch>
            <a:fillRect/>
          </a:stretch>
        </p:blipFill>
        <p:spPr>
          <a:xfrm>
            <a:off x="4448810" y="2912110"/>
            <a:ext cx="715645" cy="602615"/>
          </a:xfrm>
          <a:prstGeom prst="rect">
            <a:avLst/>
          </a:prstGeom>
        </p:spPr>
      </p:pic>
    </p:spTree>
    <p:extLst>
      <p:ext uri="{BB962C8B-B14F-4D97-AF65-F5344CB8AC3E}">
        <p14:creationId xmlns:p14="http://schemas.microsoft.com/office/powerpoint/2010/main" val="3301485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A4F7-08FA-B77B-0B4D-716840421976}"/>
            </a:ext>
          </a:extLst>
        </p:cNvPr>
        <p:cNvGrpSpPr/>
        <p:nvPr/>
      </p:nvGrpSpPr>
      <p:grpSpPr>
        <a:xfrm>
          <a:off x="0" y="0"/>
          <a:ext cx="0" cy="0"/>
          <a:chOff x="0" y="0"/>
          <a:chExt cx="0" cy="0"/>
        </a:xfrm>
      </p:grpSpPr>
      <p:pic>
        <p:nvPicPr>
          <p:cNvPr id="4" name="Content Placeholder 3" descr="Same tree as before with nodes being filled in.">
            <a:extLst>
              <a:ext uri="{FF2B5EF4-FFF2-40B4-BE49-F238E27FC236}">
                <a16:creationId xmlns:a16="http://schemas.microsoft.com/office/drawing/2014/main" id="{F50A643F-F282-314C-147A-6F11A141D92F}"/>
              </a:ext>
            </a:extLst>
          </p:cNvPr>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a:extLst>
              <a:ext uri="{FF2B5EF4-FFF2-40B4-BE49-F238E27FC236}">
                <a16:creationId xmlns:a16="http://schemas.microsoft.com/office/drawing/2014/main" id="{A9A1B092-F130-183A-20A5-14873C2E5E6C}"/>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a:extLst>
              <a:ext uri="{FF2B5EF4-FFF2-40B4-BE49-F238E27FC236}">
                <a16:creationId xmlns:a16="http://schemas.microsoft.com/office/drawing/2014/main" id="{18616D17-AC66-9E52-5578-65253DBEB11C}"/>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a:extLst>
              <a:ext uri="{FF2B5EF4-FFF2-40B4-BE49-F238E27FC236}">
                <a16:creationId xmlns:a16="http://schemas.microsoft.com/office/drawing/2014/main" id="{4B8D3210-A1B7-7889-67AB-C4C88781DAA2}"/>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8" name="Rectangle 7">
            <a:extLst>
              <a:ext uri="{FF2B5EF4-FFF2-40B4-BE49-F238E27FC236}">
                <a16:creationId xmlns:a16="http://schemas.microsoft.com/office/drawing/2014/main" id="{11794E4C-8DDE-2F0B-8BD4-47E1BE8C4EFC}"/>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27D2BC07-C228-8867-434B-480D6BA58AC5}"/>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0" name="Rectangle 9">
            <a:extLst>
              <a:ext uri="{FF2B5EF4-FFF2-40B4-BE49-F238E27FC236}">
                <a16:creationId xmlns:a16="http://schemas.microsoft.com/office/drawing/2014/main" id="{C958600D-7491-18F2-7A73-43EA19DE7842}"/>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D0A635AA-8DB7-E916-AC7A-BE2BF9E28A36}"/>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FD3346E7-9D3B-3241-53BC-5C427CF5DF12}"/>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480AC21B-A7B1-A3D2-6231-F5A340E78ECA}"/>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15AC85E4-F362-BEB7-3A3F-25537C3DA5E5}"/>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C9F4149C-D50B-46C1-DC91-7E17E9F03669}"/>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3" name="Title 1">
            <a:extLst>
              <a:ext uri="{FF2B5EF4-FFF2-40B4-BE49-F238E27FC236}">
                <a16:creationId xmlns:a16="http://schemas.microsoft.com/office/drawing/2014/main" id="{50B4FB18-64E2-F822-C391-1ED2548E4E1B}"/>
              </a:ext>
            </a:extLst>
          </p:cNvPr>
          <p:cNvSpPr>
            <a:spLocks noGrp="1"/>
          </p:cNvSpPr>
          <p:nvPr>
            <p:ph type="title"/>
          </p:nvPr>
        </p:nvSpPr>
        <p:spPr>
          <a:xfrm>
            <a:off x="165375" y="122096"/>
            <a:ext cx="7886712" cy="1325565"/>
          </a:xfrm>
        </p:spPr>
        <p:txBody>
          <a:bodyPr/>
          <a:lstStyle/>
          <a:p>
            <a:r>
              <a:rPr lang="en-US">
                <a:latin typeface="Arial"/>
                <a:cs typeface="Arial"/>
              </a:rPr>
              <a:t>Step 5</a:t>
            </a:r>
            <a:endParaRPr lang="en-US" dirty="0">
              <a:cs typeface="Arial"/>
            </a:endParaRPr>
          </a:p>
        </p:txBody>
      </p:sp>
      <p:pic>
        <p:nvPicPr>
          <p:cNvPr id="17" name="Picture 16" descr="A white dice with black dots&#10;&#10;AI-generated content may be incorrect.">
            <a:extLst>
              <a:ext uri="{FF2B5EF4-FFF2-40B4-BE49-F238E27FC236}">
                <a16:creationId xmlns:a16="http://schemas.microsoft.com/office/drawing/2014/main" id="{ACDCCC76-1BBB-3D51-4917-BC10AAC31D6F}"/>
              </a:ext>
            </a:extLst>
          </p:cNvPr>
          <p:cNvPicPr>
            <a:picLocks noChangeAspect="1"/>
          </p:cNvPicPr>
          <p:nvPr/>
        </p:nvPicPr>
        <p:blipFill>
          <a:blip r:embed="rId3"/>
          <a:stretch>
            <a:fillRect/>
          </a:stretch>
        </p:blipFill>
        <p:spPr>
          <a:xfrm>
            <a:off x="1988185" y="4589145"/>
            <a:ext cx="772795" cy="595630"/>
          </a:xfrm>
          <a:prstGeom prst="rect">
            <a:avLst/>
          </a:prstGeom>
        </p:spPr>
      </p:pic>
    </p:spTree>
    <p:extLst>
      <p:ext uri="{BB962C8B-B14F-4D97-AF65-F5344CB8AC3E}">
        <p14:creationId xmlns:p14="http://schemas.microsoft.com/office/powerpoint/2010/main" val="1551858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979A-09BC-2DD1-E4D3-0C32DDFF6020}"/>
            </a:ext>
          </a:extLst>
        </p:cNvPr>
        <p:cNvGrpSpPr/>
        <p:nvPr/>
      </p:nvGrpSpPr>
      <p:grpSpPr>
        <a:xfrm>
          <a:off x="0" y="0"/>
          <a:ext cx="0" cy="0"/>
          <a:chOff x="0" y="0"/>
          <a:chExt cx="0" cy="0"/>
        </a:xfrm>
      </p:grpSpPr>
      <p:pic>
        <p:nvPicPr>
          <p:cNvPr id="4" name="Content Placeholder 3" descr="Same tree as before with nodes being filled in.">
            <a:extLst>
              <a:ext uri="{FF2B5EF4-FFF2-40B4-BE49-F238E27FC236}">
                <a16:creationId xmlns:a16="http://schemas.microsoft.com/office/drawing/2014/main" id="{2D8099FE-D0D3-4368-3A42-CFFF54D9C099}"/>
              </a:ext>
            </a:extLst>
          </p:cNvPr>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a:extLst>
              <a:ext uri="{FF2B5EF4-FFF2-40B4-BE49-F238E27FC236}">
                <a16:creationId xmlns:a16="http://schemas.microsoft.com/office/drawing/2014/main" id="{7189BADB-BB0A-E1B5-CCD9-F1AB8E01D13B}"/>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a:extLst>
              <a:ext uri="{FF2B5EF4-FFF2-40B4-BE49-F238E27FC236}">
                <a16:creationId xmlns:a16="http://schemas.microsoft.com/office/drawing/2014/main" id="{5CD4B26A-A424-6DE8-F433-168FAF24018B}"/>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a:extLst>
              <a:ext uri="{FF2B5EF4-FFF2-40B4-BE49-F238E27FC236}">
                <a16:creationId xmlns:a16="http://schemas.microsoft.com/office/drawing/2014/main" id="{B38D83C3-3D28-1D5E-207C-8C2894CADF7C}"/>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8" name="Rectangle 7">
            <a:extLst>
              <a:ext uri="{FF2B5EF4-FFF2-40B4-BE49-F238E27FC236}">
                <a16:creationId xmlns:a16="http://schemas.microsoft.com/office/drawing/2014/main" id="{5A6A6E91-D3A3-6268-6C41-1511493EDC47}"/>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086E14CF-0596-3DB3-E25D-8FADA3C688C0}"/>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0" name="Rectangle 9">
            <a:extLst>
              <a:ext uri="{FF2B5EF4-FFF2-40B4-BE49-F238E27FC236}">
                <a16:creationId xmlns:a16="http://schemas.microsoft.com/office/drawing/2014/main" id="{89D3FAF2-2D26-A9EC-59B0-F551A4A2626E}"/>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1</a:t>
            </a:r>
          </a:p>
        </p:txBody>
      </p:sp>
      <p:sp>
        <p:nvSpPr>
          <p:cNvPr id="11" name="Rectangle 10">
            <a:extLst>
              <a:ext uri="{FF2B5EF4-FFF2-40B4-BE49-F238E27FC236}">
                <a16:creationId xmlns:a16="http://schemas.microsoft.com/office/drawing/2014/main" id="{9D3984A9-40D1-876F-5AC0-798892541EEA}"/>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633898E4-6381-E7ED-39B5-738DF88A3FFB}"/>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3" name="Rectangle 12">
            <a:extLst>
              <a:ext uri="{FF2B5EF4-FFF2-40B4-BE49-F238E27FC236}">
                <a16:creationId xmlns:a16="http://schemas.microsoft.com/office/drawing/2014/main" id="{2EE27026-03F6-C728-90D0-98CE01944A78}"/>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Black" panose="020B0A04020102020204" charset="0"/>
            </a:endParaRPr>
          </a:p>
        </p:txBody>
      </p:sp>
      <p:sp>
        <p:nvSpPr>
          <p:cNvPr id="14" name="Rectangle 13">
            <a:extLst>
              <a:ext uri="{FF2B5EF4-FFF2-40B4-BE49-F238E27FC236}">
                <a16:creationId xmlns:a16="http://schemas.microsoft.com/office/drawing/2014/main" id="{1B3DB3D9-6F4E-17C4-6066-F415D50D3156}"/>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B995DB03-A58E-78B5-8406-7E5F0D8399C4}"/>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3" name="Title 1">
            <a:extLst>
              <a:ext uri="{FF2B5EF4-FFF2-40B4-BE49-F238E27FC236}">
                <a16:creationId xmlns:a16="http://schemas.microsoft.com/office/drawing/2014/main" id="{E00231C4-BB9A-BBC3-B4B1-00E8F788185F}"/>
              </a:ext>
            </a:extLst>
          </p:cNvPr>
          <p:cNvSpPr>
            <a:spLocks noGrp="1"/>
          </p:cNvSpPr>
          <p:nvPr>
            <p:ph type="title"/>
          </p:nvPr>
        </p:nvSpPr>
        <p:spPr>
          <a:xfrm>
            <a:off x="165375" y="122096"/>
            <a:ext cx="7886712" cy="1325565"/>
          </a:xfrm>
        </p:spPr>
        <p:txBody>
          <a:bodyPr/>
          <a:lstStyle/>
          <a:p>
            <a:r>
              <a:rPr lang="en-US">
                <a:latin typeface="Arial"/>
                <a:cs typeface="Arial"/>
              </a:rPr>
              <a:t>Step 6</a:t>
            </a:r>
            <a:endParaRPr lang="en-US" dirty="0">
              <a:cs typeface="Arial"/>
            </a:endParaRPr>
          </a:p>
        </p:txBody>
      </p:sp>
      <p:grpSp>
        <p:nvGrpSpPr>
          <p:cNvPr id="22" name="Group 21" descr="A die with the number 1, which triggers a substitution. A coin is flipped to decide on whether the new state is 0 or 1, with a heads being flipped leading to a change from 0 to 1 in the ancestral node of Bonobos and Chimpanzees.">
            <a:extLst>
              <a:ext uri="{FF2B5EF4-FFF2-40B4-BE49-F238E27FC236}">
                <a16:creationId xmlns:a16="http://schemas.microsoft.com/office/drawing/2014/main" id="{45C34994-7448-611B-5E68-1E6DE073C814}"/>
              </a:ext>
            </a:extLst>
          </p:cNvPr>
          <p:cNvGrpSpPr/>
          <p:nvPr/>
        </p:nvGrpSpPr>
        <p:grpSpPr>
          <a:xfrm>
            <a:off x="3152775" y="4742180"/>
            <a:ext cx="885190" cy="2065655"/>
            <a:chOff x="3152775" y="4742180"/>
            <a:chExt cx="885190" cy="2065655"/>
          </a:xfrm>
        </p:grpSpPr>
        <p:pic>
          <p:nvPicPr>
            <p:cNvPr id="16" name="Picture 15">
              <a:extLst>
                <a:ext uri="{FF2B5EF4-FFF2-40B4-BE49-F238E27FC236}">
                  <a16:creationId xmlns:a16="http://schemas.microsoft.com/office/drawing/2014/main" id="{D4A7D6B5-A273-1E51-950E-C2B5040D9F88}"/>
                </a:ext>
              </a:extLst>
            </p:cNvPr>
            <p:cNvPicPr>
              <a:picLocks noChangeAspect="1"/>
            </p:cNvPicPr>
            <p:nvPr/>
          </p:nvPicPr>
          <p:blipFill>
            <a:blip r:embed="rId3"/>
            <a:stretch>
              <a:fillRect/>
            </a:stretch>
          </p:blipFill>
          <p:spPr>
            <a:xfrm>
              <a:off x="3354705" y="4742180"/>
              <a:ext cx="553085" cy="588010"/>
            </a:xfrm>
            <a:prstGeom prst="rect">
              <a:avLst/>
            </a:prstGeom>
          </p:spPr>
        </p:pic>
        <p:pic>
          <p:nvPicPr>
            <p:cNvPr id="19" name="Picture 18">
              <a:extLst>
                <a:ext uri="{FF2B5EF4-FFF2-40B4-BE49-F238E27FC236}">
                  <a16:creationId xmlns:a16="http://schemas.microsoft.com/office/drawing/2014/main" id="{11743FDC-1B45-90EE-2140-31D86A3F52E0}"/>
                </a:ext>
              </a:extLst>
            </p:cNvPr>
            <p:cNvPicPr>
              <a:picLocks noChangeAspect="1"/>
            </p:cNvPicPr>
            <p:nvPr/>
          </p:nvPicPr>
          <p:blipFill>
            <a:blip r:embed="rId4"/>
            <a:srcRect l="8515" t="20811" r="49242" b="18807"/>
            <a:stretch>
              <a:fillRect/>
            </a:stretch>
          </p:blipFill>
          <p:spPr>
            <a:xfrm>
              <a:off x="3152775" y="5965825"/>
              <a:ext cx="885190" cy="842010"/>
            </a:xfrm>
            <a:prstGeom prst="rect">
              <a:avLst/>
            </a:prstGeom>
          </p:spPr>
        </p:pic>
        <p:sp>
          <p:nvSpPr>
            <p:cNvPr id="21" name="Down Arrow 2">
              <a:extLst>
                <a:ext uri="{FF2B5EF4-FFF2-40B4-BE49-F238E27FC236}">
                  <a16:creationId xmlns:a16="http://schemas.microsoft.com/office/drawing/2014/main" id="{2E6A1B62-33DF-EE26-9BC8-9D53783E3F86}"/>
                </a:ext>
              </a:extLst>
            </p:cNvPr>
            <p:cNvSpPr/>
            <p:nvPr/>
          </p:nvSpPr>
          <p:spPr>
            <a:xfrm>
              <a:off x="3427730" y="5462270"/>
              <a:ext cx="334645" cy="3403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60353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EEB0B-584C-0A1E-7E71-3B651084B20C}"/>
            </a:ext>
          </a:extLst>
        </p:cNvPr>
        <p:cNvGrpSpPr/>
        <p:nvPr/>
      </p:nvGrpSpPr>
      <p:grpSpPr>
        <a:xfrm>
          <a:off x="0" y="0"/>
          <a:ext cx="0" cy="0"/>
          <a:chOff x="0" y="0"/>
          <a:chExt cx="0" cy="0"/>
        </a:xfrm>
      </p:grpSpPr>
      <p:pic>
        <p:nvPicPr>
          <p:cNvPr id="4" name="Content Placeholder 3" descr="Jumping ahead for the last set of steps, the complete tree filled in with data. Bonobo, Chimp, and their ancestor are the only nodes that received a 1.">
            <a:extLst>
              <a:ext uri="{FF2B5EF4-FFF2-40B4-BE49-F238E27FC236}">
                <a16:creationId xmlns:a16="http://schemas.microsoft.com/office/drawing/2014/main" id="{A250A586-3614-995D-6876-2D400C9C1A93}"/>
              </a:ext>
            </a:extLst>
          </p:cNvPr>
          <p:cNvPicPr>
            <a:picLocks noGrp="1" noChangeAspect="1"/>
          </p:cNvPicPr>
          <p:nvPr>
            <p:ph idx="1"/>
          </p:nvPr>
        </p:nvPicPr>
        <p:blipFill>
          <a:blip r:embed="rId2"/>
          <a:stretch>
            <a:fillRect/>
          </a:stretch>
        </p:blipFill>
        <p:spPr>
          <a:xfrm>
            <a:off x="1266825" y="1450975"/>
            <a:ext cx="6386830" cy="4351655"/>
          </a:xfrm>
          <a:prstGeom prst="rect">
            <a:avLst/>
          </a:prstGeom>
        </p:spPr>
      </p:pic>
      <p:sp>
        <p:nvSpPr>
          <p:cNvPr id="5" name="Rectangle 4">
            <a:extLst>
              <a:ext uri="{FF2B5EF4-FFF2-40B4-BE49-F238E27FC236}">
                <a16:creationId xmlns:a16="http://schemas.microsoft.com/office/drawing/2014/main" id="{4E8C8BBE-AA34-00EF-3C4E-76C6BAAA6F39}"/>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a:extLst>
              <a:ext uri="{FF2B5EF4-FFF2-40B4-BE49-F238E27FC236}">
                <a16:creationId xmlns:a16="http://schemas.microsoft.com/office/drawing/2014/main" id="{FF2033FD-3755-260F-ECBB-C2FF91471C41}"/>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a:extLst>
              <a:ext uri="{FF2B5EF4-FFF2-40B4-BE49-F238E27FC236}">
                <a16:creationId xmlns:a16="http://schemas.microsoft.com/office/drawing/2014/main" id="{3554BE85-A068-383E-A53E-84F3FB7292CB}"/>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8" name="Rectangle 7">
            <a:extLst>
              <a:ext uri="{FF2B5EF4-FFF2-40B4-BE49-F238E27FC236}">
                <a16:creationId xmlns:a16="http://schemas.microsoft.com/office/drawing/2014/main" id="{54F00375-246B-CCE7-F500-5E21D8A6DC4F}"/>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9" name="Rectangle 8">
            <a:extLst>
              <a:ext uri="{FF2B5EF4-FFF2-40B4-BE49-F238E27FC236}">
                <a16:creationId xmlns:a16="http://schemas.microsoft.com/office/drawing/2014/main" id="{88DA75A9-E74B-F049-A816-E14EAB11862E}"/>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0" name="Rectangle 9">
            <a:extLst>
              <a:ext uri="{FF2B5EF4-FFF2-40B4-BE49-F238E27FC236}">
                <a16:creationId xmlns:a16="http://schemas.microsoft.com/office/drawing/2014/main" id="{633DF95F-E6E1-362F-C0E2-6EA862456C50}"/>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1</a:t>
            </a:r>
          </a:p>
        </p:txBody>
      </p:sp>
      <p:sp>
        <p:nvSpPr>
          <p:cNvPr id="11" name="Rectangle 10">
            <a:extLst>
              <a:ext uri="{FF2B5EF4-FFF2-40B4-BE49-F238E27FC236}">
                <a16:creationId xmlns:a16="http://schemas.microsoft.com/office/drawing/2014/main" id="{6FDB7B3D-4BD3-E9B3-5D65-54978BF94B0C}"/>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a:rPr>
              <a:t>1</a:t>
            </a:r>
          </a:p>
        </p:txBody>
      </p:sp>
      <p:sp>
        <p:nvSpPr>
          <p:cNvPr id="12" name="Rectangle 11">
            <a:extLst>
              <a:ext uri="{FF2B5EF4-FFF2-40B4-BE49-F238E27FC236}">
                <a16:creationId xmlns:a16="http://schemas.microsoft.com/office/drawing/2014/main" id="{D2ED393F-DADB-5DC7-2373-81D2A3EFFAF9}"/>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1</a:t>
            </a:r>
          </a:p>
        </p:txBody>
      </p:sp>
      <p:sp>
        <p:nvSpPr>
          <p:cNvPr id="13" name="Rectangle 12">
            <a:extLst>
              <a:ext uri="{FF2B5EF4-FFF2-40B4-BE49-F238E27FC236}">
                <a16:creationId xmlns:a16="http://schemas.microsoft.com/office/drawing/2014/main" id="{503F66C3-9B30-AA9B-CB35-9BC093E7D3A5}"/>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a:rPr>
              <a:t>0</a:t>
            </a:r>
          </a:p>
        </p:txBody>
      </p:sp>
      <p:sp>
        <p:nvSpPr>
          <p:cNvPr id="14" name="Rectangle 13">
            <a:extLst>
              <a:ext uri="{FF2B5EF4-FFF2-40B4-BE49-F238E27FC236}">
                <a16:creationId xmlns:a16="http://schemas.microsoft.com/office/drawing/2014/main" id="{5A763A3C-2C64-8E90-6B4B-55F9BE345F1A}"/>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8A0018BC-36A0-BEB0-4FCB-B0F08CCA12CF}"/>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Arial Black" panose="020B0A04020102020204" charset="0"/>
              </a:rPr>
              <a:t>0</a:t>
            </a:r>
          </a:p>
        </p:txBody>
      </p:sp>
      <p:sp>
        <p:nvSpPr>
          <p:cNvPr id="3" name="Title 1">
            <a:extLst>
              <a:ext uri="{FF2B5EF4-FFF2-40B4-BE49-F238E27FC236}">
                <a16:creationId xmlns:a16="http://schemas.microsoft.com/office/drawing/2014/main" id="{1F111482-1630-736F-637D-E13D726A5926}"/>
              </a:ext>
            </a:extLst>
          </p:cNvPr>
          <p:cNvSpPr>
            <a:spLocks noGrp="1"/>
          </p:cNvSpPr>
          <p:nvPr>
            <p:ph type="title"/>
          </p:nvPr>
        </p:nvSpPr>
        <p:spPr>
          <a:xfrm>
            <a:off x="165375" y="122096"/>
            <a:ext cx="7886712" cy="1325565"/>
          </a:xfrm>
        </p:spPr>
        <p:txBody>
          <a:bodyPr/>
          <a:lstStyle/>
          <a:p>
            <a:r>
              <a:rPr lang="en-US">
                <a:latin typeface="Arial"/>
                <a:cs typeface="Arial"/>
              </a:rPr>
              <a:t>Step 7-10</a:t>
            </a:r>
            <a:endParaRPr lang="en-US" dirty="0">
              <a:cs typeface="Arial"/>
            </a:endParaRPr>
          </a:p>
        </p:txBody>
      </p:sp>
      <p:sp>
        <p:nvSpPr>
          <p:cNvPr id="17" name="TextBox 16">
            <a:extLst>
              <a:ext uri="{FF2B5EF4-FFF2-40B4-BE49-F238E27FC236}">
                <a16:creationId xmlns:a16="http://schemas.microsoft.com/office/drawing/2014/main" id="{AC0AB682-35BD-6E78-6227-2A7F686D9360}"/>
              </a:ext>
            </a:extLst>
          </p:cNvPr>
          <p:cNvSpPr txBox="1"/>
          <p:nvPr/>
        </p:nvSpPr>
        <p:spPr>
          <a:xfrm>
            <a:off x="979471" y="6046721"/>
            <a:ext cx="74757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What was the probability of this outcome?</a:t>
            </a:r>
          </a:p>
        </p:txBody>
      </p:sp>
    </p:spTree>
    <p:extLst>
      <p:ext uri="{BB962C8B-B14F-4D97-AF65-F5344CB8AC3E}">
        <p14:creationId xmlns:p14="http://schemas.microsoft.com/office/powerpoint/2010/main" val="3125068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62579-367D-97BF-26C8-228A2BFB7AB2}"/>
              </a:ext>
            </a:extLst>
          </p:cNvPr>
          <p:cNvSpPr>
            <a:spLocks noGrp="1"/>
          </p:cNvSpPr>
          <p:nvPr>
            <p:ph type="title"/>
          </p:nvPr>
        </p:nvSpPr>
        <p:spPr/>
        <p:txBody>
          <a:bodyPr/>
          <a:lstStyle/>
          <a:p>
            <a:r>
              <a:rPr lang="en-US">
                <a:latin typeface="Arial"/>
                <a:cs typeface="Arial"/>
              </a:rPr>
              <a:t>Combining probabilities: </a:t>
            </a:r>
            <a:br>
              <a:rPr lang="en-US" dirty="0">
                <a:latin typeface="Arial"/>
                <a:cs typeface="Arial"/>
              </a:rPr>
            </a:br>
            <a:r>
              <a:rPr lang="en-US">
                <a:latin typeface="Arial"/>
                <a:cs typeface="Arial"/>
              </a:rPr>
              <a:t>The AND rule</a:t>
            </a:r>
            <a:endParaRPr lang="en-US"/>
          </a:p>
        </p:txBody>
      </p:sp>
      <p:sp>
        <p:nvSpPr>
          <p:cNvPr id="3" name="Content Placeholder 2">
            <a:extLst>
              <a:ext uri="{FF2B5EF4-FFF2-40B4-BE49-F238E27FC236}">
                <a16:creationId xmlns:a16="http://schemas.microsoft.com/office/drawing/2014/main" id="{609E7B8B-858B-95FF-D046-9160EDC1E1CC}"/>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If two </a:t>
            </a:r>
            <a:r>
              <a:rPr lang="en-US" err="1">
                <a:latin typeface="Arial"/>
                <a:cs typeface="Arial"/>
              </a:rPr>
              <a:t>ind</a:t>
            </a:r>
            <a:r>
              <a:rPr lang="en-US" dirty="0">
                <a:latin typeface="Arial"/>
                <a:cs typeface="Arial"/>
              </a:rPr>
              <a:t>ependent events occur, MULTIPLY their individual probabilities to get the full probability of an event. Each roll of the dice (and each flip </a:t>
            </a:r>
            <a:r>
              <a:rPr lang="en-US">
                <a:latin typeface="Arial"/>
                <a:cs typeface="Arial"/>
              </a:rPr>
              <a:t>of the coin) </a:t>
            </a:r>
            <a:r>
              <a:rPr lang="en-US" i="1">
                <a:latin typeface="Arial"/>
                <a:cs typeface="Arial"/>
              </a:rPr>
              <a:t>is independent</a:t>
            </a:r>
            <a:r>
              <a:rPr lang="en-US">
                <a:latin typeface="Arial"/>
                <a:cs typeface="Arial"/>
              </a:rPr>
              <a:t>. </a:t>
            </a:r>
            <a:endParaRPr lang="en-US">
              <a:latin typeface="Arial"/>
              <a:cs typeface="Arial" panose="020B0604020202020204" pitchFamily="34" charset="0"/>
            </a:endParaRPr>
          </a:p>
        </p:txBody>
      </p:sp>
      <p:pic>
        <p:nvPicPr>
          <p:cNvPr id="5" name="Picture 4" descr="Using 2 dice, what is the probability of a die rolling 1 AND a die rolling 6? The equation of 1 over 6 times 1 over 6 equals 1 over 36 is shown. ">
            <a:extLst>
              <a:ext uri="{FF2B5EF4-FFF2-40B4-BE49-F238E27FC236}">
                <a16:creationId xmlns:a16="http://schemas.microsoft.com/office/drawing/2014/main" id="{CC565B67-CBDB-3E7F-8B15-E7EAA9FDE68E}"/>
              </a:ext>
            </a:extLst>
          </p:cNvPr>
          <p:cNvPicPr>
            <a:picLocks noChangeAspect="1"/>
          </p:cNvPicPr>
          <p:nvPr/>
        </p:nvPicPr>
        <p:blipFill>
          <a:blip r:embed="rId2"/>
          <a:stretch>
            <a:fillRect/>
          </a:stretch>
        </p:blipFill>
        <p:spPr>
          <a:xfrm>
            <a:off x="3885565" y="4363085"/>
            <a:ext cx="4505325" cy="1898650"/>
          </a:xfrm>
          <a:prstGeom prst="rect">
            <a:avLst/>
          </a:prstGeom>
        </p:spPr>
      </p:pic>
    </p:spTree>
    <p:extLst>
      <p:ext uri="{BB962C8B-B14F-4D97-AF65-F5344CB8AC3E}">
        <p14:creationId xmlns:p14="http://schemas.microsoft.com/office/powerpoint/2010/main" val="674530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8" name="Rectangle 7"/>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9" name="Rectangle 8"/>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0" name="Rectangle 9"/>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1" name="Rectangle 10"/>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2" name="Rectangle 11"/>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3" name="Rectangle 12"/>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4" name="Rectangle 13"/>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5" name="Rectangle 14"/>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grpSp>
        <p:nvGrpSpPr>
          <p:cNvPr id="28" name="Group 27">
            <a:extLst>
              <a:ext uri="{FF2B5EF4-FFF2-40B4-BE49-F238E27FC236}">
                <a16:creationId xmlns:a16="http://schemas.microsoft.com/office/drawing/2014/main" id="{93405D66-E042-B61B-2F27-AFB19BEB6B0C}"/>
              </a:ext>
            </a:extLst>
          </p:cNvPr>
          <p:cNvGrpSpPr/>
          <p:nvPr/>
        </p:nvGrpSpPr>
        <p:grpSpPr>
          <a:xfrm>
            <a:off x="1266825" y="1450975"/>
            <a:ext cx="6386830" cy="4351655"/>
            <a:chOff x="1266825" y="1450975"/>
            <a:chExt cx="6386830" cy="4351655"/>
          </a:xfrm>
        </p:grpSpPr>
        <p:pic>
          <p:nvPicPr>
            <p:cNvPr id="4" name="Content Placeholder 3" descr="Phylogeny with data on nodes and tips that we simulated. 9 arrows point to events where no change happened, and one red arrow points to an event where a change happened."/>
            <p:cNvPicPr>
              <a:picLocks noChangeAspect="1"/>
            </p:cNvPicPr>
            <p:nvPr/>
          </p:nvPicPr>
          <p:blipFill>
            <a:blip r:embed="rId3"/>
            <a:stretch>
              <a:fillRect/>
            </a:stretch>
          </p:blipFill>
          <p:spPr>
            <a:xfrm>
              <a:off x="1266825" y="1450975"/>
              <a:ext cx="6386830" cy="4351655"/>
            </a:xfrm>
            <a:prstGeom prst="rect">
              <a:avLst/>
            </a:prstGeom>
          </p:spPr>
        </p:pic>
        <p:grpSp>
          <p:nvGrpSpPr>
            <p:cNvPr id="2" name="Group 1">
              <a:extLst>
                <a:ext uri="{FF2B5EF4-FFF2-40B4-BE49-F238E27FC236}">
                  <a16:creationId xmlns:a16="http://schemas.microsoft.com/office/drawing/2014/main" id="{AE87744A-F9D9-5619-FD27-FF46517AFE24}"/>
                </a:ext>
              </a:extLst>
            </p:cNvPr>
            <p:cNvGrpSpPr/>
            <p:nvPr/>
          </p:nvGrpSpPr>
          <p:grpSpPr>
            <a:xfrm>
              <a:off x="2275522" y="1503363"/>
              <a:ext cx="2750820" cy="3427730"/>
              <a:chOff x="2275522" y="1503363"/>
              <a:chExt cx="2750820" cy="3427730"/>
            </a:xfrm>
          </p:grpSpPr>
          <p:sp>
            <p:nvSpPr>
              <p:cNvPr id="3" name="Right Arrow 2"/>
              <p:cNvSpPr/>
              <p:nvPr/>
            </p:nvSpPr>
            <p:spPr>
              <a:xfrm rot="5340000">
                <a:off x="2133600" y="192214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5340000">
                <a:off x="3361690" y="193611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5340000">
                <a:off x="4578350" y="165798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rot="5340000">
                <a:off x="4633595" y="242760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5340000">
                <a:off x="3343275" y="3089910"/>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rot="5340000">
                <a:off x="4577080" y="311594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5340000">
                <a:off x="2120900" y="364172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5340000">
                <a:off x="4617085" y="380428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rot="5340000">
                <a:off x="4583430" y="453834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5340000">
                <a:off x="3281680" y="4171315"/>
                <a:ext cx="547370" cy="23812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Text Box 24"/>
          <p:cNvSpPr txBox="1"/>
          <p:nvPr/>
        </p:nvSpPr>
        <p:spPr>
          <a:xfrm>
            <a:off x="142240" y="5567680"/>
            <a:ext cx="8859520" cy="460375"/>
          </a:xfrm>
          <a:prstGeom prst="rect">
            <a:avLst/>
          </a:prstGeom>
          <a:noFill/>
        </p:spPr>
        <p:txBody>
          <a:bodyPr wrap="none" rtlCol="0">
            <a:spAutoFit/>
          </a:bodyPr>
          <a:lstStyle/>
          <a:p>
            <a:r>
              <a:rPr lang="en-US" altLang="x-none" sz="2400">
                <a:latin typeface="Arial Black" panose="020B0A04020102020204" charset="0"/>
              </a:rPr>
              <a:t>L(T</a:t>
            </a:r>
            <a:r>
              <a:rPr lang="en-US" altLang="x-none" sz="2400" baseline="-25000">
                <a:latin typeface="Arial Black" panose="020B0A04020102020204" charset="0"/>
              </a:rPr>
              <a:t>1</a:t>
            </a:r>
            <a:r>
              <a:rPr lang="en-US" altLang="x-none" sz="2400">
                <a:latin typeface="Arial Black" panose="020B0A04020102020204" charset="0"/>
              </a:rPr>
              <a:t> | D, N</a:t>
            </a:r>
            <a:r>
              <a:rPr lang="en-US" altLang="x-none" sz="2400" baseline="-25000">
                <a:latin typeface="Arial Black" panose="020B0A04020102020204" charset="0"/>
              </a:rPr>
              <a:t>i</a:t>
            </a:r>
            <a:r>
              <a:rPr lang="en-US" altLang="x-none" sz="2400">
                <a:latin typeface="Arial Black" panose="020B0A04020102020204" charset="0"/>
              </a:rPr>
              <a:t>)=P</a:t>
            </a:r>
            <a:r>
              <a:rPr lang="x-none" altLang="en-US" sz="2400">
                <a:latin typeface="Arial Black" panose="020B0A04020102020204" charset="0"/>
              </a:rPr>
              <a:t>(D, N</a:t>
            </a:r>
            <a:r>
              <a:rPr lang="x-none" altLang="en-US" sz="2400" baseline="-25000">
                <a:latin typeface="Arial Black" panose="020B0A04020102020204" charset="0"/>
              </a:rPr>
              <a:t>i</a:t>
            </a:r>
            <a:r>
              <a:rPr lang="x-none" altLang="en-US" sz="2400">
                <a:latin typeface="Arial Black" panose="020B0A04020102020204" charset="0"/>
              </a:rPr>
              <a:t>|T</a:t>
            </a:r>
            <a:r>
              <a:rPr lang="x-none" altLang="en-US" sz="2400" baseline="-25000">
                <a:latin typeface="Arial Black" panose="020B0A04020102020204" charset="0"/>
              </a:rPr>
              <a:t>1</a:t>
            </a:r>
            <a:r>
              <a:rPr lang="x-none" altLang="en-US" sz="2400">
                <a:latin typeface="Arial Black" panose="020B0A04020102020204" charset="0"/>
              </a:rPr>
              <a:t>)* = (4/6)</a:t>
            </a:r>
            <a:r>
              <a:rPr lang="x-none" altLang="en-US" sz="2400" baseline="30000">
                <a:latin typeface="Arial Black" panose="020B0A04020102020204" charset="0"/>
              </a:rPr>
              <a:t>9</a:t>
            </a:r>
            <a:r>
              <a:rPr lang="x-none" altLang="en-US" sz="2400">
                <a:latin typeface="Arial Black" panose="020B0A04020102020204" charset="0"/>
              </a:rPr>
              <a:t> x </a:t>
            </a:r>
            <a:r>
              <a:rPr lang="en-US" altLang="x-none" sz="2400">
                <a:latin typeface="Arial Black" panose="020B0A04020102020204" charset="0"/>
              </a:rPr>
              <a:t>[</a:t>
            </a:r>
            <a:r>
              <a:rPr lang="x-none" altLang="en-US" sz="2400">
                <a:latin typeface="Arial Black" panose="020B0A04020102020204" charset="0"/>
              </a:rPr>
              <a:t>(2/6)</a:t>
            </a:r>
            <a:r>
              <a:rPr lang="en-US" altLang="x-none" sz="2400">
                <a:latin typeface="Arial Black" panose="020B0A04020102020204" charset="0"/>
              </a:rPr>
              <a:t>(1/2)]</a:t>
            </a:r>
            <a:r>
              <a:rPr lang="x-none" altLang="en-US" sz="2400" baseline="30000">
                <a:latin typeface="Arial Black" panose="020B0A04020102020204" charset="0"/>
              </a:rPr>
              <a:t>1</a:t>
            </a:r>
            <a:r>
              <a:rPr lang="x-none" altLang="en-US" sz="2400">
                <a:latin typeface="Arial Black" panose="020B0A04020102020204" charset="0"/>
              </a:rPr>
              <a:t>=0.00</a:t>
            </a:r>
            <a:r>
              <a:rPr lang="en-US" altLang="x-none" sz="2400">
                <a:latin typeface="Arial Black" panose="020B0A04020102020204" charset="0"/>
              </a:rPr>
              <a:t>43</a:t>
            </a:r>
          </a:p>
        </p:txBody>
      </p:sp>
      <p:sp>
        <p:nvSpPr>
          <p:cNvPr id="26" name="Title 25"/>
          <p:cNvSpPr>
            <a:spLocks noGrp="1"/>
          </p:cNvSpPr>
          <p:nvPr>
            <p:ph type="title"/>
          </p:nvPr>
        </p:nvSpPr>
        <p:spPr>
          <a:xfrm>
            <a:off x="384811" y="180976"/>
            <a:ext cx="7886712" cy="1325565"/>
          </a:xfrm>
        </p:spPr>
        <p:txBody>
          <a:bodyPr>
            <a:normAutofit/>
          </a:bodyPr>
          <a:lstStyle/>
          <a:p>
            <a:r>
              <a:rPr lang="x-none" altLang="en-US">
                <a:latin typeface="Arial"/>
                <a:cs typeface="Arial"/>
              </a:rPr>
              <a:t>Combining probabilities: </a:t>
            </a:r>
            <a:br>
              <a:rPr lang="x-none" altLang="en-US" dirty="0"/>
            </a:br>
            <a:r>
              <a:rPr lang="x-none" altLang="en-US">
                <a:latin typeface="Arial"/>
                <a:cs typeface="Arial"/>
              </a:rPr>
              <a:t>Calculating a likelihood</a:t>
            </a:r>
            <a:endParaRPr lang="x-none" altLang="en-US"/>
          </a:p>
        </p:txBody>
      </p:sp>
      <p:sp>
        <p:nvSpPr>
          <p:cNvPr id="27" name="Text Box 26"/>
          <p:cNvSpPr txBox="1"/>
          <p:nvPr/>
        </p:nvSpPr>
        <p:spPr>
          <a:xfrm>
            <a:off x="333949" y="6117590"/>
            <a:ext cx="8676005" cy="521970"/>
          </a:xfrm>
          <a:prstGeom prst="rect">
            <a:avLst/>
          </a:prstGeom>
          <a:noFill/>
        </p:spPr>
        <p:txBody>
          <a:bodyPr wrap="square" rtlCol="0">
            <a:spAutoFit/>
          </a:bodyPr>
          <a:lstStyle/>
          <a:p>
            <a:pPr algn="ctr"/>
            <a:r>
              <a:rPr lang="en-US" altLang="x-none" sz="1400">
                <a:latin typeface="Open Sans Condensed" panose="020B0806030504020204" charset="0"/>
                <a:cs typeface="Open Sans Condensed" panose="020B0806030504020204" charset="0"/>
              </a:rPr>
              <a:t>Read as: The likelihood of Tree 1 given the data at the tips (D) and nodes (N</a:t>
            </a:r>
            <a:r>
              <a:rPr lang="en-US" altLang="x-none" sz="1400" baseline="-25000">
                <a:latin typeface="Open Sans Condensed" panose="020B0806030504020204" charset="0"/>
                <a:cs typeface="Open Sans Condensed" panose="020B0806030504020204" charset="0"/>
              </a:rPr>
              <a:t>i</a:t>
            </a:r>
            <a:r>
              <a:rPr lang="en-US" altLang="x-none" sz="1400">
                <a:latin typeface="Open Sans Condensed" panose="020B0806030504020204" charset="0"/>
                <a:cs typeface="Open Sans Condensed" panose="020B0806030504020204" charset="0"/>
              </a:rPr>
              <a:t>) is equal to the probability of the data and node states given Tree 1 is true. (We can’t ask “is Tree 1 true” so simply, so we use the word Likelihood instead)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descr="The same data outcome at the tips as our simulation, but with an alternative topology. Now the scenario necessitates two events (one possible scenario is illustrated, with homoplasy in state 1 due to convergence). The tree has (bonobo, (human, chimp)). ">
            <a:extLst>
              <a:ext uri="{FF2B5EF4-FFF2-40B4-BE49-F238E27FC236}">
                <a16:creationId xmlns:a16="http://schemas.microsoft.com/office/drawing/2014/main" id="{DDEB293F-8EA9-F6BE-F427-D2CEA324EC6F}"/>
              </a:ext>
            </a:extLst>
          </p:cNvPr>
          <p:cNvGrpSpPr/>
          <p:nvPr/>
        </p:nvGrpSpPr>
        <p:grpSpPr>
          <a:xfrm>
            <a:off x="273685" y="1366520"/>
            <a:ext cx="8316595" cy="4886960"/>
            <a:chOff x="273685" y="1366520"/>
            <a:chExt cx="8316595" cy="4886960"/>
          </a:xfrm>
        </p:grpSpPr>
        <p:pic>
          <p:nvPicPr>
            <p:cNvPr id="4" name="Content Placeholder 3"/>
            <p:cNvPicPr>
              <a:picLocks noChangeAspect="1"/>
            </p:cNvPicPr>
            <p:nvPr/>
          </p:nvPicPr>
          <p:blipFill>
            <a:blip r:embed="rId2"/>
            <a:stretch>
              <a:fillRect/>
            </a:stretch>
          </p:blipFill>
          <p:spPr>
            <a:xfrm>
              <a:off x="1266825" y="1450975"/>
              <a:ext cx="6386830" cy="4351655"/>
            </a:xfrm>
            <a:prstGeom prst="rect">
              <a:avLst/>
            </a:prstGeom>
          </p:spPr>
        </p:pic>
        <p:sp>
          <p:nvSpPr>
            <p:cNvPr id="5" name="Rectangle 4"/>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6" name="Rectangle 5"/>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8" name="Rectangle 7"/>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9" name="Rectangle 8"/>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0" name="Rectangle 9"/>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1" name="Rectangle 10"/>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2" name="Rectangle 11"/>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3" name="Rectangle 12"/>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4" name="Rectangle 13"/>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5" name="Rectangle 14"/>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pic>
          <p:nvPicPr>
            <p:cNvPr id="2" name="Picture 1"/>
            <p:cNvPicPr>
              <a:picLocks noChangeAspect="1"/>
            </p:cNvPicPr>
            <p:nvPr/>
          </p:nvPicPr>
          <p:blipFill>
            <a:blip r:embed="rId3"/>
            <a:srcRect l="67596"/>
            <a:stretch>
              <a:fillRect/>
            </a:stretch>
          </p:blipFill>
          <p:spPr>
            <a:xfrm>
              <a:off x="5691505" y="1366520"/>
              <a:ext cx="2177415" cy="4592955"/>
            </a:xfrm>
            <a:prstGeom prst="rect">
              <a:avLst/>
            </a:prstGeom>
          </p:spPr>
        </p:pic>
        <p:sp>
          <p:nvSpPr>
            <p:cNvPr id="3" name="Right Arrow 2"/>
            <p:cNvSpPr/>
            <p:nvPr/>
          </p:nvSpPr>
          <p:spPr>
            <a:xfrm rot="5340000">
              <a:off x="2133600" y="192214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5340000">
              <a:off x="3361690" y="193611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5340000">
              <a:off x="4578350" y="165798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rot="5340000">
              <a:off x="4633595" y="242760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5340000">
              <a:off x="3343275" y="3089910"/>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rot="5340000">
              <a:off x="3356610" y="412813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5340000">
              <a:off x="2120900" y="364172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5340000">
              <a:off x="4611370" y="3822065"/>
              <a:ext cx="547370" cy="238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5340000">
              <a:off x="4578985" y="4522470"/>
              <a:ext cx="547370" cy="23812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rot="5340000">
              <a:off x="4581525" y="3125470"/>
              <a:ext cx="547370" cy="23812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Box 25"/>
            <p:cNvSpPr txBox="1"/>
            <p:nvPr/>
          </p:nvSpPr>
          <p:spPr>
            <a:xfrm>
              <a:off x="273685" y="5793105"/>
              <a:ext cx="8316595" cy="460375"/>
            </a:xfrm>
            <a:prstGeom prst="rect">
              <a:avLst/>
            </a:prstGeom>
            <a:noFill/>
          </p:spPr>
          <p:txBody>
            <a:bodyPr wrap="none" rtlCol="0">
              <a:spAutoFit/>
            </a:bodyPr>
            <a:lstStyle/>
            <a:p>
              <a:pPr algn="l"/>
              <a:r>
                <a:rPr lang="x-none" altLang="en-US" sz="2400">
                  <a:latin typeface="Arial Black" panose="020B0A04020102020204" charset="0"/>
                </a:rPr>
                <a:t>Likelihood(D, N</a:t>
              </a:r>
              <a:r>
                <a:rPr lang="x-none" altLang="en-US" sz="2400" baseline="-25000">
                  <a:latin typeface="Arial Black" panose="020B0A04020102020204" charset="0"/>
                </a:rPr>
                <a:t>j</a:t>
              </a:r>
              <a:r>
                <a:rPr lang="x-none" altLang="en-US" sz="2400">
                  <a:latin typeface="Arial Black" panose="020B0A04020102020204" charset="0"/>
                </a:rPr>
                <a:t>|</a:t>
              </a:r>
              <a:r>
                <a:rPr lang="x-none" altLang="en-US" sz="2400">
                  <a:latin typeface="Arial Black" panose="020B0A04020102020204" charset="0"/>
                  <a:sym typeface="+mn-ea"/>
                </a:rPr>
                <a:t>T</a:t>
              </a:r>
              <a:r>
                <a:rPr lang="x-none" altLang="en-US" sz="2400" baseline="-25000">
                  <a:latin typeface="Arial Black" panose="020B0A04020102020204" charset="0"/>
                  <a:sym typeface="+mn-ea"/>
                </a:rPr>
                <a:t>2</a:t>
              </a:r>
              <a:r>
                <a:rPr lang="x-none" altLang="en-US" sz="2400">
                  <a:latin typeface="Arial Black" panose="020B0A04020102020204" charset="0"/>
                </a:rPr>
                <a:t>)* = (4/6)</a:t>
              </a:r>
              <a:r>
                <a:rPr lang="x-none" altLang="en-US" sz="2400" baseline="30000">
                  <a:latin typeface="Arial Black" panose="020B0A04020102020204" charset="0"/>
                </a:rPr>
                <a:t>8</a:t>
              </a:r>
              <a:r>
                <a:rPr lang="x-none" altLang="en-US" sz="2400">
                  <a:latin typeface="Arial Black" panose="020B0A04020102020204" charset="0"/>
                </a:rPr>
                <a:t> x </a:t>
              </a:r>
              <a:r>
                <a:rPr lang="en-US" altLang="x-none" sz="2400">
                  <a:latin typeface="Arial Black" panose="020B0A04020102020204" charset="0"/>
                </a:rPr>
                <a:t>[</a:t>
              </a:r>
              <a:r>
                <a:rPr lang="x-none" altLang="en-US" sz="2400">
                  <a:latin typeface="Arial Black" panose="020B0A04020102020204" charset="0"/>
                </a:rPr>
                <a:t>(2/6)</a:t>
              </a:r>
              <a:r>
                <a:rPr lang="en-US" altLang="x-none" sz="2400">
                  <a:latin typeface="Arial Black" panose="020B0A04020102020204" charset="0"/>
                </a:rPr>
                <a:t>(1/2)]</a:t>
              </a:r>
              <a:r>
                <a:rPr lang="x-none" altLang="en-US" sz="2400" baseline="30000">
                  <a:latin typeface="Arial Black" panose="020B0A04020102020204" charset="0"/>
                </a:rPr>
                <a:t>2</a:t>
              </a:r>
              <a:r>
                <a:rPr lang="x-none" altLang="en-US" sz="2400">
                  <a:latin typeface="Arial Black" panose="020B0A04020102020204" charset="0"/>
                </a:rPr>
                <a:t>=0.00</a:t>
              </a:r>
              <a:r>
                <a:rPr lang="en-US" altLang="x-none" sz="2400">
                  <a:latin typeface="Arial Black" panose="020B0A04020102020204" charset="0"/>
                </a:rPr>
                <a:t>11</a:t>
              </a:r>
            </a:p>
          </p:txBody>
        </p:sp>
      </p:grpSp>
      <p:sp>
        <p:nvSpPr>
          <p:cNvPr id="27" name="Title 26"/>
          <p:cNvSpPr>
            <a:spLocks noGrp="1"/>
          </p:cNvSpPr>
          <p:nvPr>
            <p:ph type="title"/>
          </p:nvPr>
        </p:nvSpPr>
        <p:spPr>
          <a:xfrm>
            <a:off x="396876" y="156846"/>
            <a:ext cx="7886712" cy="1325565"/>
          </a:xfrm>
        </p:spPr>
        <p:txBody>
          <a:bodyPr>
            <a:noAutofit/>
          </a:bodyPr>
          <a:lstStyle/>
          <a:p>
            <a:r>
              <a:rPr lang="x-none" altLang="en-US" sz="2800" dirty="0">
                <a:latin typeface="Arial"/>
                <a:cs typeface="Arial"/>
              </a:rPr>
              <a:t>Combining probabilities: </a:t>
            </a:r>
            <a:br>
              <a:rPr lang="x-none" altLang="en-US" sz="2800" dirty="0"/>
            </a:br>
            <a:r>
              <a:rPr lang="x-none" altLang="en-US" sz="2800">
                <a:latin typeface="Arial"/>
                <a:cs typeface="Arial"/>
              </a:rPr>
              <a:t>The Likelihood under an alternative topology</a:t>
            </a:r>
            <a:endParaRPr lang="x-none" altLang="en-US"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8EC0C-F600-C462-A82A-F1780232E148}"/>
              </a:ext>
            </a:extLst>
          </p:cNvPr>
          <p:cNvSpPr>
            <a:spLocks noGrp="1"/>
          </p:cNvSpPr>
          <p:nvPr>
            <p:ph type="title"/>
          </p:nvPr>
        </p:nvSpPr>
        <p:spPr/>
        <p:txBody>
          <a:bodyPr>
            <a:normAutofit/>
          </a:bodyPr>
          <a:lstStyle/>
          <a:p>
            <a:r>
              <a:rPr lang="en-US" sz="4000">
                <a:latin typeface="Arial"/>
                <a:cs typeface="Arial"/>
              </a:rPr>
              <a:t>Node states are usually unknown</a:t>
            </a:r>
            <a:endParaRPr lang="en-US" sz="4000"/>
          </a:p>
        </p:txBody>
      </p:sp>
      <p:grpSp>
        <p:nvGrpSpPr>
          <p:cNvPr id="4" name="Group 3" descr="Same tree as we generated data, but data only shown at tips, not the internal nodes. What do we do now if we don't know the node states?">
            <a:extLst>
              <a:ext uri="{FF2B5EF4-FFF2-40B4-BE49-F238E27FC236}">
                <a16:creationId xmlns:a16="http://schemas.microsoft.com/office/drawing/2014/main" id="{6330C301-01E5-482A-2890-63D61E4F8181}"/>
              </a:ext>
            </a:extLst>
          </p:cNvPr>
          <p:cNvGrpSpPr/>
          <p:nvPr/>
        </p:nvGrpSpPr>
        <p:grpSpPr>
          <a:xfrm>
            <a:off x="1266825" y="1450975"/>
            <a:ext cx="6386830" cy="4351655"/>
            <a:chOff x="1266825" y="1450975"/>
            <a:chExt cx="6386830" cy="4351655"/>
          </a:xfrm>
        </p:grpSpPr>
        <p:pic>
          <p:nvPicPr>
            <p:cNvPr id="5" name="Content Placeholder 3">
              <a:extLst>
                <a:ext uri="{FF2B5EF4-FFF2-40B4-BE49-F238E27FC236}">
                  <a16:creationId xmlns:a16="http://schemas.microsoft.com/office/drawing/2014/main" id="{F9FBA78E-39DB-A513-0714-E3E393D9C840}"/>
                </a:ext>
              </a:extLst>
            </p:cNvPr>
            <p:cNvPicPr>
              <a:picLocks noChangeAspect="1"/>
            </p:cNvPicPr>
            <p:nvPr/>
          </p:nvPicPr>
          <p:blipFill>
            <a:blip r:embed="rId2"/>
            <a:stretch>
              <a:fillRect/>
            </a:stretch>
          </p:blipFill>
          <p:spPr>
            <a:xfrm>
              <a:off x="1266825" y="1450975"/>
              <a:ext cx="6386830" cy="4351655"/>
            </a:xfrm>
            <a:prstGeom prst="rect">
              <a:avLst/>
            </a:prstGeom>
          </p:spPr>
        </p:pic>
        <p:sp>
          <p:nvSpPr>
            <p:cNvPr id="6" name="Rectangle 5">
              <a:extLst>
                <a:ext uri="{FF2B5EF4-FFF2-40B4-BE49-F238E27FC236}">
                  <a16:creationId xmlns:a16="http://schemas.microsoft.com/office/drawing/2014/main" id="{E7B5E6AD-1E3D-906C-8A92-9B7C5E05A22B}"/>
                </a:ext>
              </a:extLst>
            </p:cNvPr>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7" name="Rectangle 6">
              <a:extLst>
                <a:ext uri="{FF2B5EF4-FFF2-40B4-BE49-F238E27FC236}">
                  <a16:creationId xmlns:a16="http://schemas.microsoft.com/office/drawing/2014/main" id="{ED7CD8FE-7465-C758-B8C2-B343B2000115}"/>
                </a:ext>
              </a:extLst>
            </p:cNvPr>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1DC6940D-6A4D-67EC-74CE-1A58F77A4456}"/>
                </a:ext>
              </a:extLst>
            </p:cNvPr>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986760A6-705E-459E-097A-9D8BBEBE1AD5}"/>
                </a:ext>
              </a:extLst>
            </p:cNvPr>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0" name="Rectangle 9">
              <a:extLst>
                <a:ext uri="{FF2B5EF4-FFF2-40B4-BE49-F238E27FC236}">
                  <a16:creationId xmlns:a16="http://schemas.microsoft.com/office/drawing/2014/main" id="{1D0FDDA9-DF5C-A1E9-4AD6-2BC5A94F90E0}"/>
                </a:ext>
              </a:extLst>
            </p:cNvPr>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756F2E63-6EFC-B1A1-2A09-655024214DEB}"/>
                </a:ext>
              </a:extLst>
            </p:cNvPr>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C6895839-76AB-F700-91D2-24E7D446A2EC}"/>
                </a:ext>
              </a:extLst>
            </p:cNvPr>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1</a:t>
              </a:r>
            </a:p>
          </p:txBody>
        </p:sp>
        <p:sp>
          <p:nvSpPr>
            <p:cNvPr id="13" name="Rectangle 12">
              <a:extLst>
                <a:ext uri="{FF2B5EF4-FFF2-40B4-BE49-F238E27FC236}">
                  <a16:creationId xmlns:a16="http://schemas.microsoft.com/office/drawing/2014/main" id="{3DEDC434-B86D-8E0A-1784-814A687B5C28}"/>
                </a:ext>
              </a:extLst>
            </p:cNvPr>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1</a:t>
              </a:r>
            </a:p>
          </p:txBody>
        </p:sp>
        <p:sp>
          <p:nvSpPr>
            <p:cNvPr id="14" name="Rectangle 13">
              <a:extLst>
                <a:ext uri="{FF2B5EF4-FFF2-40B4-BE49-F238E27FC236}">
                  <a16:creationId xmlns:a16="http://schemas.microsoft.com/office/drawing/2014/main" id="{751B312B-B53E-617E-C316-41A48412D4CE}"/>
                </a:ext>
              </a:extLst>
            </p:cNvPr>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8B5972FE-D899-F742-259A-A189FBB85002}"/>
                </a:ext>
              </a:extLst>
            </p:cNvPr>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sp>
          <p:nvSpPr>
            <p:cNvPr id="16" name="Rectangle 15">
              <a:extLst>
                <a:ext uri="{FF2B5EF4-FFF2-40B4-BE49-F238E27FC236}">
                  <a16:creationId xmlns:a16="http://schemas.microsoft.com/office/drawing/2014/main" id="{5B3F4090-1E4E-CEE6-310A-70107DA63B6E}"/>
                </a:ext>
              </a:extLst>
            </p:cNvPr>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grpSp>
    </p:spTree>
    <p:extLst>
      <p:ext uri="{BB962C8B-B14F-4D97-AF65-F5344CB8AC3E}">
        <p14:creationId xmlns:p14="http://schemas.microsoft.com/office/powerpoint/2010/main" val="2107236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x-none" altLang="en-US">
                <a:latin typeface="Open Sans Condensed" panose="020B0806030504020204" charset="0"/>
                <a:cs typeface="Open Sans Condensed" panose="020B0806030504020204" charset="0"/>
              </a:rPr>
              <a:t>Combining probabilities: </a:t>
            </a:r>
            <a:br>
              <a:rPr lang="x-none" altLang="en-US">
                <a:latin typeface="Open Sans Condensed" panose="020B0806030504020204" charset="0"/>
                <a:cs typeface="Open Sans Condensed" panose="020B0806030504020204" charset="0"/>
              </a:rPr>
            </a:br>
            <a:r>
              <a:rPr lang="x-none" altLang="en-US">
                <a:latin typeface="Open Sans Condensed" panose="020B0806030504020204" charset="0"/>
                <a:cs typeface="Open Sans Condensed" panose="020B0806030504020204" charset="0"/>
              </a:rPr>
              <a:t>The OR rule</a:t>
            </a:r>
          </a:p>
        </p:txBody>
      </p:sp>
      <p:sp>
        <p:nvSpPr>
          <p:cNvPr id="3" name="Content Placeholder 2"/>
          <p:cNvSpPr>
            <a:spLocks noGrp="1"/>
          </p:cNvSpPr>
          <p:nvPr>
            <p:ph idx="1"/>
          </p:nvPr>
        </p:nvSpPr>
        <p:spPr/>
        <p:txBody>
          <a:bodyPr/>
          <a:lstStyle/>
          <a:p>
            <a:pPr marL="0" indent="0">
              <a:buNone/>
            </a:pPr>
            <a:r>
              <a:rPr lang="x-none" altLang="en-US">
                <a:latin typeface="Open Sans Condensed" panose="020B0806030504020204" charset="0"/>
                <a:cs typeface="Open Sans Condensed" panose="020B0806030504020204" charset="0"/>
              </a:rPr>
              <a:t>Two mutually exclusive probabilities should be ADDED together to get the total probability of the two events</a:t>
            </a:r>
          </a:p>
        </p:txBody>
      </p:sp>
      <p:pic>
        <p:nvPicPr>
          <p:cNvPr id="4" name="Picture 3" descr="Using one die, what is the probability of a 1 OR a 6? The equation is shown: 1 over 6 plus 1 over 6 equals 1 over 3. "/>
          <p:cNvPicPr>
            <a:picLocks noChangeAspect="1"/>
          </p:cNvPicPr>
          <p:nvPr/>
        </p:nvPicPr>
        <p:blipFill>
          <a:blip r:embed="rId2"/>
          <a:stretch>
            <a:fillRect/>
          </a:stretch>
        </p:blipFill>
        <p:spPr>
          <a:xfrm>
            <a:off x="1657985" y="3709035"/>
            <a:ext cx="7364730" cy="26650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descr="The same data at the tips of our same tree, but now the nodes have a bunch of transitions but end up at the same point. This is a more unlikely, but possible, path to the tip data.">
            <a:extLst>
              <a:ext uri="{FF2B5EF4-FFF2-40B4-BE49-F238E27FC236}">
                <a16:creationId xmlns:a16="http://schemas.microsoft.com/office/drawing/2014/main" id="{916BD1B9-94DD-4C5B-4D5A-67F6236F0565}"/>
              </a:ext>
            </a:extLst>
          </p:cNvPr>
          <p:cNvGrpSpPr/>
          <p:nvPr/>
        </p:nvGrpSpPr>
        <p:grpSpPr>
          <a:xfrm>
            <a:off x="1177925" y="1506855"/>
            <a:ext cx="6386830" cy="4351655"/>
            <a:chOff x="1177925" y="1506855"/>
            <a:chExt cx="6386830" cy="4351655"/>
          </a:xfrm>
        </p:grpSpPr>
        <p:pic>
          <p:nvPicPr>
            <p:cNvPr id="4" name="Content Placeholder 3"/>
            <p:cNvPicPr>
              <a:picLocks noChangeAspect="1"/>
            </p:cNvPicPr>
            <p:nvPr/>
          </p:nvPicPr>
          <p:blipFill>
            <a:blip r:embed="rId3"/>
            <a:stretch>
              <a:fillRect/>
            </a:stretch>
          </p:blipFill>
          <p:spPr>
            <a:xfrm>
              <a:off x="1177925" y="1506855"/>
              <a:ext cx="6386830" cy="4351655"/>
            </a:xfrm>
            <a:prstGeom prst="rect">
              <a:avLst/>
            </a:prstGeom>
          </p:spPr>
        </p:pic>
        <p:sp>
          <p:nvSpPr>
            <p:cNvPr id="5" name="Rectangle 4"/>
            <p:cNvSpPr/>
            <p:nvPr/>
          </p:nvSpPr>
          <p:spPr>
            <a:xfrm>
              <a:off x="1608455" y="32073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6" name="Rectangle 5"/>
            <p:cNvSpPr/>
            <p:nvPr/>
          </p:nvSpPr>
          <p:spPr>
            <a:xfrm>
              <a:off x="2847975" y="24295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7" name="Rectangle 6"/>
            <p:cNvSpPr/>
            <p:nvPr/>
          </p:nvSpPr>
          <p:spPr>
            <a:xfrm>
              <a:off x="2842895" y="401256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8" name="Rectangle 7"/>
            <p:cNvSpPr/>
            <p:nvPr/>
          </p:nvSpPr>
          <p:spPr>
            <a:xfrm>
              <a:off x="4069080" y="347662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9" name="Rectangle 8"/>
            <p:cNvSpPr/>
            <p:nvPr/>
          </p:nvSpPr>
          <p:spPr>
            <a:xfrm>
              <a:off x="4081145" y="243522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0" name="Rectangle 9"/>
            <p:cNvSpPr/>
            <p:nvPr/>
          </p:nvSpPr>
          <p:spPr>
            <a:xfrm>
              <a:off x="4080510" y="45370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a:solidFill>
                    <a:schemeClr val="tx1"/>
                  </a:solidFill>
                  <a:latin typeface="Arial Black" panose="020B0A04020102020204" charset="0"/>
                </a:rPr>
                <a:t>0</a:t>
              </a:r>
            </a:p>
          </p:txBody>
        </p:sp>
        <p:sp>
          <p:nvSpPr>
            <p:cNvPr id="11" name="Rectangle 10"/>
            <p:cNvSpPr/>
            <p:nvPr/>
          </p:nvSpPr>
          <p:spPr>
            <a:xfrm>
              <a:off x="5295265" y="489394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2" name="Rectangle 11"/>
            <p:cNvSpPr/>
            <p:nvPr/>
          </p:nvSpPr>
          <p:spPr>
            <a:xfrm>
              <a:off x="5318760" y="41738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3" name="Rectangle 12"/>
            <p:cNvSpPr/>
            <p:nvPr/>
          </p:nvSpPr>
          <p:spPr>
            <a:xfrm>
              <a:off x="5325745" y="349504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4" name="Rectangle 13"/>
            <p:cNvSpPr/>
            <p:nvPr/>
          </p:nvSpPr>
          <p:spPr>
            <a:xfrm>
              <a:off x="5313045" y="27927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5" name="Rectangle 14"/>
            <p:cNvSpPr/>
            <p:nvPr/>
          </p:nvSpPr>
          <p:spPr>
            <a:xfrm>
              <a:off x="5319395" y="208470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grpSp>
      <p:sp>
        <p:nvSpPr>
          <p:cNvPr id="26" name="Text Box 25"/>
          <p:cNvSpPr txBox="1"/>
          <p:nvPr/>
        </p:nvSpPr>
        <p:spPr>
          <a:xfrm>
            <a:off x="0" y="5554980"/>
            <a:ext cx="9127490" cy="460375"/>
          </a:xfrm>
          <a:prstGeom prst="rect">
            <a:avLst/>
          </a:prstGeom>
          <a:noFill/>
        </p:spPr>
        <p:txBody>
          <a:bodyPr wrap="none" rtlCol="0">
            <a:spAutoFit/>
          </a:bodyPr>
          <a:lstStyle/>
          <a:p>
            <a:r>
              <a:rPr lang="x-none" altLang="en-US" sz="2400">
                <a:latin typeface="Arial Black" panose="020B0A04020102020204" charset="0"/>
              </a:rPr>
              <a:t>Likelihood (D, N</a:t>
            </a:r>
            <a:r>
              <a:rPr lang="x-none" altLang="en-US" sz="2400" baseline="-25000">
                <a:latin typeface="Arial Black" panose="020B0A04020102020204" charset="0"/>
              </a:rPr>
              <a:t>k</a:t>
            </a:r>
            <a:r>
              <a:rPr lang="x-none" altLang="en-US" sz="2400">
                <a:latin typeface="Arial Black" panose="020B0A04020102020204" charset="0"/>
              </a:rPr>
              <a:t>|T</a:t>
            </a:r>
            <a:r>
              <a:rPr lang="x-none" altLang="en-US" sz="2400" baseline="-25000">
                <a:latin typeface="Arial Black" panose="020B0A04020102020204" charset="0"/>
              </a:rPr>
              <a:t>1</a:t>
            </a:r>
            <a:r>
              <a:rPr lang="x-none" altLang="en-US" sz="2400">
                <a:latin typeface="Arial Black" panose="020B0A04020102020204" charset="0"/>
              </a:rPr>
              <a:t>)=(4/6)</a:t>
            </a:r>
            <a:r>
              <a:rPr lang="en-US" altLang="x-none" sz="2400" baseline="30000">
                <a:latin typeface="Arial Black" panose="020B0A04020102020204" charset="0"/>
              </a:rPr>
              <a:t>1</a:t>
            </a:r>
            <a:r>
              <a:rPr lang="x-none" altLang="en-US" sz="2400">
                <a:latin typeface="Arial Black" panose="020B0A04020102020204" charset="0"/>
              </a:rPr>
              <a:t> x </a:t>
            </a:r>
            <a:r>
              <a:rPr lang="en-US" altLang="x-none" sz="2400">
                <a:latin typeface="Arial Black" panose="020B0A04020102020204" charset="0"/>
              </a:rPr>
              <a:t>[</a:t>
            </a:r>
            <a:r>
              <a:rPr lang="x-none" altLang="en-US" sz="2400">
                <a:latin typeface="Arial Black" panose="020B0A04020102020204" charset="0"/>
              </a:rPr>
              <a:t>(2/6)</a:t>
            </a:r>
            <a:r>
              <a:rPr lang="en-US" altLang="x-none" sz="2400">
                <a:latin typeface="Arial Black" panose="020B0A04020102020204" charset="0"/>
              </a:rPr>
              <a:t>(1/2)]</a:t>
            </a:r>
            <a:r>
              <a:rPr lang="en-US" altLang="x-none" sz="2400" baseline="30000">
                <a:latin typeface="Arial Black" panose="020B0A04020102020204" charset="0"/>
              </a:rPr>
              <a:t>9</a:t>
            </a:r>
            <a:r>
              <a:rPr lang="x-none" altLang="en-US" sz="2400">
                <a:latin typeface="Arial Black" panose="020B0A04020102020204" charset="0"/>
              </a:rPr>
              <a:t>=0.</a:t>
            </a:r>
            <a:r>
              <a:rPr lang="en-US" altLang="x-none" sz="2400">
                <a:latin typeface="Arial Black" panose="020B0A04020102020204" charset="0"/>
              </a:rPr>
              <a:t>000000066</a:t>
            </a:r>
          </a:p>
        </p:txBody>
      </p:sp>
      <p:sp>
        <p:nvSpPr>
          <p:cNvPr id="23" name="Title 22"/>
          <p:cNvSpPr>
            <a:spLocks noGrp="1"/>
          </p:cNvSpPr>
          <p:nvPr>
            <p:ph type="title"/>
          </p:nvPr>
        </p:nvSpPr>
        <p:spPr>
          <a:xfrm>
            <a:off x="628651" y="203836"/>
            <a:ext cx="7886712" cy="1325565"/>
          </a:xfrm>
        </p:spPr>
        <p:txBody>
          <a:bodyPr>
            <a:noAutofit/>
          </a:bodyPr>
          <a:lstStyle/>
          <a:p>
            <a:r>
              <a:rPr lang="x-none" altLang="en-US" sz="2800" dirty="0">
                <a:latin typeface="Open Sans Condensed"/>
                <a:cs typeface="Open Sans Condensed" panose="020B0806030504020204" charset="0"/>
              </a:rPr>
              <a:t>Combining probabilities: </a:t>
            </a:r>
            <a:br>
              <a:rPr lang="x-none" altLang="en-US" sz="2800" dirty="0">
                <a:latin typeface="Open Sans Condensed" panose="020B0806030504020204" charset="0"/>
                <a:cs typeface="Open Sans Condensed" panose="020B0806030504020204" charset="0"/>
              </a:rPr>
            </a:br>
            <a:r>
              <a:rPr lang="x-none" altLang="en-US" sz="2800" dirty="0">
                <a:latin typeface="Open Sans Condensed"/>
                <a:cs typeface="Open Sans Condensed" panose="020B0806030504020204" charset="0"/>
              </a:rPr>
              <a:t>Calculate likelihood of another </a:t>
            </a:r>
            <a:r>
              <a:rPr lang="x-none" altLang="en-US" sz="2800">
                <a:latin typeface="Open Sans Condensed"/>
                <a:cs typeface="Open Sans Condensed" panose="020B0806030504020204" charset="0"/>
              </a:rPr>
              <a:t>possible history</a:t>
            </a:r>
            <a:endParaRPr lang="x-none" altLang="en-US" sz="2800">
              <a:latin typeface="Open Sans Condensed" panose="020B0806030504020204" charset="0"/>
              <a:cs typeface="Open Sans Condensed" panose="020B0806030504020204" charset="0"/>
            </a:endParaRPr>
          </a:p>
        </p:txBody>
      </p:sp>
      <p:sp>
        <p:nvSpPr>
          <p:cNvPr id="2" name="Text Box 1"/>
          <p:cNvSpPr txBox="1"/>
          <p:nvPr/>
        </p:nvSpPr>
        <p:spPr>
          <a:xfrm>
            <a:off x="488950" y="6109970"/>
            <a:ext cx="8335010" cy="368300"/>
          </a:xfrm>
          <a:prstGeom prst="rect">
            <a:avLst/>
          </a:prstGeom>
          <a:noFill/>
        </p:spPr>
        <p:txBody>
          <a:bodyPr wrap="square" rtlCol="0">
            <a:spAutoFit/>
          </a:bodyPr>
          <a:lstStyle/>
          <a:p>
            <a:r>
              <a:rPr lang="en-US" altLang="x-none" i="1">
                <a:latin typeface="Arial Black" panose="020B0A04020102020204" charset="0"/>
              </a:rPr>
              <a:t>This is a possible outcome under Tree</a:t>
            </a:r>
            <a:r>
              <a:rPr lang="en-US" altLang="x-none" i="1" baseline="-25000">
                <a:latin typeface="Arial Black" panose="020B0A04020102020204" charset="0"/>
              </a:rPr>
              <a:t>1</a:t>
            </a:r>
            <a:r>
              <a:rPr lang="en-US" altLang="x-none" i="1">
                <a:latin typeface="Arial Black" panose="020B0A04020102020204" charset="0"/>
              </a:rPr>
              <a:t>, but not especially likely!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descr="Same tree and tip data, but again, the nodes are a new set of possible histories.">
            <a:extLst>
              <a:ext uri="{FF2B5EF4-FFF2-40B4-BE49-F238E27FC236}">
                <a16:creationId xmlns:a16="http://schemas.microsoft.com/office/drawing/2014/main" id="{B073C25A-321A-39E1-3400-689C9B679260}"/>
              </a:ext>
            </a:extLst>
          </p:cNvPr>
          <p:cNvGrpSpPr/>
          <p:nvPr/>
        </p:nvGrpSpPr>
        <p:grpSpPr>
          <a:xfrm>
            <a:off x="1266825" y="1450975"/>
            <a:ext cx="6386830" cy="4351655"/>
            <a:chOff x="1266825" y="1450975"/>
            <a:chExt cx="6386830" cy="4351655"/>
          </a:xfrm>
        </p:grpSpPr>
        <p:pic>
          <p:nvPicPr>
            <p:cNvPr id="4" name="Content Placeholder 3"/>
            <p:cNvPicPr>
              <a:picLocks noChangeAspect="1"/>
            </p:cNvPicPr>
            <p:nvPr/>
          </p:nvPicPr>
          <p:blipFill>
            <a:blip r:embed="rId2"/>
            <a:stretch>
              <a:fillRect/>
            </a:stretch>
          </p:blipFill>
          <p:spPr>
            <a:xfrm>
              <a:off x="1266825" y="1450975"/>
              <a:ext cx="6386830" cy="4351655"/>
            </a:xfrm>
            <a:prstGeom prst="rect">
              <a:avLst/>
            </a:prstGeom>
          </p:spPr>
        </p:pic>
        <p:sp>
          <p:nvSpPr>
            <p:cNvPr id="5" name="Rectangle 4"/>
            <p:cNvSpPr/>
            <p:nvPr/>
          </p:nvSpPr>
          <p:spPr>
            <a:xfrm>
              <a:off x="1685925" y="3161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6" name="Rectangle 5"/>
            <p:cNvSpPr/>
            <p:nvPr/>
          </p:nvSpPr>
          <p:spPr>
            <a:xfrm>
              <a:off x="2925445" y="238315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a:solidFill>
                    <a:schemeClr val="tx1"/>
                  </a:solidFill>
                  <a:latin typeface="Arial Black" panose="020B0A04020102020204" charset="0"/>
                </a:rPr>
                <a:t>1</a:t>
              </a:r>
            </a:p>
          </p:txBody>
        </p:sp>
        <p:sp>
          <p:nvSpPr>
            <p:cNvPr id="7" name="Rectangle 6"/>
            <p:cNvSpPr/>
            <p:nvPr/>
          </p:nvSpPr>
          <p:spPr>
            <a:xfrm>
              <a:off x="2920365" y="396621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a:solidFill>
                    <a:schemeClr val="tx1"/>
                  </a:solidFill>
                  <a:latin typeface="Arial Black" panose="020B0A04020102020204" charset="0"/>
                </a:rPr>
                <a:t>1</a:t>
              </a:r>
            </a:p>
          </p:txBody>
        </p:sp>
        <p:sp>
          <p:nvSpPr>
            <p:cNvPr id="8" name="Rectangle 7"/>
            <p:cNvSpPr/>
            <p:nvPr/>
          </p:nvSpPr>
          <p:spPr>
            <a:xfrm>
              <a:off x="4146550" y="34302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a:solidFill>
                    <a:schemeClr val="tx1"/>
                  </a:solidFill>
                  <a:latin typeface="Arial Black" panose="020B0A04020102020204" charset="0"/>
                </a:rPr>
                <a:t>0</a:t>
              </a:r>
            </a:p>
          </p:txBody>
        </p:sp>
        <p:sp>
          <p:nvSpPr>
            <p:cNvPr id="9" name="Rectangle 8"/>
            <p:cNvSpPr/>
            <p:nvPr/>
          </p:nvSpPr>
          <p:spPr>
            <a:xfrm>
              <a:off x="4158615" y="238887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0" name="Rectangle 9"/>
            <p:cNvSpPr/>
            <p:nvPr/>
          </p:nvSpPr>
          <p:spPr>
            <a:xfrm>
              <a:off x="4157980" y="449072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a:solidFill>
                    <a:schemeClr val="tx1"/>
                  </a:solidFill>
                  <a:latin typeface="Arial Black" panose="020B0A04020102020204" charset="0"/>
                </a:rPr>
                <a:t>1</a:t>
              </a:r>
            </a:p>
          </p:txBody>
        </p:sp>
        <p:sp>
          <p:nvSpPr>
            <p:cNvPr id="11" name="Rectangle 10"/>
            <p:cNvSpPr/>
            <p:nvPr/>
          </p:nvSpPr>
          <p:spPr>
            <a:xfrm>
              <a:off x="5372735" y="484759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2" name="Rectangle 11"/>
            <p:cNvSpPr/>
            <p:nvPr/>
          </p:nvSpPr>
          <p:spPr>
            <a:xfrm>
              <a:off x="5396230" y="412750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1</a:t>
              </a:r>
            </a:p>
          </p:txBody>
        </p:sp>
        <p:sp>
          <p:nvSpPr>
            <p:cNvPr id="13" name="Rectangle 12"/>
            <p:cNvSpPr/>
            <p:nvPr/>
          </p:nvSpPr>
          <p:spPr>
            <a:xfrm>
              <a:off x="5403215" y="34486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4" name="Rectangle 13"/>
            <p:cNvSpPr/>
            <p:nvPr/>
          </p:nvSpPr>
          <p:spPr>
            <a:xfrm>
              <a:off x="5390515" y="2746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sp>
          <p:nvSpPr>
            <p:cNvPr id="15" name="Rectangle 14"/>
            <p:cNvSpPr/>
            <p:nvPr/>
          </p:nvSpPr>
          <p:spPr>
            <a:xfrm>
              <a:off x="5396865" y="20383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altLang="en-US">
                  <a:solidFill>
                    <a:schemeClr val="tx1"/>
                  </a:solidFill>
                  <a:latin typeface="Arial Black" panose="020B0A04020102020204" charset="0"/>
                </a:rPr>
                <a:t>0</a:t>
              </a:r>
            </a:p>
          </p:txBody>
        </p:sp>
      </p:grpSp>
      <p:sp>
        <p:nvSpPr>
          <p:cNvPr id="26" name="Text Box 25"/>
          <p:cNvSpPr txBox="1"/>
          <p:nvPr/>
        </p:nvSpPr>
        <p:spPr>
          <a:xfrm>
            <a:off x="346075" y="5567680"/>
            <a:ext cx="8517890" cy="460375"/>
          </a:xfrm>
          <a:prstGeom prst="rect">
            <a:avLst/>
          </a:prstGeom>
          <a:noFill/>
        </p:spPr>
        <p:txBody>
          <a:bodyPr wrap="none" rtlCol="0">
            <a:spAutoFit/>
          </a:bodyPr>
          <a:lstStyle/>
          <a:p>
            <a:r>
              <a:rPr lang="x-none" altLang="en-US" sz="2400">
                <a:latin typeface="Arial Black" panose="020B0A04020102020204" charset="0"/>
              </a:rPr>
              <a:t>Likelihood (D, N</a:t>
            </a:r>
            <a:r>
              <a:rPr lang="x-none" altLang="en-US" sz="2400" baseline="-25000">
                <a:latin typeface="Arial Black" panose="020B0A04020102020204" charset="0"/>
              </a:rPr>
              <a:t>k</a:t>
            </a:r>
            <a:r>
              <a:rPr lang="x-none" altLang="en-US" sz="2400">
                <a:latin typeface="Arial Black" panose="020B0A04020102020204" charset="0"/>
              </a:rPr>
              <a:t>|T</a:t>
            </a:r>
            <a:r>
              <a:rPr lang="x-none" altLang="en-US" sz="2400" baseline="-25000">
                <a:latin typeface="Arial Black" panose="020B0A04020102020204" charset="0"/>
              </a:rPr>
              <a:t>1</a:t>
            </a:r>
            <a:r>
              <a:rPr lang="x-none" altLang="en-US" sz="2400">
                <a:latin typeface="Arial Black" panose="020B0A04020102020204" charset="0"/>
              </a:rPr>
              <a:t>) = (4/6)</a:t>
            </a:r>
            <a:r>
              <a:rPr lang="en-US" altLang="x-none" sz="2400" baseline="30000">
                <a:latin typeface="Arial Black" panose="020B0A04020102020204" charset="0"/>
              </a:rPr>
              <a:t>7</a:t>
            </a:r>
            <a:r>
              <a:rPr lang="x-none" altLang="en-US" sz="2400">
                <a:latin typeface="Arial Black" panose="020B0A04020102020204" charset="0"/>
              </a:rPr>
              <a:t> x </a:t>
            </a:r>
            <a:r>
              <a:rPr lang="en-US" altLang="x-none" sz="2400">
                <a:latin typeface="Arial Black" panose="020B0A04020102020204" charset="0"/>
              </a:rPr>
              <a:t>[</a:t>
            </a:r>
            <a:r>
              <a:rPr lang="x-none" altLang="en-US" sz="2400">
                <a:latin typeface="Arial Black" panose="020B0A04020102020204" charset="0"/>
              </a:rPr>
              <a:t>(2/6)</a:t>
            </a:r>
            <a:r>
              <a:rPr lang="en-US" altLang="x-none" sz="2400">
                <a:latin typeface="Arial Black" panose="020B0A04020102020204" charset="0"/>
              </a:rPr>
              <a:t>(1/2)]</a:t>
            </a:r>
            <a:r>
              <a:rPr lang="en-US" altLang="x-none" sz="2400" baseline="30000">
                <a:latin typeface="Arial Black" panose="020B0A04020102020204" charset="0"/>
              </a:rPr>
              <a:t>3</a:t>
            </a:r>
            <a:r>
              <a:rPr lang="x-none" altLang="en-US" sz="2400">
                <a:latin typeface="Arial Black" panose="020B0A04020102020204" charset="0"/>
              </a:rPr>
              <a:t>=0.00</a:t>
            </a:r>
            <a:r>
              <a:rPr lang="en-US" altLang="x-none" sz="2400">
                <a:latin typeface="Arial Black" panose="020B0A04020102020204" charset="0"/>
              </a:rPr>
              <a:t>027</a:t>
            </a:r>
          </a:p>
        </p:txBody>
      </p:sp>
      <p:sp>
        <p:nvSpPr>
          <p:cNvPr id="23" name="Title 22"/>
          <p:cNvSpPr>
            <a:spLocks noGrp="1"/>
          </p:cNvSpPr>
          <p:nvPr>
            <p:ph type="title"/>
          </p:nvPr>
        </p:nvSpPr>
        <p:spPr>
          <a:xfrm>
            <a:off x="628651" y="203836"/>
            <a:ext cx="7886712" cy="1325565"/>
          </a:xfrm>
        </p:spPr>
        <p:txBody>
          <a:bodyPr>
            <a:normAutofit fontScale="90000"/>
          </a:bodyPr>
          <a:lstStyle/>
          <a:p>
            <a:r>
              <a:rPr lang="x-none" altLang="en-US">
                <a:latin typeface="Open Sans Condensed"/>
                <a:cs typeface="Open Sans Condensed" panose="020B0806030504020204" charset="0"/>
              </a:rPr>
              <a:t>Combining probabilities: </a:t>
            </a:r>
            <a:br>
              <a:rPr lang="x-none" altLang="en-US" dirty="0">
                <a:latin typeface="Open Sans Condensed" panose="020B0806030504020204" charset="0"/>
                <a:cs typeface="Open Sans Condensed" panose="020B0806030504020204" charset="0"/>
              </a:rPr>
            </a:br>
            <a:r>
              <a:rPr lang="x-none" altLang="en-US">
                <a:latin typeface="Open Sans Condensed"/>
                <a:cs typeface="Open Sans Condensed" panose="020B0806030504020204" charset="0"/>
              </a:rPr>
              <a:t>Yet another history under the same tree</a:t>
            </a:r>
            <a:endParaRPr lang="x-none" altLang="en-US">
              <a:latin typeface="Open Sans Condensed" panose="020B0806030504020204" charset="0"/>
              <a:cs typeface="Open Sans Condensed" panose="020B0806030504020204" charset="0"/>
            </a:endParaRPr>
          </a:p>
        </p:txBody>
      </p:sp>
      <p:sp>
        <p:nvSpPr>
          <p:cNvPr id="2" name="Text Box 1"/>
          <p:cNvSpPr txBox="1"/>
          <p:nvPr/>
        </p:nvSpPr>
        <p:spPr>
          <a:xfrm>
            <a:off x="1056005" y="6077585"/>
            <a:ext cx="7247890" cy="368300"/>
          </a:xfrm>
          <a:prstGeom prst="rect">
            <a:avLst/>
          </a:prstGeom>
          <a:noFill/>
        </p:spPr>
        <p:txBody>
          <a:bodyPr wrap="square" rtlCol="0">
            <a:spAutoFit/>
          </a:bodyPr>
          <a:lstStyle/>
          <a:p>
            <a:r>
              <a:rPr lang="en-US" altLang="x-none" i="1">
                <a:latin typeface="Arial Black" panose="020B0A04020102020204" charset="0"/>
              </a:rPr>
              <a:t>This is also a possible outcome, a little bit more likely!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BEC68-4AEA-69F6-1ECD-F8B5B000222C}"/>
              </a:ext>
            </a:extLst>
          </p:cNvPr>
          <p:cNvSpPr>
            <a:spLocks noGrp="1"/>
          </p:cNvSpPr>
          <p:nvPr>
            <p:ph type="title"/>
          </p:nvPr>
        </p:nvSpPr>
        <p:spPr/>
        <p:txBody>
          <a:bodyPr/>
          <a:lstStyle/>
          <a:p>
            <a:r>
              <a:rPr lang="en-US" dirty="0">
                <a:latin typeface="Arial"/>
                <a:cs typeface="Arial"/>
              </a:rPr>
              <a:t>Calculating likelihoods over all </a:t>
            </a:r>
            <a:r>
              <a:rPr lang="en-US">
                <a:latin typeface="Arial"/>
                <a:cs typeface="Arial"/>
              </a:rPr>
              <a:t>possible histories </a:t>
            </a:r>
            <a:endParaRPr lang="en-US" dirty="0">
              <a:cs typeface="Arial"/>
            </a:endParaRPr>
          </a:p>
        </p:txBody>
      </p:sp>
      <p:grpSp>
        <p:nvGrpSpPr>
          <p:cNvPr id="4" name="Group 3" descr="Same phylogeny and tip data, but with node boxes empty.">
            <a:extLst>
              <a:ext uri="{FF2B5EF4-FFF2-40B4-BE49-F238E27FC236}">
                <a16:creationId xmlns:a16="http://schemas.microsoft.com/office/drawing/2014/main" id="{A3B06757-9590-014D-291E-DD7D7EE9F7B4}"/>
              </a:ext>
            </a:extLst>
          </p:cNvPr>
          <p:cNvGrpSpPr/>
          <p:nvPr/>
        </p:nvGrpSpPr>
        <p:grpSpPr>
          <a:xfrm>
            <a:off x="1969374" y="1719161"/>
            <a:ext cx="5422306" cy="3425105"/>
            <a:chOff x="1088391" y="450850"/>
            <a:chExt cx="6386830" cy="4351655"/>
          </a:xfrm>
        </p:grpSpPr>
        <p:pic>
          <p:nvPicPr>
            <p:cNvPr id="5" name="Content Placeholder 3">
              <a:extLst>
                <a:ext uri="{FF2B5EF4-FFF2-40B4-BE49-F238E27FC236}">
                  <a16:creationId xmlns:a16="http://schemas.microsoft.com/office/drawing/2014/main" id="{BCB3AEC3-FDE1-8458-D825-BCE0395C15F1}"/>
                </a:ext>
              </a:extLst>
            </p:cNvPr>
            <p:cNvPicPr>
              <a:picLocks noChangeAspect="1"/>
            </p:cNvPicPr>
            <p:nvPr/>
          </p:nvPicPr>
          <p:blipFill>
            <a:blip r:embed="rId2"/>
            <a:stretch>
              <a:fillRect/>
            </a:stretch>
          </p:blipFill>
          <p:spPr>
            <a:xfrm>
              <a:off x="1088391" y="450850"/>
              <a:ext cx="6386830" cy="4351655"/>
            </a:xfrm>
            <a:prstGeom prst="rect">
              <a:avLst/>
            </a:prstGeom>
          </p:spPr>
        </p:pic>
        <p:sp>
          <p:nvSpPr>
            <p:cNvPr id="6" name="Rectangle 5">
              <a:extLst>
                <a:ext uri="{FF2B5EF4-FFF2-40B4-BE49-F238E27FC236}">
                  <a16:creationId xmlns:a16="http://schemas.microsoft.com/office/drawing/2014/main" id="{6793D71C-B98F-A090-8FF8-36A88D5826EA}"/>
                </a:ext>
              </a:extLst>
            </p:cNvPr>
            <p:cNvSpPr/>
            <p:nvPr/>
          </p:nvSpPr>
          <p:spPr>
            <a:xfrm>
              <a:off x="1507490" y="216090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7" name="Rectangle 6">
              <a:extLst>
                <a:ext uri="{FF2B5EF4-FFF2-40B4-BE49-F238E27FC236}">
                  <a16:creationId xmlns:a16="http://schemas.microsoft.com/office/drawing/2014/main" id="{C0CD03AD-2AC1-78D2-31FE-A1BA4D621F9F}"/>
                </a:ext>
              </a:extLst>
            </p:cNvPr>
            <p:cNvSpPr/>
            <p:nvPr/>
          </p:nvSpPr>
          <p:spPr>
            <a:xfrm>
              <a:off x="2747010" y="138303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8" name="Rectangle 7">
              <a:extLst>
                <a:ext uri="{FF2B5EF4-FFF2-40B4-BE49-F238E27FC236}">
                  <a16:creationId xmlns:a16="http://schemas.microsoft.com/office/drawing/2014/main" id="{E3C51304-9426-A6EE-342F-21DD893B3848}"/>
                </a:ext>
              </a:extLst>
            </p:cNvPr>
            <p:cNvSpPr/>
            <p:nvPr/>
          </p:nvSpPr>
          <p:spPr>
            <a:xfrm>
              <a:off x="2741930" y="296608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9" name="Rectangle 8">
              <a:extLst>
                <a:ext uri="{FF2B5EF4-FFF2-40B4-BE49-F238E27FC236}">
                  <a16:creationId xmlns:a16="http://schemas.microsoft.com/office/drawing/2014/main" id="{E7B1A356-190D-6EF8-9F08-00ADBF112A86}"/>
                </a:ext>
              </a:extLst>
            </p:cNvPr>
            <p:cNvSpPr/>
            <p:nvPr/>
          </p:nvSpPr>
          <p:spPr>
            <a:xfrm>
              <a:off x="3968115" y="243014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0" name="Rectangle 9">
              <a:extLst>
                <a:ext uri="{FF2B5EF4-FFF2-40B4-BE49-F238E27FC236}">
                  <a16:creationId xmlns:a16="http://schemas.microsoft.com/office/drawing/2014/main" id="{5CE7C5E1-DAFA-8802-C456-D7A35B258F6A}"/>
                </a:ext>
              </a:extLst>
            </p:cNvPr>
            <p:cNvSpPr/>
            <p:nvPr/>
          </p:nvSpPr>
          <p:spPr>
            <a:xfrm>
              <a:off x="3980180" y="138874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1" name="Rectangle 10">
              <a:extLst>
                <a:ext uri="{FF2B5EF4-FFF2-40B4-BE49-F238E27FC236}">
                  <a16:creationId xmlns:a16="http://schemas.microsoft.com/office/drawing/2014/main" id="{ED68AFD2-A27C-2178-8049-AA8D97A5970F}"/>
                </a:ext>
              </a:extLst>
            </p:cNvPr>
            <p:cNvSpPr/>
            <p:nvPr/>
          </p:nvSpPr>
          <p:spPr>
            <a:xfrm>
              <a:off x="3979545" y="349059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altLang="en-US">
                <a:solidFill>
                  <a:schemeClr val="tx1"/>
                </a:solidFill>
                <a:latin typeface="Arial Black" panose="020B0A04020102020204" charset="0"/>
              </a:endParaRPr>
            </a:p>
          </p:txBody>
        </p:sp>
        <p:sp>
          <p:nvSpPr>
            <p:cNvPr id="12" name="Rectangle 11">
              <a:extLst>
                <a:ext uri="{FF2B5EF4-FFF2-40B4-BE49-F238E27FC236}">
                  <a16:creationId xmlns:a16="http://schemas.microsoft.com/office/drawing/2014/main" id="{FB5FD58B-588E-73D8-1BD7-6491F3661A23}"/>
                </a:ext>
              </a:extLst>
            </p:cNvPr>
            <p:cNvSpPr/>
            <p:nvPr/>
          </p:nvSpPr>
          <p:spPr>
            <a:xfrm>
              <a:off x="5194300" y="384746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1</a:t>
              </a:r>
            </a:p>
          </p:txBody>
        </p:sp>
        <p:sp>
          <p:nvSpPr>
            <p:cNvPr id="13" name="Rectangle 12">
              <a:extLst>
                <a:ext uri="{FF2B5EF4-FFF2-40B4-BE49-F238E27FC236}">
                  <a16:creationId xmlns:a16="http://schemas.microsoft.com/office/drawing/2014/main" id="{1BE75C07-0C56-A9C8-FCD0-B1027D646BE1}"/>
                </a:ext>
              </a:extLst>
            </p:cNvPr>
            <p:cNvSpPr/>
            <p:nvPr/>
          </p:nvSpPr>
          <p:spPr>
            <a:xfrm>
              <a:off x="5217795" y="312737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1</a:t>
              </a:r>
            </a:p>
          </p:txBody>
        </p:sp>
        <p:sp>
          <p:nvSpPr>
            <p:cNvPr id="14" name="Rectangle 13">
              <a:extLst>
                <a:ext uri="{FF2B5EF4-FFF2-40B4-BE49-F238E27FC236}">
                  <a16:creationId xmlns:a16="http://schemas.microsoft.com/office/drawing/2014/main" id="{8BCE9F76-9396-FA09-C7FD-0015067D9052}"/>
                </a:ext>
              </a:extLst>
            </p:cNvPr>
            <p:cNvSpPr/>
            <p:nvPr/>
          </p:nvSpPr>
          <p:spPr>
            <a:xfrm>
              <a:off x="5224780" y="244856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sp>
          <p:nvSpPr>
            <p:cNvPr id="15" name="Rectangle 14">
              <a:extLst>
                <a:ext uri="{FF2B5EF4-FFF2-40B4-BE49-F238E27FC236}">
                  <a16:creationId xmlns:a16="http://schemas.microsoft.com/office/drawing/2014/main" id="{8F73BD45-9090-1528-E8D3-A24538E28441}"/>
                </a:ext>
              </a:extLst>
            </p:cNvPr>
            <p:cNvSpPr/>
            <p:nvPr/>
          </p:nvSpPr>
          <p:spPr>
            <a:xfrm>
              <a:off x="5212080" y="1746250"/>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sp>
          <p:nvSpPr>
            <p:cNvPr id="16" name="Rectangle 15">
              <a:extLst>
                <a:ext uri="{FF2B5EF4-FFF2-40B4-BE49-F238E27FC236}">
                  <a16:creationId xmlns:a16="http://schemas.microsoft.com/office/drawing/2014/main" id="{E4314CE2-36E2-3223-DA85-1198CA3460F3}"/>
                </a:ext>
              </a:extLst>
            </p:cNvPr>
            <p:cNvSpPr/>
            <p:nvPr/>
          </p:nvSpPr>
          <p:spPr>
            <a:xfrm>
              <a:off x="5218430" y="1038225"/>
              <a:ext cx="232410" cy="2736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x-none" altLang="en-US">
                  <a:solidFill>
                    <a:schemeClr val="tx1"/>
                  </a:solidFill>
                  <a:latin typeface="Arial Black" panose="020B0A04020102020204" charset="0"/>
                </a:rPr>
                <a:t>0</a:t>
              </a:r>
            </a:p>
          </p:txBody>
        </p:sp>
      </p:grpSp>
      <p:sp>
        <p:nvSpPr>
          <p:cNvPr id="3" name="Content Placeholder 2">
            <a:extLst>
              <a:ext uri="{FF2B5EF4-FFF2-40B4-BE49-F238E27FC236}">
                <a16:creationId xmlns:a16="http://schemas.microsoft.com/office/drawing/2014/main" id="{FC96DC1B-B7CE-D445-A0E7-326FABE83790}"/>
              </a:ext>
            </a:extLst>
          </p:cNvPr>
          <p:cNvSpPr>
            <a:spLocks noGrp="1"/>
          </p:cNvSpPr>
          <p:nvPr>
            <p:ph idx="1"/>
          </p:nvPr>
        </p:nvSpPr>
        <p:spPr>
          <a:xfrm>
            <a:off x="628651" y="5038179"/>
            <a:ext cx="7886712" cy="1214740"/>
          </a:xfrm>
        </p:spPr>
        <p:txBody>
          <a:bodyPr vert="horz" lIns="91440" tIns="45720" rIns="91440" bIns="45720" rtlCol="0" anchor="t">
            <a:noAutofit/>
          </a:bodyPr>
          <a:lstStyle/>
          <a:p>
            <a:pPr>
              <a:buNone/>
            </a:pPr>
            <a:r>
              <a:rPr lang="x-none" sz="2000">
                <a:latin typeface="Arial"/>
                <a:cs typeface="Arial"/>
              </a:rPr>
              <a:t>There are 2</a:t>
            </a:r>
            <a:r>
              <a:rPr lang="x-none" sz="1400" baseline="30000">
                <a:latin typeface="Arial"/>
                <a:cs typeface="Arial"/>
              </a:rPr>
              <a:t>6</a:t>
            </a:r>
            <a:r>
              <a:rPr lang="x-none" sz="2000">
                <a:latin typeface="Arial"/>
                <a:cs typeface="Arial"/>
              </a:rPr>
              <a:t> = 64 possible node assignments</a:t>
            </a:r>
            <a:r>
              <a:rPr lang="en-US" sz="2000">
                <a:latin typeface="Arial"/>
                <a:cs typeface="Arial"/>
              </a:rPr>
              <a:t> for Tree</a:t>
            </a:r>
            <a:r>
              <a:rPr lang="en-US" sz="1400" baseline="-25000">
                <a:latin typeface="Arial"/>
                <a:cs typeface="Arial"/>
              </a:rPr>
              <a:t>1</a:t>
            </a:r>
            <a:r>
              <a:rPr lang="x-none" sz="2000">
                <a:latin typeface="Arial"/>
                <a:cs typeface="Arial"/>
              </a:rPr>
              <a:t>. We could calculate the likelihood of each one, then </a:t>
            </a:r>
            <a:r>
              <a:rPr lang="en-US" sz="2000">
                <a:latin typeface="Arial"/>
                <a:cs typeface="Arial"/>
              </a:rPr>
              <a:t>________</a:t>
            </a:r>
            <a:r>
              <a:rPr lang="x-none" sz="2000">
                <a:latin typeface="Arial"/>
                <a:cs typeface="Arial"/>
              </a:rPr>
              <a:t> them together, to get the total L</a:t>
            </a:r>
            <a:r>
              <a:rPr lang="en-US" sz="2000">
                <a:latin typeface="Arial"/>
                <a:cs typeface="Arial"/>
              </a:rPr>
              <a:t>ikelihood</a:t>
            </a:r>
            <a:r>
              <a:rPr lang="x-none" sz="2000">
                <a:latin typeface="Arial"/>
                <a:cs typeface="Arial"/>
              </a:rPr>
              <a:t>(Tree</a:t>
            </a:r>
            <a:r>
              <a:rPr lang="x-none" sz="1400" baseline="-25000">
                <a:latin typeface="Arial"/>
                <a:cs typeface="Arial"/>
              </a:rPr>
              <a:t>1</a:t>
            </a:r>
            <a:r>
              <a:rPr lang="en-US" sz="1400" baseline="-25000" dirty="0">
                <a:latin typeface="Arial"/>
                <a:cs typeface="Arial"/>
              </a:rPr>
              <a:t> </a:t>
            </a:r>
            <a:r>
              <a:rPr lang="en-US" sz="2000">
                <a:latin typeface="Arial"/>
                <a:cs typeface="Arial"/>
              </a:rPr>
              <a:t>| Data</a:t>
            </a:r>
            <a:r>
              <a:rPr lang="x-none" sz="2000">
                <a:latin typeface="Arial"/>
                <a:cs typeface="Arial"/>
              </a:rPr>
              <a:t>). </a:t>
            </a:r>
            <a:br>
              <a:rPr lang="x-none" sz="2000" dirty="0">
                <a:latin typeface="Arial"/>
                <a:cs typeface="Arial"/>
              </a:rPr>
            </a:br>
            <a:br>
              <a:rPr lang="x-none" sz="2000" dirty="0">
                <a:latin typeface="Arial"/>
                <a:cs typeface="Arial"/>
              </a:rPr>
            </a:br>
            <a:r>
              <a:rPr lang="x-none" sz="2000">
                <a:latin typeface="Arial"/>
                <a:cs typeface="Arial"/>
              </a:rPr>
              <a:t>Now, like parsimony, you can do either a heuristic or exhaustive </a:t>
            </a:r>
            <a:r>
              <a:rPr lang="en-US" sz="2000">
                <a:latin typeface="Arial"/>
                <a:cs typeface="Arial"/>
              </a:rPr>
              <a:t>search for the tree with the maximum likelihood)</a:t>
            </a:r>
            <a:r>
              <a:rPr lang="x-none" sz="2000" dirty="0">
                <a:latin typeface="Arial"/>
                <a:cs typeface="Arial"/>
              </a:rPr>
              <a:t> </a:t>
            </a:r>
            <a:br>
              <a:rPr lang="x-none" sz="2000" dirty="0">
                <a:latin typeface="Arial"/>
                <a:cs typeface="Arial"/>
              </a:rPr>
            </a:br>
            <a:endParaRPr lang="en-US" sz="2000">
              <a:latin typeface="Arial"/>
              <a:cs typeface="Arial"/>
            </a:endParaRPr>
          </a:p>
          <a:p>
            <a:pPr marL="0" indent="0">
              <a:buNone/>
            </a:pPr>
            <a:endParaRPr lang="en-US" sz="2400" dirty="0">
              <a:latin typeface="Arial"/>
              <a:cs typeface="Arial"/>
            </a:endParaRPr>
          </a:p>
        </p:txBody>
      </p:sp>
    </p:spTree>
    <p:extLst>
      <p:ext uri="{BB962C8B-B14F-4D97-AF65-F5344CB8AC3E}">
        <p14:creationId xmlns:p14="http://schemas.microsoft.com/office/powerpoint/2010/main" val="1555876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B17B-6FC5-A5F1-006E-B1EF21B20077}"/>
              </a:ext>
            </a:extLst>
          </p:cNvPr>
          <p:cNvSpPr>
            <a:spLocks noGrp="1"/>
          </p:cNvSpPr>
          <p:nvPr>
            <p:ph type="title"/>
          </p:nvPr>
        </p:nvSpPr>
        <p:spPr/>
        <p:txBody>
          <a:bodyPr/>
          <a:lstStyle/>
          <a:p>
            <a:r>
              <a:rPr lang="en-US">
                <a:latin typeface="Arial"/>
                <a:cs typeface="Arial"/>
              </a:rPr>
              <a:t>Biology will want </a:t>
            </a:r>
            <a:r>
              <a:rPr lang="en-US" i="1">
                <a:latin typeface="Arial"/>
                <a:cs typeface="Arial"/>
              </a:rPr>
              <a:t>continuous time</a:t>
            </a:r>
            <a:endParaRPr lang="en-US" i="1">
              <a:cs typeface="Arial"/>
            </a:endParaRPr>
          </a:p>
        </p:txBody>
      </p:sp>
      <p:sp>
        <p:nvSpPr>
          <p:cNvPr id="3" name="Content Placeholder 2">
            <a:extLst>
              <a:ext uri="{FF2B5EF4-FFF2-40B4-BE49-F238E27FC236}">
                <a16:creationId xmlns:a16="http://schemas.microsoft.com/office/drawing/2014/main" id="{73EDAF71-02BD-A3C1-A522-ABFA1A5CC870}"/>
              </a:ext>
            </a:extLst>
          </p:cNvPr>
          <p:cNvSpPr>
            <a:spLocks noGrp="1"/>
          </p:cNvSpPr>
          <p:nvPr>
            <p:ph idx="1"/>
          </p:nvPr>
        </p:nvSpPr>
        <p:spPr/>
        <p:txBody>
          <a:bodyPr vert="horz" lIns="91440" tIns="45720" rIns="91440" bIns="45720" rtlCol="0" anchor="t">
            <a:normAutofit/>
          </a:bodyPr>
          <a:lstStyle/>
          <a:p>
            <a:pPr marL="0" indent="0">
              <a:buNone/>
            </a:pPr>
            <a:r>
              <a:rPr lang="en-US">
                <a:latin typeface="Arial"/>
                <a:cs typeface="Arial"/>
              </a:rPr>
              <a:t>We used discrete time blocks to do our dice rolling</a:t>
            </a:r>
            <a:endParaRPr lang="en-US">
              <a:cs typeface="Arial" panose="020B0604020202020204" pitchFamily="34" charset="0"/>
            </a:endParaRPr>
          </a:p>
          <a:p>
            <a:pPr marL="0" indent="0">
              <a:buNone/>
            </a:pPr>
            <a:endParaRPr lang="en-US" dirty="0">
              <a:cs typeface="Arial" panose="020B0604020202020204" pitchFamily="34" charset="0"/>
            </a:endParaRPr>
          </a:p>
          <a:p>
            <a:pPr marL="0" indent="0">
              <a:buNone/>
            </a:pPr>
            <a:r>
              <a:rPr lang="en-US">
                <a:latin typeface="Arial"/>
                <a:cs typeface="Arial"/>
              </a:rPr>
              <a:t>Change in evolution can happen anytime, continuously</a:t>
            </a:r>
            <a:endParaRPr lang="en-US" dirty="0">
              <a:latin typeface="Arial"/>
              <a:cs typeface="Arial"/>
            </a:endParaRPr>
          </a:p>
        </p:txBody>
      </p:sp>
    </p:spTree>
    <p:extLst>
      <p:ext uri="{BB962C8B-B14F-4D97-AF65-F5344CB8AC3E}">
        <p14:creationId xmlns:p14="http://schemas.microsoft.com/office/powerpoint/2010/main" val="188770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C6F3E-B720-B0BA-A495-4238B7A80236}"/>
              </a:ext>
            </a:extLst>
          </p:cNvPr>
          <p:cNvSpPr>
            <a:spLocks noGrp="1"/>
          </p:cNvSpPr>
          <p:nvPr>
            <p:ph type="title"/>
          </p:nvPr>
        </p:nvSpPr>
        <p:spPr/>
        <p:txBody>
          <a:bodyPr/>
          <a:lstStyle/>
          <a:p>
            <a:r>
              <a:rPr lang="en-US">
                <a:latin typeface="Arial"/>
                <a:cs typeface="Arial"/>
              </a:rPr>
              <a:t>Continuous-time Markov Models</a:t>
            </a:r>
            <a:endParaRPr lang="en-US"/>
          </a:p>
        </p:txBody>
      </p:sp>
      <p:sp>
        <p:nvSpPr>
          <p:cNvPr id="3" name="Content Placeholder 2">
            <a:extLst>
              <a:ext uri="{FF2B5EF4-FFF2-40B4-BE49-F238E27FC236}">
                <a16:creationId xmlns:a16="http://schemas.microsoft.com/office/drawing/2014/main" id="{7B181209-302A-AE58-17B8-3CB1E07ED1E6}"/>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Markov assumption = probability of change </a:t>
            </a:r>
            <a:r>
              <a:rPr lang="en-US">
                <a:latin typeface="Arial"/>
                <a:cs typeface="Arial"/>
              </a:rPr>
              <a:t>depends only on the current state, not how long it has been in that state. </a:t>
            </a:r>
            <a:endParaRPr lang="en-US">
              <a:latin typeface="Arial"/>
              <a:cs typeface="Arial" panose="020B0604020202020204" pitchFamily="34" charset="0"/>
            </a:endParaRPr>
          </a:p>
        </p:txBody>
      </p:sp>
    </p:spTree>
    <p:extLst>
      <p:ext uri="{BB962C8B-B14F-4D97-AF65-F5344CB8AC3E}">
        <p14:creationId xmlns:p14="http://schemas.microsoft.com/office/powerpoint/2010/main" val="1720933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8E4D-D0E5-888F-387C-233D3B3F7C5A}"/>
              </a:ext>
            </a:extLst>
          </p:cNvPr>
          <p:cNvSpPr>
            <a:spLocks noGrp="1"/>
          </p:cNvSpPr>
          <p:nvPr>
            <p:ph type="title"/>
          </p:nvPr>
        </p:nvSpPr>
        <p:spPr/>
        <p:txBody>
          <a:bodyPr>
            <a:normAutofit fontScale="90000"/>
          </a:bodyPr>
          <a:lstStyle/>
          <a:p>
            <a:r>
              <a:rPr lang="en-US" dirty="0">
                <a:latin typeface="Arial"/>
                <a:cs typeface="Arial"/>
              </a:rPr>
              <a:t>Our model of change depends </a:t>
            </a:r>
            <a:r>
              <a:rPr lang="en-US">
                <a:latin typeface="Arial"/>
                <a:cs typeface="Arial"/>
              </a:rPr>
              <a:t>on time: must have branch lengths</a:t>
            </a:r>
            <a:endParaRPr lang="en-US"/>
          </a:p>
        </p:txBody>
      </p:sp>
      <p:pic>
        <p:nvPicPr>
          <p:cNvPr id="5" name="Content Placeholder 3" descr="Two pictures. First is an ancestral node with state T and a descendant node with state C separated by a branch of length/time t. Because there is a change, it is labeled &quot;less probable&quot;. The second scenario has the ancestor and descendant both with a C and is labeled &quot;more probable&quot; over the same value of t.">
            <a:extLst>
              <a:ext uri="{FF2B5EF4-FFF2-40B4-BE49-F238E27FC236}">
                <a16:creationId xmlns:a16="http://schemas.microsoft.com/office/drawing/2014/main" id="{B4883EE1-E3F3-DB71-FCB7-82BE423A5C9F}"/>
              </a:ext>
            </a:extLst>
          </p:cNvPr>
          <p:cNvPicPr>
            <a:picLocks noChangeAspect="1"/>
          </p:cNvPicPr>
          <p:nvPr/>
        </p:nvPicPr>
        <p:blipFill>
          <a:blip r:embed="rId2"/>
          <a:stretch>
            <a:fillRect/>
          </a:stretch>
        </p:blipFill>
        <p:spPr>
          <a:xfrm>
            <a:off x="4711065" y="2111375"/>
            <a:ext cx="4114165" cy="4351655"/>
          </a:xfrm>
          <a:prstGeom prst="rect">
            <a:avLst/>
          </a:prstGeom>
        </p:spPr>
      </p:pic>
      <p:sp>
        <p:nvSpPr>
          <p:cNvPr id="7" name="Title 1">
            <a:extLst>
              <a:ext uri="{FF2B5EF4-FFF2-40B4-BE49-F238E27FC236}">
                <a16:creationId xmlns:a16="http://schemas.microsoft.com/office/drawing/2014/main" id="{492DE5E4-A596-EE04-E597-1FFEDB395A95}"/>
              </a:ext>
            </a:extLst>
          </p:cNvPr>
          <p:cNvSpPr>
            <a:spLocks noGrp="1"/>
          </p:cNvSpPr>
          <p:nvPr/>
        </p:nvSpPr>
        <p:spPr>
          <a:xfrm>
            <a:off x="411480" y="2349500"/>
            <a:ext cx="4171950" cy="3563620"/>
          </a:xfrm>
          <a:prstGeom prst="rect">
            <a:avLst/>
          </a:prstGeom>
        </p:spPr>
        <p:txBody>
          <a:bodyPr vert="horz" lIns="91440" tIns="45720" rIns="91440" bIns="45720" rtlCol="0" anchor="ctr">
            <a:normAutofit fontScale="7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r>
              <a:rPr lang="x-none" altLang="en-US">
                <a:latin typeface="Open Sans Condensed" panose="020B0806030504020204" charset="0"/>
                <a:cs typeface="Open Sans Condensed" panose="020B0806030504020204" charset="0"/>
              </a:rPr>
              <a:t>Units of branch length will be expected number of substitutions per site</a:t>
            </a:r>
          </a:p>
          <a:p>
            <a:endParaRPr lang="x-none" altLang="en-US">
              <a:latin typeface="Open Sans Condensed" panose="020B0806030504020204" charset="0"/>
              <a:cs typeface="Open Sans Condensed" panose="020B0806030504020204" charset="0"/>
            </a:endParaRPr>
          </a:p>
          <a:p>
            <a:r>
              <a:rPr lang="x-none" altLang="en-US">
                <a:latin typeface="Open Sans Condensed" panose="020B0806030504020204" charset="0"/>
                <a:cs typeface="Open Sans Condensed" panose="020B0806030504020204" charset="0"/>
              </a:rPr>
              <a:t>(= rate of substitions x time) </a:t>
            </a:r>
          </a:p>
        </p:txBody>
      </p:sp>
    </p:spTree>
    <p:extLst>
      <p:ext uri="{BB962C8B-B14F-4D97-AF65-F5344CB8AC3E}">
        <p14:creationId xmlns:p14="http://schemas.microsoft.com/office/powerpoint/2010/main" val="2744443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640B-0C9B-31CA-2E55-2B3C30F24AB1}"/>
              </a:ext>
            </a:extLst>
          </p:cNvPr>
          <p:cNvSpPr>
            <a:spLocks noGrp="1"/>
          </p:cNvSpPr>
          <p:nvPr>
            <p:ph type="title"/>
          </p:nvPr>
        </p:nvSpPr>
        <p:spPr/>
        <p:txBody>
          <a:bodyPr/>
          <a:lstStyle/>
          <a:p>
            <a:r>
              <a:rPr lang="en-US" dirty="0">
                <a:latin typeface="Arial"/>
                <a:cs typeface="Arial"/>
              </a:rPr>
              <a:t>Probabilities are </a:t>
            </a:r>
            <a:r>
              <a:rPr lang="en-US">
                <a:latin typeface="Arial"/>
                <a:cs typeface="Arial"/>
              </a:rPr>
              <a:t>dependent</a:t>
            </a:r>
            <a:r>
              <a:rPr lang="en-US" dirty="0">
                <a:latin typeface="Arial"/>
                <a:cs typeface="Arial"/>
              </a:rPr>
              <a:t> on time</a:t>
            </a:r>
            <a:endParaRPr lang="en-US" dirty="0">
              <a:cs typeface="Arial"/>
            </a:endParaRPr>
          </a:p>
        </p:txBody>
      </p:sp>
      <p:pic>
        <p:nvPicPr>
          <p:cNvPr id="4" name="Content Placeholder 3" descr="The same change from T to C but over a longer branch, labeled &quot;more probable&quot;.">
            <a:extLst>
              <a:ext uri="{FF2B5EF4-FFF2-40B4-BE49-F238E27FC236}">
                <a16:creationId xmlns:a16="http://schemas.microsoft.com/office/drawing/2014/main" id="{D5F99062-B3BB-815F-3DD6-46E5648B46D9}"/>
              </a:ext>
            </a:extLst>
          </p:cNvPr>
          <p:cNvPicPr>
            <a:picLocks noGrp="1" noChangeAspect="1"/>
          </p:cNvPicPr>
          <p:nvPr>
            <p:ph idx="1"/>
          </p:nvPr>
        </p:nvPicPr>
        <p:blipFill>
          <a:blip r:embed="rId2"/>
          <a:srcRect r="-158" b="157"/>
          <a:stretch>
            <a:fillRect/>
          </a:stretch>
        </p:blipFill>
        <p:spPr>
          <a:xfrm>
            <a:off x="4572697" y="2281309"/>
            <a:ext cx="4349627" cy="4344503"/>
          </a:xfrm>
          <a:prstGeom prst="rect">
            <a:avLst/>
          </a:prstGeom>
        </p:spPr>
      </p:pic>
      <p:pic>
        <p:nvPicPr>
          <p:cNvPr id="5" name="Picture 4" descr="A node labeled T and a tip descendent labeled C over a short branch labeled &quot;less probable&quot;.">
            <a:extLst>
              <a:ext uri="{FF2B5EF4-FFF2-40B4-BE49-F238E27FC236}">
                <a16:creationId xmlns:a16="http://schemas.microsoft.com/office/drawing/2014/main" id="{7640ABBD-6F03-CE78-01A1-D1ED23C6C8E2}"/>
              </a:ext>
            </a:extLst>
          </p:cNvPr>
          <p:cNvPicPr>
            <a:picLocks noChangeAspect="1"/>
          </p:cNvPicPr>
          <p:nvPr/>
        </p:nvPicPr>
        <p:blipFill>
          <a:blip r:embed="rId3"/>
          <a:srcRect r="158" b="-364"/>
          <a:stretch>
            <a:fillRect/>
          </a:stretch>
        </p:blipFill>
        <p:spPr>
          <a:xfrm>
            <a:off x="126261" y="2283152"/>
            <a:ext cx="4812049" cy="2112679"/>
          </a:xfrm>
          <a:prstGeom prst="rect">
            <a:avLst/>
          </a:prstGeom>
        </p:spPr>
      </p:pic>
    </p:spTree>
    <p:extLst>
      <p:ext uri="{BB962C8B-B14F-4D97-AF65-F5344CB8AC3E}">
        <p14:creationId xmlns:p14="http://schemas.microsoft.com/office/powerpoint/2010/main" val="3879743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64321-C2E7-F1B4-BDE4-5EDCDC6F6C53}"/>
              </a:ext>
            </a:extLst>
          </p:cNvPr>
          <p:cNvSpPr>
            <a:spLocks noGrp="1"/>
          </p:cNvSpPr>
          <p:nvPr>
            <p:ph type="title"/>
          </p:nvPr>
        </p:nvSpPr>
        <p:spPr/>
        <p:txBody>
          <a:bodyPr/>
          <a:lstStyle/>
          <a:p>
            <a:r>
              <a:rPr lang="en-US">
                <a:latin typeface="Arial"/>
                <a:cs typeface="Arial"/>
              </a:rPr>
              <a:t>Event probabilities</a:t>
            </a:r>
            <a:endParaRPr lang="en-US"/>
          </a:p>
        </p:txBody>
      </p:sp>
      <p:grpSp>
        <p:nvGrpSpPr>
          <p:cNvPr id="18" name="Group 17">
            <a:extLst>
              <a:ext uri="{FF2B5EF4-FFF2-40B4-BE49-F238E27FC236}">
                <a16:creationId xmlns:a16="http://schemas.microsoft.com/office/drawing/2014/main" id="{531E6473-EE52-DB0B-83E6-FD27584C3A2D}"/>
              </a:ext>
            </a:extLst>
          </p:cNvPr>
          <p:cNvGrpSpPr/>
          <p:nvPr/>
        </p:nvGrpSpPr>
        <p:grpSpPr>
          <a:xfrm>
            <a:off x="632285" y="1399348"/>
            <a:ext cx="7546975" cy="4906010"/>
            <a:chOff x="389255" y="389255"/>
            <a:chExt cx="7546975" cy="4906010"/>
          </a:xfrm>
        </p:grpSpPr>
        <p:sp>
          <p:nvSpPr>
            <p:cNvPr id="4" name="Text Box 5">
              <a:extLst>
                <a:ext uri="{FF2B5EF4-FFF2-40B4-BE49-F238E27FC236}">
                  <a16:creationId xmlns:a16="http://schemas.microsoft.com/office/drawing/2014/main" id="{AB401181-3A09-0C4C-7296-048D10CB04FA}"/>
                </a:ext>
              </a:extLst>
            </p:cNvPr>
            <p:cNvSpPr txBox="1"/>
            <p:nvPr/>
          </p:nvSpPr>
          <p:spPr>
            <a:xfrm>
              <a:off x="2954020" y="994410"/>
              <a:ext cx="1951355" cy="119888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7200" b="1">
                  <a:latin typeface="Open Sans Condensed" panose="020B0806030504020204" charset="0"/>
                  <a:cs typeface="Open Sans Condensed" panose="020B0806030504020204" charset="0"/>
                </a:rPr>
                <a:t>A</a:t>
              </a:r>
            </a:p>
          </p:txBody>
        </p:sp>
        <p:sp>
          <p:nvSpPr>
            <p:cNvPr id="5" name="Text Box 3">
              <a:extLst>
                <a:ext uri="{FF2B5EF4-FFF2-40B4-BE49-F238E27FC236}">
                  <a16:creationId xmlns:a16="http://schemas.microsoft.com/office/drawing/2014/main" id="{DF0355D4-84A0-CFC7-079A-F370809F8321}"/>
                </a:ext>
              </a:extLst>
            </p:cNvPr>
            <p:cNvSpPr txBox="1"/>
            <p:nvPr/>
          </p:nvSpPr>
          <p:spPr>
            <a:xfrm>
              <a:off x="5635625" y="3526155"/>
              <a:ext cx="1951355" cy="11887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7200" b="1">
                  <a:latin typeface="Open Sans Condensed" panose="020B0806030504020204" charset="0"/>
                  <a:cs typeface="Open Sans Condensed" panose="020B0806030504020204" charset="0"/>
                </a:rPr>
                <a:t>T</a:t>
              </a:r>
            </a:p>
          </p:txBody>
        </p:sp>
        <p:sp>
          <p:nvSpPr>
            <p:cNvPr id="6" name="Text Box 4">
              <a:extLst>
                <a:ext uri="{FF2B5EF4-FFF2-40B4-BE49-F238E27FC236}">
                  <a16:creationId xmlns:a16="http://schemas.microsoft.com/office/drawing/2014/main" id="{9DF97B1A-36B2-0866-BBA6-C5EC1ACA3C3B}"/>
                </a:ext>
              </a:extLst>
            </p:cNvPr>
            <p:cNvSpPr txBox="1"/>
            <p:nvPr/>
          </p:nvSpPr>
          <p:spPr>
            <a:xfrm>
              <a:off x="3850640" y="4106545"/>
              <a:ext cx="1951355" cy="11887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7200" b="1">
                  <a:latin typeface="Open Sans Condensed" panose="020B0806030504020204" charset="0"/>
                  <a:cs typeface="Open Sans Condensed" panose="020B0806030504020204" charset="0"/>
                </a:rPr>
                <a:t>C</a:t>
              </a:r>
            </a:p>
          </p:txBody>
        </p:sp>
        <p:sp>
          <p:nvSpPr>
            <p:cNvPr id="7" name="Text Box 6">
              <a:extLst>
                <a:ext uri="{FF2B5EF4-FFF2-40B4-BE49-F238E27FC236}">
                  <a16:creationId xmlns:a16="http://schemas.microsoft.com/office/drawing/2014/main" id="{998DF0B7-3F11-AB03-2899-F7E0D66696AF}"/>
                </a:ext>
              </a:extLst>
            </p:cNvPr>
            <p:cNvSpPr txBox="1"/>
            <p:nvPr/>
          </p:nvSpPr>
          <p:spPr>
            <a:xfrm>
              <a:off x="2048510" y="4078605"/>
              <a:ext cx="1951355" cy="11887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7200" b="1">
                  <a:latin typeface="Open Sans Condensed" panose="020B0806030504020204" charset="0"/>
                  <a:cs typeface="Open Sans Condensed" panose="020B0806030504020204" charset="0"/>
                </a:rPr>
                <a:t>G</a:t>
              </a:r>
            </a:p>
          </p:txBody>
        </p:sp>
        <p:sp>
          <p:nvSpPr>
            <p:cNvPr id="8" name="Text Box 7">
              <a:extLst>
                <a:ext uri="{FF2B5EF4-FFF2-40B4-BE49-F238E27FC236}">
                  <a16:creationId xmlns:a16="http://schemas.microsoft.com/office/drawing/2014/main" id="{BA48F179-28CE-7C61-0C0E-E3DFB22344B1}"/>
                </a:ext>
              </a:extLst>
            </p:cNvPr>
            <p:cNvSpPr txBox="1"/>
            <p:nvPr/>
          </p:nvSpPr>
          <p:spPr>
            <a:xfrm>
              <a:off x="389255" y="3389630"/>
              <a:ext cx="1951355" cy="11887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7200" b="1">
                  <a:latin typeface="Open Sans Condensed" panose="020B0806030504020204" charset="0"/>
                  <a:cs typeface="Open Sans Condensed" panose="020B0806030504020204" charset="0"/>
                </a:rPr>
                <a:t>A</a:t>
              </a:r>
            </a:p>
          </p:txBody>
        </p:sp>
        <p:sp>
          <p:nvSpPr>
            <p:cNvPr id="9" name="Left Arrow 8">
              <a:extLst>
                <a:ext uri="{FF2B5EF4-FFF2-40B4-BE49-F238E27FC236}">
                  <a16:creationId xmlns:a16="http://schemas.microsoft.com/office/drawing/2014/main" id="{4AF91D82-254D-D42A-C01E-F2175D3BED4C}"/>
                </a:ext>
              </a:extLst>
            </p:cNvPr>
            <p:cNvSpPr/>
            <p:nvPr/>
          </p:nvSpPr>
          <p:spPr>
            <a:xfrm rot="19440000">
              <a:off x="1276350" y="2434590"/>
              <a:ext cx="1435100" cy="648970"/>
            </a:xfrm>
            <a:prstGeom prst="leftArrow">
              <a:avLst/>
            </a:prstGeom>
            <a:solidFill>
              <a:schemeClr val="bg1">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Open Sans Condensed" panose="020B0806030504020204" charset="0"/>
                <a:cs typeface="Open Sans Condensed" panose="020B0806030504020204" charset="0"/>
              </a:endParaRPr>
            </a:p>
          </p:txBody>
        </p:sp>
        <p:sp>
          <p:nvSpPr>
            <p:cNvPr id="10" name="Left Arrow 9">
              <a:extLst>
                <a:ext uri="{FF2B5EF4-FFF2-40B4-BE49-F238E27FC236}">
                  <a16:creationId xmlns:a16="http://schemas.microsoft.com/office/drawing/2014/main" id="{9F24EB20-CE63-3F0C-63D3-36DF9BD4C27A}"/>
                </a:ext>
              </a:extLst>
            </p:cNvPr>
            <p:cNvSpPr/>
            <p:nvPr/>
          </p:nvSpPr>
          <p:spPr>
            <a:xfrm rot="16920000">
              <a:off x="2212975" y="2799715"/>
              <a:ext cx="1435100" cy="64897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Open Sans Condensed" panose="020B0806030504020204" charset="0"/>
                <a:cs typeface="Open Sans Condensed" panose="020B0806030504020204" charset="0"/>
              </a:endParaRPr>
            </a:p>
          </p:txBody>
        </p:sp>
        <p:sp>
          <p:nvSpPr>
            <p:cNvPr id="11" name="Left Arrow 10">
              <a:extLst>
                <a:ext uri="{FF2B5EF4-FFF2-40B4-BE49-F238E27FC236}">
                  <a16:creationId xmlns:a16="http://schemas.microsoft.com/office/drawing/2014/main" id="{A497D419-642D-905F-6C24-193B776CFF81}"/>
                </a:ext>
              </a:extLst>
            </p:cNvPr>
            <p:cNvSpPr/>
            <p:nvPr/>
          </p:nvSpPr>
          <p:spPr>
            <a:xfrm rot="15180000">
              <a:off x="3191510" y="2783205"/>
              <a:ext cx="1435100" cy="64897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Open Sans Condensed" panose="020B0806030504020204" charset="0"/>
                <a:cs typeface="Open Sans Condensed" panose="020B0806030504020204" charset="0"/>
              </a:endParaRPr>
            </a:p>
          </p:txBody>
        </p:sp>
        <p:sp>
          <p:nvSpPr>
            <p:cNvPr id="12" name="Left Arrow 11">
              <a:extLst>
                <a:ext uri="{FF2B5EF4-FFF2-40B4-BE49-F238E27FC236}">
                  <a16:creationId xmlns:a16="http://schemas.microsoft.com/office/drawing/2014/main" id="{D589EA97-7AFD-1054-9CA9-B7F237F567A3}"/>
                </a:ext>
              </a:extLst>
            </p:cNvPr>
            <p:cNvSpPr/>
            <p:nvPr/>
          </p:nvSpPr>
          <p:spPr>
            <a:xfrm rot="13620000">
              <a:off x="4182110" y="2428240"/>
              <a:ext cx="1435100" cy="64897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Open Sans Condensed" panose="020B0806030504020204" charset="0"/>
                <a:cs typeface="Open Sans Condensed" panose="020B0806030504020204" charset="0"/>
              </a:endParaRPr>
            </a:p>
          </p:txBody>
        </p:sp>
        <p:sp>
          <p:nvSpPr>
            <p:cNvPr id="13" name="Text Box 12">
              <a:extLst>
                <a:ext uri="{FF2B5EF4-FFF2-40B4-BE49-F238E27FC236}">
                  <a16:creationId xmlns:a16="http://schemas.microsoft.com/office/drawing/2014/main" id="{B0D19B2E-4388-158A-9ECB-0EC6B6981188}"/>
                </a:ext>
              </a:extLst>
            </p:cNvPr>
            <p:cNvSpPr txBox="1"/>
            <p:nvPr/>
          </p:nvSpPr>
          <p:spPr>
            <a:xfrm>
              <a:off x="1514475" y="1774190"/>
              <a:ext cx="533400" cy="82296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a:latin typeface="Open Sans Condensed" panose="020B0806030504020204" charset="0"/>
                  <a:cs typeface="Open Sans Condensed" panose="020B0806030504020204" charset="0"/>
                </a:rPr>
                <a:t>β</a:t>
              </a:r>
            </a:p>
          </p:txBody>
        </p:sp>
        <p:sp>
          <p:nvSpPr>
            <p:cNvPr id="14" name="Text Box 13">
              <a:extLst>
                <a:ext uri="{FF2B5EF4-FFF2-40B4-BE49-F238E27FC236}">
                  <a16:creationId xmlns:a16="http://schemas.microsoft.com/office/drawing/2014/main" id="{DA713F79-A681-696E-4B03-8AD9BD40965A}"/>
                </a:ext>
              </a:extLst>
            </p:cNvPr>
            <p:cNvSpPr txBox="1"/>
            <p:nvPr/>
          </p:nvSpPr>
          <p:spPr>
            <a:xfrm>
              <a:off x="2141855" y="2758440"/>
              <a:ext cx="533400" cy="82296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a:latin typeface="Open Sans Condensed" panose="020B0806030504020204" charset="0"/>
                  <a:cs typeface="Open Sans Condensed" panose="020B0806030504020204" charset="0"/>
                </a:rPr>
                <a:t>β</a:t>
              </a:r>
            </a:p>
          </p:txBody>
        </p:sp>
        <p:sp>
          <p:nvSpPr>
            <p:cNvPr id="15" name="Text Box 14">
              <a:extLst>
                <a:ext uri="{FF2B5EF4-FFF2-40B4-BE49-F238E27FC236}">
                  <a16:creationId xmlns:a16="http://schemas.microsoft.com/office/drawing/2014/main" id="{8F0E9796-A830-E7A6-35F8-F1B61CC99A1F}"/>
                </a:ext>
              </a:extLst>
            </p:cNvPr>
            <p:cNvSpPr txBox="1"/>
            <p:nvPr/>
          </p:nvSpPr>
          <p:spPr>
            <a:xfrm>
              <a:off x="4105910" y="2617470"/>
              <a:ext cx="533400" cy="82296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a:latin typeface="Open Sans Condensed" panose="020B0806030504020204" charset="0"/>
                  <a:cs typeface="Open Sans Condensed" panose="020B0806030504020204" charset="0"/>
                </a:rPr>
                <a:t>β</a:t>
              </a:r>
            </a:p>
          </p:txBody>
        </p:sp>
        <p:sp>
          <p:nvSpPr>
            <p:cNvPr id="16" name="Text Box 15">
              <a:extLst>
                <a:ext uri="{FF2B5EF4-FFF2-40B4-BE49-F238E27FC236}">
                  <a16:creationId xmlns:a16="http://schemas.microsoft.com/office/drawing/2014/main" id="{CB1D5A41-9A9D-282A-FF49-8278AA69DF81}"/>
                </a:ext>
              </a:extLst>
            </p:cNvPr>
            <p:cNvSpPr txBox="1"/>
            <p:nvPr/>
          </p:nvSpPr>
          <p:spPr>
            <a:xfrm>
              <a:off x="4932045" y="1875155"/>
              <a:ext cx="533400" cy="82296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a:latin typeface="Open Sans Condensed" panose="020B0806030504020204" charset="0"/>
                  <a:cs typeface="Open Sans Condensed" panose="020B0806030504020204" charset="0"/>
                </a:rPr>
                <a:t>β</a:t>
              </a:r>
            </a:p>
          </p:txBody>
        </p:sp>
        <p:sp>
          <p:nvSpPr>
            <p:cNvPr id="17" name="Text Box 17" descr="Our model may start in a particular state (example is A), from which there are 4 possible descendant states A, G, C, and T. Each event occurs at rate beta. The equation for the total event rate is given as mu equals four times beta. Note that the event that leads to an A from the ancestral state A is not a substitution, but counts as an event.">
              <a:extLst>
                <a:ext uri="{FF2B5EF4-FFF2-40B4-BE49-F238E27FC236}">
                  <a16:creationId xmlns:a16="http://schemas.microsoft.com/office/drawing/2014/main" id="{B88D4F51-D20B-A6F9-758C-338963BACA86}"/>
                </a:ext>
              </a:extLst>
            </p:cNvPr>
            <p:cNvSpPr txBox="1"/>
            <p:nvPr/>
          </p:nvSpPr>
          <p:spPr>
            <a:xfrm>
              <a:off x="6017260" y="389255"/>
              <a:ext cx="1918970" cy="82296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a:latin typeface="Open Sans Condensed" panose="020B0806030504020204" charset="0"/>
                  <a:cs typeface="Open Sans Condensed" panose="020B0806030504020204" charset="0"/>
                </a:rPr>
                <a:t>μ </a:t>
              </a:r>
              <a:r>
                <a:rPr lang="x-none" altLang="en-US" sz="4800">
                  <a:latin typeface="Open Sans Condensed" panose="020B0806030504020204" charset="0"/>
                  <a:cs typeface="Open Sans Condensed" panose="020B0806030504020204" charset="0"/>
                </a:rPr>
                <a:t>= 4</a:t>
              </a:r>
              <a:r>
                <a:rPr lang="en-US" sz="4800">
                  <a:latin typeface="Open Sans Condensed" panose="020B0806030504020204" charset="0"/>
                  <a:cs typeface="Open Sans Condensed" panose="020B0806030504020204" charset="0"/>
                </a:rPr>
                <a:t>β</a:t>
              </a:r>
            </a:p>
          </p:txBody>
        </p:sp>
      </p:grpSp>
    </p:spTree>
    <p:extLst>
      <p:ext uri="{BB962C8B-B14F-4D97-AF65-F5344CB8AC3E}">
        <p14:creationId xmlns:p14="http://schemas.microsoft.com/office/powerpoint/2010/main" val="3975728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78026" y="236016"/>
            <a:ext cx="7886712" cy="1325565"/>
          </a:xfrm>
        </p:spPr>
        <p:txBody>
          <a:bodyPr/>
          <a:lstStyle/>
          <a:p>
            <a:r>
              <a:rPr lang="x-none" altLang="en-US">
                <a:latin typeface="Open Sans Condensed"/>
                <a:cs typeface="Open Sans Condensed" panose="020B0806030504020204" charset="0"/>
              </a:rPr>
              <a:t>CTMC on a (very) simple </a:t>
            </a:r>
            <a:r>
              <a:rPr lang="x-none" altLang="en-US" dirty="0">
                <a:latin typeface="Open Sans Condensed"/>
                <a:cs typeface="Open Sans Condensed" panose="020B0806030504020204" charset="0"/>
              </a:rPr>
              <a:t>phylogeny...</a:t>
            </a:r>
          </a:p>
        </p:txBody>
      </p:sp>
      <p:grpSp>
        <p:nvGrpSpPr>
          <p:cNvPr id="2" name="Group 1" descr="A single-tip &quot;phylogeny&quot; with ancestor A leading to descendant A over time. ">
            <a:extLst>
              <a:ext uri="{FF2B5EF4-FFF2-40B4-BE49-F238E27FC236}">
                <a16:creationId xmlns:a16="http://schemas.microsoft.com/office/drawing/2014/main" id="{91F3D742-11FB-8BEF-895B-045763748FBE}"/>
              </a:ext>
            </a:extLst>
          </p:cNvPr>
          <p:cNvGrpSpPr/>
          <p:nvPr/>
        </p:nvGrpSpPr>
        <p:grpSpPr>
          <a:xfrm>
            <a:off x="929005" y="1564640"/>
            <a:ext cx="7334250" cy="977265"/>
            <a:chOff x="929005" y="1564640"/>
            <a:chExt cx="7334250" cy="977265"/>
          </a:xfrm>
        </p:grpSpPr>
        <p:cxnSp>
          <p:nvCxnSpPr>
            <p:cNvPr id="4" name="Straight Arrow Connector 3"/>
            <p:cNvCxnSpPr/>
            <p:nvPr/>
          </p:nvCxnSpPr>
          <p:spPr>
            <a:xfrm>
              <a:off x="1562100" y="2188845"/>
              <a:ext cx="5804535" cy="1206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3978910" y="1564640"/>
              <a:ext cx="1499870" cy="640080"/>
            </a:xfrm>
            <a:prstGeom prst="rect">
              <a:avLst/>
            </a:prstGeom>
            <a:noFill/>
          </p:spPr>
          <p:txBody>
            <a:bodyPr wrap="square" rtlCol="0">
              <a:spAutoFit/>
            </a:bodyPr>
            <a:lstStyle/>
            <a:p>
              <a:r>
                <a:rPr lang="x-none" altLang="en-US" sz="3600">
                  <a:latin typeface="Arial" panose="020B0604020202020204" pitchFamily="34" charset="0"/>
                </a:rPr>
                <a:t>time</a:t>
              </a:r>
            </a:p>
          </p:txBody>
        </p:sp>
        <p:sp>
          <p:nvSpPr>
            <p:cNvPr id="6" name="Text Box 5"/>
            <p:cNvSpPr txBox="1"/>
            <p:nvPr/>
          </p:nvSpPr>
          <p:spPr>
            <a:xfrm>
              <a:off x="929005" y="1828165"/>
              <a:ext cx="1165860" cy="701040"/>
            </a:xfrm>
            <a:prstGeom prst="rect">
              <a:avLst/>
            </a:prstGeom>
            <a:noFill/>
          </p:spPr>
          <p:txBody>
            <a:bodyPr wrap="square" rtlCol="0">
              <a:spAutoFit/>
            </a:bodyPr>
            <a:lstStyle/>
            <a:p>
              <a:r>
                <a:rPr lang="x-none" altLang="en-US" sz="4000" b="1">
                  <a:latin typeface="Arial" panose="020B0604020202020204" pitchFamily="34" charset="0"/>
                </a:rPr>
                <a:t>A</a:t>
              </a:r>
            </a:p>
          </p:txBody>
        </p:sp>
        <p:sp>
          <p:nvSpPr>
            <p:cNvPr id="7" name="Text Box 6"/>
            <p:cNvSpPr txBox="1"/>
            <p:nvPr/>
          </p:nvSpPr>
          <p:spPr>
            <a:xfrm>
              <a:off x="7394575" y="1901825"/>
              <a:ext cx="868680" cy="640080"/>
            </a:xfrm>
            <a:prstGeom prst="rect">
              <a:avLst/>
            </a:prstGeom>
            <a:noFill/>
          </p:spPr>
          <p:txBody>
            <a:bodyPr wrap="square" rtlCol="0">
              <a:spAutoFit/>
            </a:bodyPr>
            <a:lstStyle/>
            <a:p>
              <a:r>
                <a:rPr lang="x-none" altLang="en-US" sz="3600" b="1">
                  <a:latin typeface="Arial" panose="020B0604020202020204" pitchFamily="34" charset="0"/>
                </a:rPr>
                <a:t>A</a:t>
              </a:r>
            </a:p>
          </p:txBody>
        </p:sp>
      </p:grpSp>
      <p:sp>
        <p:nvSpPr>
          <p:cNvPr id="18" name="Content Placeholder 17"/>
          <p:cNvSpPr>
            <a:spLocks noGrp="1"/>
          </p:cNvSpPr>
          <p:nvPr>
            <p:ph idx="1"/>
          </p:nvPr>
        </p:nvSpPr>
        <p:spPr>
          <a:xfrm>
            <a:off x="830581" y="2867663"/>
            <a:ext cx="7886712" cy="4351344"/>
          </a:xfrm>
        </p:spPr>
        <p:txBody>
          <a:body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AA</a:t>
            </a:r>
            <a:r>
              <a:rPr lang="x-none" altLang="en-US">
                <a:latin typeface="Open Sans Condensed" panose="020B0806030504020204" charset="0"/>
                <a:cs typeface="Open Sans Condensed" panose="020B0806030504020204" charset="0"/>
              </a:rPr>
              <a:t>  = </a:t>
            </a:r>
          </a:p>
          <a:p>
            <a:pPr marL="0" indent="0">
              <a:buNone/>
            </a:pPr>
            <a:r>
              <a:rPr lang="x-none" altLang="en-US">
                <a:latin typeface="Open Sans Condensed" panose="020B0806030504020204" charset="0"/>
                <a:cs typeface="Open Sans Condensed" panose="020B0806030504020204" charset="0"/>
              </a:rPr>
              <a:t>Probability nothing happened + </a:t>
            </a:r>
          </a:p>
          <a:p>
            <a:pPr marL="0" indent="0">
              <a:buNone/>
            </a:pPr>
            <a:r>
              <a:rPr lang="x-none" altLang="en-US">
                <a:latin typeface="Open Sans Condensed" panose="020B0806030504020204" charset="0"/>
                <a:cs typeface="Open Sans Condensed" panose="020B0806030504020204" charset="0"/>
              </a:rPr>
              <a:t>Probability something happened, but that the last thing that happened ended in an 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x-none" altLang="en-US">
                <a:latin typeface="Open Sans Condensed"/>
              </a:rPr>
              <a:t>Staying the same</a:t>
            </a:r>
            <a:endParaRPr lang="en-US"/>
          </a:p>
        </p:txBody>
      </p:sp>
      <p:grpSp>
        <p:nvGrpSpPr>
          <p:cNvPr id="13" name="Group 12" descr="A single-tip &quot;phylogeny&quot; with ancestor A leading to descendant A over time. ">
            <a:extLst>
              <a:ext uri="{FF2B5EF4-FFF2-40B4-BE49-F238E27FC236}">
                <a16:creationId xmlns:a16="http://schemas.microsoft.com/office/drawing/2014/main" id="{6DC79D0D-7473-D44C-CE30-CA7A5CE554C6}"/>
              </a:ext>
            </a:extLst>
          </p:cNvPr>
          <p:cNvGrpSpPr/>
          <p:nvPr/>
        </p:nvGrpSpPr>
        <p:grpSpPr>
          <a:xfrm>
            <a:off x="929005" y="1564640"/>
            <a:ext cx="7334250" cy="977265"/>
            <a:chOff x="929005" y="1564640"/>
            <a:chExt cx="7334250" cy="977265"/>
          </a:xfrm>
        </p:grpSpPr>
        <p:cxnSp>
          <p:nvCxnSpPr>
            <p:cNvPr id="4" name="Straight Arrow Connector 3"/>
            <p:cNvCxnSpPr/>
            <p:nvPr/>
          </p:nvCxnSpPr>
          <p:spPr>
            <a:xfrm>
              <a:off x="1562100" y="2188845"/>
              <a:ext cx="5804535" cy="1206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3978910" y="1564640"/>
              <a:ext cx="1499870" cy="640080"/>
            </a:xfrm>
            <a:prstGeom prst="rect">
              <a:avLst/>
            </a:prstGeom>
            <a:noFill/>
          </p:spPr>
          <p:txBody>
            <a:bodyPr wrap="square" rtlCol="0">
              <a:spAutoFit/>
            </a:bodyPr>
            <a:lstStyle/>
            <a:p>
              <a:r>
                <a:rPr lang="x-none" altLang="en-US" sz="3600">
                  <a:latin typeface="Open Sans Condensed" panose="020B0806030504020204" charset="0"/>
                  <a:cs typeface="Open Sans Condensed" panose="020B0806030504020204" charset="0"/>
                </a:rPr>
                <a:t>time</a:t>
              </a:r>
            </a:p>
          </p:txBody>
        </p:sp>
        <p:sp>
          <p:nvSpPr>
            <p:cNvPr id="6" name="Text Box 5"/>
            <p:cNvSpPr txBox="1"/>
            <p:nvPr/>
          </p:nvSpPr>
          <p:spPr>
            <a:xfrm>
              <a:off x="929005" y="1828165"/>
              <a:ext cx="1165860" cy="701040"/>
            </a:xfrm>
            <a:prstGeom prst="rect">
              <a:avLst/>
            </a:prstGeom>
            <a:noFill/>
          </p:spPr>
          <p:txBody>
            <a:bodyPr wrap="square" rtlCol="0">
              <a:spAutoFit/>
            </a:bodyPr>
            <a:lstStyle/>
            <a:p>
              <a:r>
                <a:rPr lang="x-none" altLang="en-US" sz="4000" b="1">
                  <a:latin typeface="Open Sans Condensed" panose="020B0806030504020204" charset="0"/>
                  <a:cs typeface="Open Sans Condensed" panose="020B0806030504020204" charset="0"/>
                </a:rPr>
                <a:t>A</a:t>
              </a:r>
            </a:p>
          </p:txBody>
        </p:sp>
        <p:sp>
          <p:nvSpPr>
            <p:cNvPr id="7" name="Text Box 6"/>
            <p:cNvSpPr txBox="1"/>
            <p:nvPr/>
          </p:nvSpPr>
          <p:spPr>
            <a:xfrm>
              <a:off x="7394575" y="1901825"/>
              <a:ext cx="868680" cy="640080"/>
            </a:xfrm>
            <a:prstGeom prst="rect">
              <a:avLst/>
            </a:prstGeom>
            <a:noFill/>
          </p:spPr>
          <p:txBody>
            <a:bodyPr wrap="square" rtlCol="0">
              <a:spAutoFit/>
            </a:bodyPr>
            <a:lstStyle/>
            <a:p>
              <a:r>
                <a:rPr lang="x-none" altLang="en-US" sz="3600" b="1">
                  <a:latin typeface="Open Sans Condensed" panose="020B0806030504020204" charset="0"/>
                  <a:cs typeface="Open Sans Condensed" panose="020B0806030504020204" charset="0"/>
                </a:rPr>
                <a:t>A</a:t>
              </a:r>
            </a:p>
          </p:txBody>
        </p:sp>
      </p:grpSp>
      <p:sp>
        <p:nvSpPr>
          <p:cNvPr id="18" name="Content Placeholder 17"/>
          <p:cNvSpPr>
            <a:spLocks noGrp="1"/>
          </p:cNvSpPr>
          <p:nvPr>
            <p:ph idx="1"/>
          </p:nvPr>
        </p:nvSpPr>
        <p:spPr>
          <a:xfrm>
            <a:off x="830581" y="2867663"/>
            <a:ext cx="7886712" cy="4351344"/>
          </a:xfrm>
        </p:spPr>
        <p:txBody>
          <a:bodyPr/>
          <a:lstStyle/>
          <a:p>
            <a:pPr marL="0" indent="0">
              <a:buNone/>
            </a:pPr>
            <a:r>
              <a:rPr lang="x-none" altLang="en-US"/>
              <a:t>P</a:t>
            </a:r>
            <a:r>
              <a:rPr lang="x-none" altLang="en-US" baseline="-25000"/>
              <a:t>AA</a:t>
            </a:r>
            <a:r>
              <a:rPr lang="x-none" altLang="en-US"/>
              <a:t>  = 	(e</a:t>
            </a:r>
            <a:r>
              <a:rPr lang="x-none" altLang="en-US" baseline="30000"/>
              <a:t>-</a:t>
            </a:r>
            <a:r>
              <a:rPr lang="x-none" altLang="en-US" baseline="30000">
                <a:cs typeface="Arial" panose="020B0604020202020204" pitchFamily="34" charset="0"/>
              </a:rPr>
              <a:t>μt</a:t>
            </a:r>
            <a:r>
              <a:rPr lang="x-none" altLang="en-US"/>
              <a:t> ) 		+ 	(1 - </a:t>
            </a:r>
            <a:r>
              <a:rPr lang="x-none" altLang="en-US">
                <a:sym typeface="+mn-ea"/>
              </a:rPr>
              <a:t>e</a:t>
            </a:r>
            <a:r>
              <a:rPr lang="x-none" altLang="en-US" baseline="30000">
                <a:sym typeface="+mn-ea"/>
              </a:rPr>
              <a:t>-</a:t>
            </a:r>
            <a:r>
              <a:rPr lang="x-none" altLang="en-US" baseline="30000">
                <a:cs typeface="Arial" panose="020B0604020202020204" pitchFamily="34" charset="0"/>
                <a:sym typeface="+mn-ea"/>
              </a:rPr>
              <a:t>μt</a:t>
            </a:r>
            <a:r>
              <a:rPr lang="x-none" altLang="en-US">
                <a:cs typeface="Arial" panose="020B0604020202020204" pitchFamily="34" charset="0"/>
                <a:sym typeface="+mn-ea"/>
              </a:rPr>
              <a:t>)(1/4)</a:t>
            </a:r>
          </a:p>
        </p:txBody>
      </p:sp>
      <p:grpSp>
        <p:nvGrpSpPr>
          <p:cNvPr id="14" name="Group 13" descr="Probability something doesn't happen is the first term exp to the negative mu times t.">
            <a:extLst>
              <a:ext uri="{FF2B5EF4-FFF2-40B4-BE49-F238E27FC236}">
                <a16:creationId xmlns:a16="http://schemas.microsoft.com/office/drawing/2014/main" id="{F01AD665-B48D-0FFC-430F-3391E431D5C6}"/>
              </a:ext>
            </a:extLst>
          </p:cNvPr>
          <p:cNvGrpSpPr/>
          <p:nvPr/>
        </p:nvGrpSpPr>
        <p:grpSpPr>
          <a:xfrm>
            <a:off x="2544445" y="3362960"/>
            <a:ext cx="1589405" cy="2212975"/>
            <a:chOff x="2544445" y="3362960"/>
            <a:chExt cx="1589405" cy="2212975"/>
          </a:xfrm>
        </p:grpSpPr>
        <p:sp>
          <p:nvSpPr>
            <p:cNvPr id="2" name="Right Arrow 1"/>
            <p:cNvSpPr/>
            <p:nvPr/>
          </p:nvSpPr>
          <p:spPr>
            <a:xfrm rot="16260000">
              <a:off x="2633980" y="361886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0" name="Text Box 9"/>
            <p:cNvSpPr txBox="1"/>
            <p:nvPr/>
          </p:nvSpPr>
          <p:spPr>
            <a:xfrm>
              <a:off x="2544445" y="4387215"/>
              <a:ext cx="1589405" cy="118872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something doesn't  happen</a:t>
              </a:r>
            </a:p>
          </p:txBody>
        </p:sp>
      </p:grpSp>
      <p:grpSp>
        <p:nvGrpSpPr>
          <p:cNvPr id="15" name="Group 14" descr="Probability at least one thing happens is given by one minus exp to the negative mu times t (i.e. one minus the probability that something doesn't happen). ">
            <a:extLst>
              <a:ext uri="{FF2B5EF4-FFF2-40B4-BE49-F238E27FC236}">
                <a16:creationId xmlns:a16="http://schemas.microsoft.com/office/drawing/2014/main" id="{A2992E0F-793D-F58D-6297-0384472F0AB3}"/>
              </a:ext>
            </a:extLst>
          </p:cNvPr>
          <p:cNvGrpSpPr/>
          <p:nvPr/>
        </p:nvGrpSpPr>
        <p:grpSpPr>
          <a:xfrm>
            <a:off x="6208988" y="3385871"/>
            <a:ext cx="1297940" cy="2295525"/>
            <a:chOff x="5434330" y="3401060"/>
            <a:chExt cx="1297940" cy="2295525"/>
          </a:xfrm>
        </p:grpSpPr>
        <p:sp>
          <p:nvSpPr>
            <p:cNvPr id="3" name="Right Arrow 2"/>
            <p:cNvSpPr/>
            <p:nvPr/>
          </p:nvSpPr>
          <p:spPr>
            <a:xfrm rot="16260000">
              <a:off x="5636260" y="365696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1" name="Text Box 10"/>
            <p:cNvSpPr txBox="1"/>
            <p:nvPr/>
          </p:nvSpPr>
          <p:spPr>
            <a:xfrm>
              <a:off x="5434330" y="4507865"/>
              <a:ext cx="1297940" cy="118872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at least one thing happens</a:t>
              </a:r>
            </a:p>
          </p:txBody>
        </p:sp>
      </p:grpSp>
      <p:grpSp>
        <p:nvGrpSpPr>
          <p:cNvPr id="16" name="Group 15">
            <a:extLst>
              <a:ext uri="{FF2B5EF4-FFF2-40B4-BE49-F238E27FC236}">
                <a16:creationId xmlns:a16="http://schemas.microsoft.com/office/drawing/2014/main" id="{2F39B367-7845-51C2-8584-237E4D1C0219}"/>
              </a:ext>
            </a:extLst>
          </p:cNvPr>
          <p:cNvGrpSpPr/>
          <p:nvPr/>
        </p:nvGrpSpPr>
        <p:grpSpPr>
          <a:xfrm>
            <a:off x="7419298" y="3393491"/>
            <a:ext cx="1589405" cy="2552065"/>
            <a:chOff x="6644640" y="3408680"/>
            <a:chExt cx="1589405" cy="2552065"/>
          </a:xfrm>
        </p:grpSpPr>
        <p:sp>
          <p:nvSpPr>
            <p:cNvPr id="9" name="Right Arrow 8"/>
            <p:cNvSpPr/>
            <p:nvPr/>
          </p:nvSpPr>
          <p:spPr>
            <a:xfrm rot="16260000">
              <a:off x="6656070" y="366458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2" name="Text Box 11" descr="The 1/4 comes from the probability that the last thing that happened ends in an A."/>
            <p:cNvSpPr txBox="1"/>
            <p:nvPr/>
          </p:nvSpPr>
          <p:spPr>
            <a:xfrm>
              <a:off x="6644640" y="4497705"/>
              <a:ext cx="1589405" cy="1463040"/>
            </a:xfrm>
            <a:prstGeom prst="rect">
              <a:avLst/>
            </a:prstGeom>
            <a:noFill/>
          </p:spPr>
          <p:txBody>
            <a:bodyPr wrap="square" lIns="91440" tIns="45720" rIns="91440" bIns="45720" rtlCol="0" anchor="t">
              <a:spAutoFit/>
            </a:bodyPr>
            <a:lstStyle/>
            <a:p>
              <a:r>
                <a:rPr lang="x-none" altLang="en-US">
                  <a:latin typeface="Open Sans Condensed" panose="020B0806030504020204" charset="0"/>
                  <a:cs typeface="Open Sans Condensed" panose="020B0806030504020204" charset="0"/>
                </a:rPr>
                <a:t>Probability that the last thing that happened ends in an A</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x-none" altLang="en-US">
                <a:latin typeface="Open Sans Condensed"/>
                <a:cs typeface="Open Sans Condensed" panose="020B0806030504020204" charset="0"/>
              </a:rPr>
              <a:t>A substitution</a:t>
            </a:r>
            <a:endParaRPr lang="x-none" altLang="en-US" dirty="0">
              <a:latin typeface="Open Sans Condensed" panose="020B0806030504020204" charset="0"/>
              <a:cs typeface="Open Sans Condensed" panose="020B0806030504020204" charset="0"/>
            </a:endParaRPr>
          </a:p>
        </p:txBody>
      </p:sp>
      <p:grpSp>
        <p:nvGrpSpPr>
          <p:cNvPr id="2" name="Group 1" descr="Same one tip phylogeny, but the ancestor A now leads to a tip G">
            <a:extLst>
              <a:ext uri="{FF2B5EF4-FFF2-40B4-BE49-F238E27FC236}">
                <a16:creationId xmlns:a16="http://schemas.microsoft.com/office/drawing/2014/main" id="{D8FF5AEF-CC91-B1FE-CC42-1D5CED83929F}"/>
              </a:ext>
            </a:extLst>
          </p:cNvPr>
          <p:cNvGrpSpPr/>
          <p:nvPr/>
        </p:nvGrpSpPr>
        <p:grpSpPr>
          <a:xfrm>
            <a:off x="929005" y="1564640"/>
            <a:ext cx="7334250" cy="977265"/>
            <a:chOff x="929005" y="1564640"/>
            <a:chExt cx="7334250" cy="977265"/>
          </a:xfrm>
        </p:grpSpPr>
        <p:cxnSp>
          <p:nvCxnSpPr>
            <p:cNvPr id="4" name="Straight Arrow Connector 3"/>
            <p:cNvCxnSpPr/>
            <p:nvPr/>
          </p:nvCxnSpPr>
          <p:spPr>
            <a:xfrm>
              <a:off x="1562100" y="2188845"/>
              <a:ext cx="5804535" cy="1206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3978910" y="1564640"/>
              <a:ext cx="1499870" cy="640080"/>
            </a:xfrm>
            <a:prstGeom prst="rect">
              <a:avLst/>
            </a:prstGeom>
            <a:noFill/>
          </p:spPr>
          <p:txBody>
            <a:bodyPr wrap="square" rtlCol="0">
              <a:spAutoFit/>
            </a:bodyPr>
            <a:lstStyle/>
            <a:p>
              <a:r>
                <a:rPr lang="x-none" altLang="en-US" sz="3600">
                  <a:latin typeface="Open Sans Condensed" panose="020B0806030504020204" charset="0"/>
                  <a:cs typeface="Open Sans Condensed" panose="020B0806030504020204" charset="0"/>
                </a:rPr>
                <a:t>time</a:t>
              </a:r>
            </a:p>
          </p:txBody>
        </p:sp>
        <p:sp>
          <p:nvSpPr>
            <p:cNvPr id="6" name="Text Box 5"/>
            <p:cNvSpPr txBox="1"/>
            <p:nvPr/>
          </p:nvSpPr>
          <p:spPr>
            <a:xfrm>
              <a:off x="929005" y="1828165"/>
              <a:ext cx="1165860" cy="701040"/>
            </a:xfrm>
            <a:prstGeom prst="rect">
              <a:avLst/>
            </a:prstGeom>
            <a:noFill/>
          </p:spPr>
          <p:txBody>
            <a:bodyPr wrap="square" rtlCol="0">
              <a:spAutoFit/>
            </a:bodyPr>
            <a:lstStyle/>
            <a:p>
              <a:r>
                <a:rPr lang="x-none" altLang="en-US" sz="4000" b="1">
                  <a:latin typeface="Open Sans Condensed" panose="020B0806030504020204" charset="0"/>
                  <a:cs typeface="Open Sans Condensed" panose="020B0806030504020204" charset="0"/>
                </a:rPr>
                <a:t>A</a:t>
              </a:r>
            </a:p>
          </p:txBody>
        </p:sp>
        <p:sp>
          <p:nvSpPr>
            <p:cNvPr id="7" name="Text Box 6"/>
            <p:cNvSpPr txBox="1"/>
            <p:nvPr/>
          </p:nvSpPr>
          <p:spPr>
            <a:xfrm>
              <a:off x="7394575" y="1901825"/>
              <a:ext cx="868680" cy="640080"/>
            </a:xfrm>
            <a:prstGeom prst="rect">
              <a:avLst/>
            </a:prstGeom>
            <a:noFill/>
          </p:spPr>
          <p:txBody>
            <a:bodyPr wrap="square" rtlCol="0">
              <a:spAutoFit/>
            </a:bodyPr>
            <a:lstStyle/>
            <a:p>
              <a:r>
                <a:rPr lang="x-none" altLang="en-US" sz="3600" b="1">
                  <a:latin typeface="Open Sans Condensed" panose="020B0806030504020204" charset="0"/>
                  <a:cs typeface="Open Sans Condensed" panose="020B0806030504020204" charset="0"/>
                </a:rPr>
                <a:t>G</a:t>
              </a:r>
            </a:p>
          </p:txBody>
        </p:sp>
      </p:grpSp>
      <p:sp>
        <p:nvSpPr>
          <p:cNvPr id="18" name="Content Placeholder 17"/>
          <p:cNvSpPr>
            <a:spLocks noGrp="1"/>
          </p:cNvSpPr>
          <p:nvPr>
            <p:ph idx="1"/>
          </p:nvPr>
        </p:nvSpPr>
        <p:spPr>
          <a:xfrm>
            <a:off x="830581" y="2867663"/>
            <a:ext cx="7886712" cy="4351344"/>
          </a:xfrm>
        </p:spPr>
        <p:txBody>
          <a:bodyPr/>
          <a:lstStyle/>
          <a:p>
            <a:pPr marL="0" indent="0">
              <a:buNone/>
            </a:pPr>
            <a:r>
              <a:rPr lang="x-none" altLang="en-US"/>
              <a:t>P</a:t>
            </a:r>
            <a:r>
              <a:rPr lang="x-none" altLang="en-US" baseline="-25000"/>
              <a:t>AG</a:t>
            </a:r>
            <a:r>
              <a:rPr lang="x-none" altLang="en-US"/>
              <a:t>  = 				(1 - </a:t>
            </a:r>
            <a:r>
              <a:rPr lang="x-none" altLang="en-US">
                <a:sym typeface="+mn-ea"/>
              </a:rPr>
              <a:t>e</a:t>
            </a:r>
            <a:r>
              <a:rPr lang="x-none" altLang="en-US" baseline="30000">
                <a:sym typeface="+mn-ea"/>
              </a:rPr>
              <a:t>-</a:t>
            </a:r>
            <a:r>
              <a:rPr lang="x-none" altLang="en-US" baseline="30000">
                <a:cs typeface="Arial" panose="020B0604020202020204" pitchFamily="34" charset="0"/>
                <a:sym typeface="+mn-ea"/>
              </a:rPr>
              <a:t>μt</a:t>
            </a:r>
            <a:r>
              <a:rPr lang="x-none" altLang="en-US">
                <a:cs typeface="Arial" panose="020B0604020202020204" pitchFamily="34" charset="0"/>
                <a:sym typeface="+mn-ea"/>
              </a:rPr>
              <a:t>)(1/4)</a:t>
            </a:r>
          </a:p>
        </p:txBody>
      </p:sp>
      <p:grpSp>
        <p:nvGrpSpPr>
          <p:cNvPr id="10" name="Group 9">
            <a:extLst>
              <a:ext uri="{FF2B5EF4-FFF2-40B4-BE49-F238E27FC236}">
                <a16:creationId xmlns:a16="http://schemas.microsoft.com/office/drawing/2014/main" id="{E8E1DDE7-6CB4-3291-2D44-5796E5FCFEC6}"/>
              </a:ext>
            </a:extLst>
          </p:cNvPr>
          <p:cNvGrpSpPr/>
          <p:nvPr/>
        </p:nvGrpSpPr>
        <p:grpSpPr>
          <a:xfrm>
            <a:off x="5434330" y="3401060"/>
            <a:ext cx="1297940" cy="2295525"/>
            <a:chOff x="5434330" y="3401060"/>
            <a:chExt cx="1297940" cy="2295525"/>
          </a:xfrm>
        </p:grpSpPr>
        <p:sp>
          <p:nvSpPr>
            <p:cNvPr id="3" name="Right Arrow 2"/>
            <p:cNvSpPr/>
            <p:nvPr/>
          </p:nvSpPr>
          <p:spPr>
            <a:xfrm rot="16260000">
              <a:off x="5636260" y="365696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1" name="Text Box 10" descr="An event must happen for this outcome, so at least one thing has to happen equal to one minus exp to the negative mu times t."/>
            <p:cNvSpPr txBox="1"/>
            <p:nvPr/>
          </p:nvSpPr>
          <p:spPr>
            <a:xfrm>
              <a:off x="5434330" y="4507865"/>
              <a:ext cx="1297940" cy="1188720"/>
            </a:xfrm>
            <a:prstGeom prst="rect">
              <a:avLst/>
            </a:prstGeom>
            <a:noFill/>
          </p:spPr>
          <p:txBody>
            <a:bodyPr wrap="square" lIns="91440" tIns="45720" rIns="91440" bIns="45720" rtlCol="0" anchor="t">
              <a:spAutoFit/>
            </a:bodyPr>
            <a:lstStyle/>
            <a:p>
              <a:r>
                <a:rPr lang="x-none" altLang="en-US">
                  <a:latin typeface="Open Sans Condensed" panose="020B0806030504020204" charset="0"/>
                  <a:cs typeface="Open Sans Condensed" panose="020B0806030504020204" charset="0"/>
                </a:rPr>
                <a:t>Probability at least one thing happens</a:t>
              </a:r>
            </a:p>
          </p:txBody>
        </p:sp>
      </p:grpSp>
      <p:grpSp>
        <p:nvGrpSpPr>
          <p:cNvPr id="13" name="Group 12">
            <a:extLst>
              <a:ext uri="{FF2B5EF4-FFF2-40B4-BE49-F238E27FC236}">
                <a16:creationId xmlns:a16="http://schemas.microsoft.com/office/drawing/2014/main" id="{3AD06407-98B8-F7C6-1270-4DF56F8F1003}"/>
              </a:ext>
            </a:extLst>
          </p:cNvPr>
          <p:cNvGrpSpPr/>
          <p:nvPr/>
        </p:nvGrpSpPr>
        <p:grpSpPr>
          <a:xfrm>
            <a:off x="6644640" y="3408680"/>
            <a:ext cx="1589405" cy="2552065"/>
            <a:chOff x="6644640" y="3408680"/>
            <a:chExt cx="1589405" cy="2552065"/>
          </a:xfrm>
        </p:grpSpPr>
        <p:sp>
          <p:nvSpPr>
            <p:cNvPr id="9" name="Right Arrow 8" descr="The last thing that happens is a G is selected at 1 over 4 probability."/>
            <p:cNvSpPr/>
            <p:nvPr/>
          </p:nvSpPr>
          <p:spPr>
            <a:xfrm rot="16260000">
              <a:off x="6656070" y="366458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2" name="Text Box 11" descr="The last thing that happens is a G is selected at 1 over 4 probability."/>
            <p:cNvSpPr txBox="1"/>
            <p:nvPr/>
          </p:nvSpPr>
          <p:spPr>
            <a:xfrm>
              <a:off x="6644640" y="4497705"/>
              <a:ext cx="1589405" cy="146304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that the last thing that happened ends in an G</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x-none" altLang="en-US" dirty="0">
                <a:latin typeface="Open Sans Condensed"/>
                <a:cs typeface="Open Sans Condensed" panose="020B0806030504020204" charset="0"/>
              </a:rPr>
              <a:t>A</a:t>
            </a:r>
            <a:r>
              <a:rPr lang="x-none" altLang="en-US">
                <a:latin typeface="Open Sans Condensed"/>
                <a:cs typeface="Open Sans Condensed" panose="020B0806030504020204" charset="0"/>
              </a:rPr>
              <a:t>nother possible substitution</a:t>
            </a:r>
            <a:endParaRPr lang="x-none" altLang="en-US">
              <a:latin typeface="Open Sans Condensed" panose="020B0806030504020204" charset="0"/>
              <a:cs typeface="Open Sans Condensed" panose="020B0806030504020204" charset="0"/>
            </a:endParaRPr>
          </a:p>
        </p:txBody>
      </p:sp>
      <p:sp>
        <p:nvSpPr>
          <p:cNvPr id="18" name="Content Placeholder 17"/>
          <p:cNvSpPr>
            <a:spLocks noGrp="1"/>
          </p:cNvSpPr>
          <p:nvPr>
            <p:ph idx="1"/>
          </p:nvPr>
        </p:nvSpPr>
        <p:spPr>
          <a:xfrm>
            <a:off x="830581" y="2867663"/>
            <a:ext cx="7886712" cy="4351344"/>
          </a:xfrm>
        </p:spPr>
        <p:txBody>
          <a:body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AC</a:t>
            </a:r>
            <a:r>
              <a:rPr lang="x-none" altLang="en-US">
                <a:latin typeface="Open Sans Condensed" panose="020B0806030504020204" charset="0"/>
                <a:cs typeface="Open Sans Condensed" panose="020B0806030504020204" charset="0"/>
              </a:rPr>
              <a:t>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grpSp>
        <p:nvGrpSpPr>
          <p:cNvPr id="2" name="Group 1" descr="Identical to previous slide but now G is replaced with C as the ending state, but all the equations stay the same.">
            <a:extLst>
              <a:ext uri="{FF2B5EF4-FFF2-40B4-BE49-F238E27FC236}">
                <a16:creationId xmlns:a16="http://schemas.microsoft.com/office/drawing/2014/main" id="{0AFAF6F1-3328-FA00-8337-F4DAF46E465F}"/>
              </a:ext>
            </a:extLst>
          </p:cNvPr>
          <p:cNvGrpSpPr/>
          <p:nvPr/>
        </p:nvGrpSpPr>
        <p:grpSpPr>
          <a:xfrm>
            <a:off x="929005" y="1564640"/>
            <a:ext cx="7334250" cy="4396105"/>
            <a:chOff x="929005" y="1564640"/>
            <a:chExt cx="7334250" cy="4396105"/>
          </a:xfrm>
        </p:grpSpPr>
        <p:cxnSp>
          <p:nvCxnSpPr>
            <p:cNvPr id="4" name="Straight Arrow Connector 3"/>
            <p:cNvCxnSpPr/>
            <p:nvPr/>
          </p:nvCxnSpPr>
          <p:spPr>
            <a:xfrm>
              <a:off x="1562100" y="2188845"/>
              <a:ext cx="5804535" cy="1206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3978910" y="1564640"/>
              <a:ext cx="1499870" cy="640080"/>
            </a:xfrm>
            <a:prstGeom prst="rect">
              <a:avLst/>
            </a:prstGeom>
            <a:noFill/>
          </p:spPr>
          <p:txBody>
            <a:bodyPr wrap="square" rtlCol="0">
              <a:spAutoFit/>
            </a:bodyPr>
            <a:lstStyle/>
            <a:p>
              <a:r>
                <a:rPr lang="x-none" altLang="en-US" sz="3600">
                  <a:latin typeface="Open Sans Condensed" panose="020B0806030504020204" charset="0"/>
                  <a:cs typeface="Open Sans Condensed" panose="020B0806030504020204" charset="0"/>
                </a:rPr>
                <a:t>time</a:t>
              </a:r>
            </a:p>
          </p:txBody>
        </p:sp>
        <p:sp>
          <p:nvSpPr>
            <p:cNvPr id="6" name="Text Box 5"/>
            <p:cNvSpPr txBox="1"/>
            <p:nvPr/>
          </p:nvSpPr>
          <p:spPr>
            <a:xfrm>
              <a:off x="929005" y="1828165"/>
              <a:ext cx="1165860" cy="701040"/>
            </a:xfrm>
            <a:prstGeom prst="rect">
              <a:avLst/>
            </a:prstGeom>
            <a:noFill/>
          </p:spPr>
          <p:txBody>
            <a:bodyPr wrap="square" rtlCol="0">
              <a:spAutoFit/>
            </a:bodyPr>
            <a:lstStyle/>
            <a:p>
              <a:r>
                <a:rPr lang="x-none" altLang="en-US" sz="4000" b="1">
                  <a:latin typeface="Open Sans Condensed" panose="020B0806030504020204" charset="0"/>
                  <a:cs typeface="Open Sans Condensed" panose="020B0806030504020204" charset="0"/>
                </a:rPr>
                <a:t>A</a:t>
              </a:r>
            </a:p>
          </p:txBody>
        </p:sp>
        <p:sp>
          <p:nvSpPr>
            <p:cNvPr id="7" name="Text Box 6"/>
            <p:cNvSpPr txBox="1"/>
            <p:nvPr/>
          </p:nvSpPr>
          <p:spPr>
            <a:xfrm>
              <a:off x="7394575" y="1901825"/>
              <a:ext cx="868680" cy="640080"/>
            </a:xfrm>
            <a:prstGeom prst="rect">
              <a:avLst/>
            </a:prstGeom>
            <a:noFill/>
          </p:spPr>
          <p:txBody>
            <a:bodyPr wrap="square" rtlCol="0">
              <a:spAutoFit/>
            </a:bodyPr>
            <a:lstStyle/>
            <a:p>
              <a:r>
                <a:rPr lang="x-none" altLang="en-US" sz="3600" b="1">
                  <a:latin typeface="Open Sans Condensed" panose="020B0806030504020204" charset="0"/>
                  <a:cs typeface="Open Sans Condensed" panose="020B0806030504020204" charset="0"/>
                </a:rPr>
                <a:t>C</a:t>
              </a:r>
            </a:p>
          </p:txBody>
        </p:sp>
        <p:sp>
          <p:nvSpPr>
            <p:cNvPr id="3" name="Right Arrow 2"/>
            <p:cNvSpPr/>
            <p:nvPr/>
          </p:nvSpPr>
          <p:spPr>
            <a:xfrm rot="16260000">
              <a:off x="5636260" y="365696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9" name="Right Arrow 8"/>
            <p:cNvSpPr/>
            <p:nvPr/>
          </p:nvSpPr>
          <p:spPr>
            <a:xfrm rot="16260000">
              <a:off x="6656070" y="366458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1" name="Text Box 10"/>
            <p:cNvSpPr txBox="1"/>
            <p:nvPr/>
          </p:nvSpPr>
          <p:spPr>
            <a:xfrm>
              <a:off x="5434330" y="4507865"/>
              <a:ext cx="1297940" cy="118872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at least one thing happens</a:t>
              </a:r>
            </a:p>
          </p:txBody>
        </p:sp>
        <p:sp>
          <p:nvSpPr>
            <p:cNvPr id="12" name="Text Box 11"/>
            <p:cNvSpPr txBox="1"/>
            <p:nvPr/>
          </p:nvSpPr>
          <p:spPr>
            <a:xfrm>
              <a:off x="6644640" y="4497705"/>
              <a:ext cx="1589405" cy="146304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that the last thing that happened ends in an C</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x-none" altLang="en-US">
                <a:latin typeface="Open Sans Condensed"/>
              </a:rPr>
              <a:t>The last possible substitution</a:t>
            </a:r>
            <a:endParaRPr lang="en-US"/>
          </a:p>
        </p:txBody>
      </p:sp>
      <p:sp>
        <p:nvSpPr>
          <p:cNvPr id="18" name="Content Placeholder 17"/>
          <p:cNvSpPr>
            <a:spLocks noGrp="1"/>
          </p:cNvSpPr>
          <p:nvPr>
            <p:ph idx="1"/>
          </p:nvPr>
        </p:nvSpPr>
        <p:spPr>
          <a:xfrm>
            <a:off x="830581" y="2867663"/>
            <a:ext cx="7886712" cy="4351344"/>
          </a:xfrm>
        </p:spPr>
        <p:txBody>
          <a:body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AT</a:t>
            </a:r>
            <a:r>
              <a:rPr lang="x-none" altLang="en-US">
                <a:latin typeface="Open Sans Condensed" panose="020B0806030504020204" charset="0"/>
                <a:cs typeface="Open Sans Condensed" panose="020B0806030504020204" charset="0"/>
              </a:rPr>
              <a:t>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grpSp>
        <p:nvGrpSpPr>
          <p:cNvPr id="2" name="Group 1" descr="Identical to the last scenario except the tip now ends in T, with identical equations.">
            <a:extLst>
              <a:ext uri="{FF2B5EF4-FFF2-40B4-BE49-F238E27FC236}">
                <a16:creationId xmlns:a16="http://schemas.microsoft.com/office/drawing/2014/main" id="{439ACE0D-B8AB-67DE-B888-B767F18721F6}"/>
              </a:ext>
            </a:extLst>
          </p:cNvPr>
          <p:cNvGrpSpPr/>
          <p:nvPr/>
        </p:nvGrpSpPr>
        <p:grpSpPr>
          <a:xfrm>
            <a:off x="929005" y="1564640"/>
            <a:ext cx="7334250" cy="4396105"/>
            <a:chOff x="929005" y="1564640"/>
            <a:chExt cx="7334250" cy="4396105"/>
          </a:xfrm>
        </p:grpSpPr>
        <p:cxnSp>
          <p:nvCxnSpPr>
            <p:cNvPr id="4" name="Straight Arrow Connector 3"/>
            <p:cNvCxnSpPr/>
            <p:nvPr/>
          </p:nvCxnSpPr>
          <p:spPr>
            <a:xfrm>
              <a:off x="1562100" y="2188845"/>
              <a:ext cx="5804535" cy="1206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5" name="Text Box 4"/>
            <p:cNvSpPr txBox="1"/>
            <p:nvPr/>
          </p:nvSpPr>
          <p:spPr>
            <a:xfrm>
              <a:off x="3978910" y="1564640"/>
              <a:ext cx="1499870" cy="640080"/>
            </a:xfrm>
            <a:prstGeom prst="rect">
              <a:avLst/>
            </a:prstGeom>
            <a:noFill/>
          </p:spPr>
          <p:txBody>
            <a:bodyPr wrap="square" rtlCol="0">
              <a:spAutoFit/>
            </a:bodyPr>
            <a:lstStyle/>
            <a:p>
              <a:r>
                <a:rPr lang="x-none" altLang="en-US" sz="3600">
                  <a:latin typeface="Open Sans Condensed" panose="020B0806030504020204" charset="0"/>
                  <a:cs typeface="Open Sans Condensed" panose="020B0806030504020204" charset="0"/>
                </a:rPr>
                <a:t>time</a:t>
              </a:r>
            </a:p>
          </p:txBody>
        </p:sp>
        <p:sp>
          <p:nvSpPr>
            <p:cNvPr id="6" name="Text Box 5"/>
            <p:cNvSpPr txBox="1"/>
            <p:nvPr/>
          </p:nvSpPr>
          <p:spPr>
            <a:xfrm>
              <a:off x="929005" y="1828165"/>
              <a:ext cx="1165860" cy="701040"/>
            </a:xfrm>
            <a:prstGeom prst="rect">
              <a:avLst/>
            </a:prstGeom>
            <a:noFill/>
          </p:spPr>
          <p:txBody>
            <a:bodyPr wrap="square" rtlCol="0">
              <a:spAutoFit/>
            </a:bodyPr>
            <a:lstStyle/>
            <a:p>
              <a:r>
                <a:rPr lang="x-none" altLang="en-US" sz="4000" b="1">
                  <a:latin typeface="Open Sans Condensed" panose="020B0806030504020204" charset="0"/>
                  <a:cs typeface="Open Sans Condensed" panose="020B0806030504020204" charset="0"/>
                </a:rPr>
                <a:t>A</a:t>
              </a:r>
            </a:p>
          </p:txBody>
        </p:sp>
        <p:sp>
          <p:nvSpPr>
            <p:cNvPr id="7" name="Text Box 6"/>
            <p:cNvSpPr txBox="1"/>
            <p:nvPr/>
          </p:nvSpPr>
          <p:spPr>
            <a:xfrm>
              <a:off x="7394575" y="1901825"/>
              <a:ext cx="868680" cy="640080"/>
            </a:xfrm>
            <a:prstGeom prst="rect">
              <a:avLst/>
            </a:prstGeom>
            <a:noFill/>
          </p:spPr>
          <p:txBody>
            <a:bodyPr wrap="square" rtlCol="0">
              <a:spAutoFit/>
            </a:bodyPr>
            <a:lstStyle/>
            <a:p>
              <a:r>
                <a:rPr lang="x-none" altLang="en-US" sz="3600" b="1">
                  <a:latin typeface="Open Sans Condensed" panose="020B0806030504020204" charset="0"/>
                  <a:cs typeface="Open Sans Condensed" panose="020B0806030504020204" charset="0"/>
                </a:rPr>
                <a:t>T</a:t>
              </a:r>
            </a:p>
          </p:txBody>
        </p:sp>
        <p:sp>
          <p:nvSpPr>
            <p:cNvPr id="3" name="Right Arrow 2"/>
            <p:cNvSpPr/>
            <p:nvPr/>
          </p:nvSpPr>
          <p:spPr>
            <a:xfrm rot="16260000">
              <a:off x="5636260" y="365696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9" name="Right Arrow 8"/>
            <p:cNvSpPr/>
            <p:nvPr/>
          </p:nvSpPr>
          <p:spPr>
            <a:xfrm rot="16260000">
              <a:off x="6656070" y="3664585"/>
              <a:ext cx="964565"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Condensed" panose="020B0806030504020204" charset="0"/>
                <a:cs typeface="Open Sans Condensed" panose="020B0806030504020204" charset="0"/>
              </a:endParaRPr>
            </a:p>
          </p:txBody>
        </p:sp>
        <p:sp>
          <p:nvSpPr>
            <p:cNvPr id="11" name="Text Box 10"/>
            <p:cNvSpPr txBox="1"/>
            <p:nvPr/>
          </p:nvSpPr>
          <p:spPr>
            <a:xfrm>
              <a:off x="5434330" y="4507865"/>
              <a:ext cx="1297940" cy="118872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at least one thing happens</a:t>
              </a:r>
            </a:p>
          </p:txBody>
        </p:sp>
        <p:sp>
          <p:nvSpPr>
            <p:cNvPr id="12" name="Text Box 11"/>
            <p:cNvSpPr txBox="1"/>
            <p:nvPr/>
          </p:nvSpPr>
          <p:spPr>
            <a:xfrm>
              <a:off x="6644640" y="4497705"/>
              <a:ext cx="1589405" cy="1463040"/>
            </a:xfrm>
            <a:prstGeom prst="rect">
              <a:avLst/>
            </a:prstGeom>
            <a:noFill/>
          </p:spPr>
          <p:txBody>
            <a:bodyPr wrap="square" rtlCol="0">
              <a:spAutoFit/>
            </a:bodyPr>
            <a:lstStyle/>
            <a:p>
              <a:r>
                <a:rPr lang="x-none" altLang="en-US">
                  <a:latin typeface="Open Sans Condensed" panose="020B0806030504020204" charset="0"/>
                  <a:cs typeface="Open Sans Condensed" panose="020B0806030504020204" charset="0"/>
                </a:rPr>
                <a:t>Probability that the last thing that happened ends in an T</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701" y="175259"/>
            <a:ext cx="7886712" cy="1325565"/>
          </a:xfrm>
        </p:spPr>
        <p:txBody>
          <a:bodyPr>
            <a:normAutofit/>
          </a:bodyPr>
          <a:lstStyle/>
          <a:p>
            <a:r>
              <a:rPr lang="x-none" altLang="en-US">
                <a:latin typeface="Open Sans Condensed"/>
                <a:cs typeface="Open Sans Condensed" panose="020B0806030504020204" charset="0"/>
              </a:rPr>
              <a:t>Substitutions vs. "events"  </a:t>
            </a:r>
          </a:p>
        </p:txBody>
      </p:sp>
      <p:sp>
        <p:nvSpPr>
          <p:cNvPr id="18" name="Text Box 17" descr="Equation the substitution rate nu equals three quarters times the event rate mu times t, which equals 3 times beta times t."/>
          <p:cNvSpPr txBox="1"/>
          <p:nvPr/>
        </p:nvSpPr>
        <p:spPr>
          <a:xfrm>
            <a:off x="2052955" y="1943100"/>
            <a:ext cx="4492625" cy="822960"/>
          </a:xfrm>
          <a:prstGeom prst="rect">
            <a:avLst/>
          </a:prstGeom>
          <a:noFill/>
        </p:spPr>
        <p:txBody>
          <a:bodyPr wrap="none" rtlCol="0">
            <a:spAutoFit/>
          </a:bodyPr>
          <a:lstStyle/>
          <a:p>
            <a:r>
              <a:rPr lang="en-US" sz="4800" i="1">
                <a:latin typeface="Open Sans Condensed" panose="020B0806030504020204" charset="0"/>
                <a:cs typeface="Open Sans Condensed" panose="020B0806030504020204" charset="0"/>
              </a:rPr>
              <a:t>ν </a:t>
            </a:r>
            <a:r>
              <a:rPr lang="x-none" altLang="en-US" sz="4800" i="1">
                <a:latin typeface="Open Sans Condensed" panose="020B0806030504020204" charset="0"/>
                <a:cs typeface="Open Sans Condensed" panose="020B0806030504020204" charset="0"/>
              </a:rPr>
              <a:t>= (3/4)</a:t>
            </a:r>
            <a:r>
              <a:rPr lang="en-US" sz="4800" i="1">
                <a:latin typeface="Open Sans Condensed" panose="020B0806030504020204" charset="0"/>
                <a:cs typeface="Open Sans Condensed" panose="020B0806030504020204" charset="0"/>
              </a:rPr>
              <a:t>μ</a:t>
            </a:r>
            <a:r>
              <a:rPr lang="x-none" altLang="en-US" sz="4800" i="1">
                <a:latin typeface="Open Sans Condensed" panose="020B0806030504020204" charset="0"/>
                <a:cs typeface="Open Sans Condensed" panose="020B0806030504020204" charset="0"/>
              </a:rPr>
              <a:t>t</a:t>
            </a:r>
            <a:r>
              <a:rPr lang="en-US" sz="4800">
                <a:latin typeface="Open Sans Condensed" panose="020B0806030504020204" charset="0"/>
                <a:cs typeface="Open Sans Condensed" panose="020B0806030504020204" charset="0"/>
              </a:rPr>
              <a:t> </a:t>
            </a:r>
            <a:r>
              <a:rPr lang="x-none" altLang="en-US" sz="4800">
                <a:latin typeface="Open Sans Condensed" panose="020B0806030504020204" charset="0"/>
                <a:cs typeface="Open Sans Condensed" panose="020B0806030504020204" charset="0"/>
              </a:rPr>
              <a:t>= </a:t>
            </a:r>
            <a:r>
              <a:rPr lang="x-none" altLang="en-US" sz="4800" i="1">
                <a:latin typeface="Open Sans Condensed" panose="020B0806030504020204" charset="0"/>
                <a:cs typeface="Open Sans Condensed" panose="020B0806030504020204" charset="0"/>
              </a:rPr>
              <a:t>3</a:t>
            </a:r>
            <a:r>
              <a:rPr lang="en-US" sz="4800" i="1">
                <a:latin typeface="Open Sans Condensed" panose="020B0806030504020204" charset="0"/>
                <a:cs typeface="Open Sans Condensed" panose="020B0806030504020204" charset="0"/>
              </a:rPr>
              <a:t>β</a:t>
            </a:r>
            <a:r>
              <a:rPr lang="x-none" altLang="en-US" sz="4800" i="1">
                <a:latin typeface="Open Sans Condensed" panose="020B0806030504020204" charset="0"/>
                <a:cs typeface="Open Sans Condensed" panose="020B0806030504020204" charset="0"/>
              </a:rPr>
              <a:t>t</a:t>
            </a:r>
          </a:p>
        </p:txBody>
      </p:sp>
      <p:sp>
        <p:nvSpPr>
          <p:cNvPr id="4" name="Title 1"/>
          <p:cNvSpPr>
            <a:spLocks noGrp="1"/>
          </p:cNvSpPr>
          <p:nvPr/>
        </p:nvSpPr>
        <p:spPr>
          <a:xfrm>
            <a:off x="530123" y="4421306"/>
            <a:ext cx="7886712" cy="1325565"/>
          </a:xfrm>
          <a:prstGeom prst="rect">
            <a:avLst/>
          </a:prstGeom>
        </p:spPr>
        <p:txBody>
          <a:bodyPr vert="horz" lIns="91440" tIns="45720" rIns="91440" bIns="45720" rtlCol="0" anchor="ctr">
            <a:normAutofit fontScale="6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r>
              <a:rPr lang="x-none" altLang="en-US">
                <a:latin typeface="Open Sans Condensed" panose="020B0806030504020204" charset="0"/>
                <a:cs typeface="Open Sans Condensed" panose="020B0806030504020204" charset="0"/>
              </a:rPr>
              <a:t>Only 3 out of 4 events results in a substitution. Thus, we can define the substitution rate </a:t>
            </a:r>
            <a:r>
              <a:rPr lang="en-US" i="1">
                <a:latin typeface="Open Sans Condensed" panose="020B0806030504020204" charset="0"/>
                <a:cs typeface="Open Sans Condensed" panose="020B0806030504020204" charset="0"/>
                <a:sym typeface="+mn-ea"/>
              </a:rPr>
              <a:t>ν</a:t>
            </a:r>
            <a:r>
              <a:rPr lang="x-none" altLang="en-US" i="1">
                <a:latin typeface="Open Sans Condensed" panose="020B0806030504020204" charset="0"/>
                <a:cs typeface="Open Sans Condensed" panose="020B0806030504020204" charset="0"/>
                <a:sym typeface="+mn-ea"/>
              </a:rPr>
              <a:t>. </a:t>
            </a:r>
          </a:p>
        </p:txBody>
      </p:sp>
      <p:sp>
        <p:nvSpPr>
          <p:cNvPr id="5" name="Text Box 4" descr="Rearranging the equation, four times nu over three equals mu times t."/>
          <p:cNvSpPr txBox="1"/>
          <p:nvPr/>
        </p:nvSpPr>
        <p:spPr>
          <a:xfrm>
            <a:off x="3114675" y="3206750"/>
            <a:ext cx="2715808" cy="830997"/>
          </a:xfrm>
          <a:prstGeom prst="rect">
            <a:avLst/>
          </a:prstGeom>
          <a:noFill/>
        </p:spPr>
        <p:txBody>
          <a:bodyPr wrap="none" lIns="91440" tIns="45720" rIns="91440" bIns="45720" rtlCol="0" anchor="t">
            <a:spAutoFit/>
          </a:bodyPr>
          <a:lstStyle/>
          <a:p>
            <a:pPr algn="l"/>
            <a:r>
              <a:rPr lang="x-none" altLang="en-US" sz="4800" i="1">
                <a:latin typeface="Open Sans Condensed"/>
                <a:cs typeface="Open Sans Condensed" panose="020B0806030504020204" charset="0"/>
                <a:sym typeface="+mn-ea"/>
              </a:rPr>
              <a:t>4</a:t>
            </a:r>
            <a:r>
              <a:rPr lang="en-US" sz="4800" i="1">
                <a:latin typeface="Open Sans Condensed"/>
                <a:cs typeface="Open Sans Condensed" panose="020B0806030504020204" charset="0"/>
              </a:rPr>
              <a:t>ν</a:t>
            </a:r>
            <a:r>
              <a:rPr lang="x-none" altLang="en-US" sz="4800" i="1">
                <a:latin typeface="Open Sans Condensed"/>
                <a:cs typeface="Open Sans Condensed" panose="020B0806030504020204" charset="0"/>
              </a:rPr>
              <a:t>/3</a:t>
            </a:r>
            <a:r>
              <a:rPr lang="en-US" sz="4800" i="1" dirty="0">
                <a:latin typeface="Open Sans Condensed"/>
                <a:cs typeface="Open Sans Condensed" panose="020B0806030504020204" charset="0"/>
              </a:rPr>
              <a:t> </a:t>
            </a:r>
            <a:r>
              <a:rPr lang="x-none" altLang="en-US" sz="4800" i="1">
                <a:latin typeface="Open Sans Condensed"/>
                <a:cs typeface="Open Sans Condensed" panose="020B0806030504020204" charset="0"/>
              </a:rPr>
              <a:t>= </a:t>
            </a:r>
            <a:r>
              <a:rPr lang="en-US" sz="4800" i="1">
                <a:latin typeface="Open Sans Condensed"/>
                <a:cs typeface="Open Sans Condensed" panose="020B0806030504020204" charset="0"/>
                <a:sym typeface="+mn-ea"/>
              </a:rPr>
              <a:t>μ</a:t>
            </a:r>
            <a:r>
              <a:rPr lang="x-none" altLang="en-US" sz="4800" i="1">
                <a:latin typeface="Open Sans Condensed"/>
                <a:cs typeface="Open Sans Condensed" panose="020B0806030504020204" charset="0"/>
              </a:rPr>
              <a:t>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FABE-F833-B3DC-D809-D3E9C196444C}"/>
              </a:ext>
            </a:extLst>
          </p:cNvPr>
          <p:cNvSpPr>
            <a:spLocks noGrp="1"/>
          </p:cNvSpPr>
          <p:nvPr>
            <p:ph type="title"/>
          </p:nvPr>
        </p:nvSpPr>
        <p:spPr/>
        <p:txBody>
          <a:bodyPr/>
          <a:lstStyle/>
          <a:p>
            <a:r>
              <a:rPr lang="en-US">
                <a:latin typeface="Arial"/>
                <a:cs typeface="Arial"/>
              </a:rPr>
              <a:t>Putting all four possible events together</a:t>
            </a:r>
            <a:endParaRPr lang="en-US" dirty="0">
              <a:cs typeface="Arial"/>
            </a:endParaRPr>
          </a:p>
        </p:txBody>
      </p:sp>
      <p:sp>
        <p:nvSpPr>
          <p:cNvPr id="4" name="Content Placeholder 17">
            <a:extLst>
              <a:ext uri="{FF2B5EF4-FFF2-40B4-BE49-F238E27FC236}">
                <a16:creationId xmlns:a16="http://schemas.microsoft.com/office/drawing/2014/main" id="{9F2A3F89-3111-9373-BCBE-62C0E69B91B4}"/>
              </a:ext>
            </a:extLst>
          </p:cNvPr>
          <p:cNvSpPr>
            <a:spLocks noGrp="1"/>
          </p:cNvSpPr>
          <p:nvPr/>
        </p:nvSpPr>
        <p:spPr>
          <a:xfrm>
            <a:off x="892940" y="2345765"/>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AA</a:t>
            </a:r>
            <a:r>
              <a:rPr lang="x-none" altLang="en-US">
                <a:latin typeface="Open Sans Condensed" panose="020B0806030504020204" charset="0"/>
                <a:cs typeface="Open Sans Condensed" panose="020B0806030504020204" charset="0"/>
              </a:rPr>
              <a:t>  = 	(e</a:t>
            </a:r>
            <a:r>
              <a:rPr lang="x-none" altLang="en-US" baseline="30000">
                <a:latin typeface="Open Sans Condensed" panose="020B0806030504020204" charset="0"/>
                <a:cs typeface="Open Sans Condensed" panose="020B0806030504020204" charset="0"/>
              </a:rPr>
              <a:t>-μt</a:t>
            </a:r>
            <a:r>
              <a:rPr lang="x-none" altLang="en-US">
                <a:latin typeface="Open Sans Condensed" panose="020B0806030504020204" charset="0"/>
                <a:cs typeface="Open Sans Condensed" panose="020B0806030504020204" charset="0"/>
              </a:rPr>
              <a:t> )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sp>
        <p:nvSpPr>
          <p:cNvPr id="5" name="Content Placeholder 3">
            <a:extLst>
              <a:ext uri="{FF2B5EF4-FFF2-40B4-BE49-F238E27FC236}">
                <a16:creationId xmlns:a16="http://schemas.microsoft.com/office/drawing/2014/main" id="{1D8FCD0F-FF64-6249-F9CA-910767595738}"/>
              </a:ext>
            </a:extLst>
          </p:cNvPr>
          <p:cNvSpPr>
            <a:spLocks noGrp="1"/>
          </p:cNvSpPr>
          <p:nvPr/>
        </p:nvSpPr>
        <p:spPr>
          <a:xfrm>
            <a:off x="917070" y="3108400"/>
            <a:ext cx="7886712" cy="43513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AG</a:t>
            </a:r>
            <a:r>
              <a:rPr lang="x-none" altLang="en-US">
                <a:latin typeface="Open Sans Condensed" panose="020B0806030504020204" charset="0"/>
                <a:cs typeface="Open Sans Condensed" panose="020B0806030504020204" charset="0"/>
              </a:rPr>
              <a:t>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sp>
        <p:nvSpPr>
          <p:cNvPr id="6" name="Content Placeholder 17">
            <a:extLst>
              <a:ext uri="{FF2B5EF4-FFF2-40B4-BE49-F238E27FC236}">
                <a16:creationId xmlns:a16="http://schemas.microsoft.com/office/drawing/2014/main" id="{FE7A8726-DF97-57E7-C182-009206FD044F}"/>
              </a:ext>
            </a:extLst>
          </p:cNvPr>
          <p:cNvSpPr>
            <a:spLocks noGrp="1"/>
          </p:cNvSpPr>
          <p:nvPr/>
        </p:nvSpPr>
        <p:spPr>
          <a:xfrm>
            <a:off x="881510" y="3816425"/>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AC</a:t>
            </a:r>
            <a:r>
              <a:rPr lang="x-none" altLang="en-US">
                <a:latin typeface="Open Sans Condensed" panose="020B0806030504020204" charset="0"/>
                <a:cs typeface="Open Sans Condensed" panose="020B0806030504020204" charset="0"/>
              </a:rPr>
              <a:t>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sp>
        <p:nvSpPr>
          <p:cNvPr id="7" name="Content Placeholder 17">
            <a:extLst>
              <a:ext uri="{FF2B5EF4-FFF2-40B4-BE49-F238E27FC236}">
                <a16:creationId xmlns:a16="http://schemas.microsoft.com/office/drawing/2014/main" id="{2CE863EC-17EE-8EAF-A22C-2C689F1548D9}"/>
              </a:ext>
            </a:extLst>
          </p:cNvPr>
          <p:cNvSpPr>
            <a:spLocks noGrp="1"/>
          </p:cNvSpPr>
          <p:nvPr/>
        </p:nvSpPr>
        <p:spPr>
          <a:xfrm>
            <a:off x="871350" y="4495240"/>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AT</a:t>
            </a:r>
            <a:r>
              <a:rPr lang="x-none" altLang="en-US">
                <a:latin typeface="Open Sans Condensed" panose="020B0806030504020204" charset="0"/>
                <a:cs typeface="Open Sans Condensed" panose="020B0806030504020204" charset="0"/>
              </a:rPr>
              <a:t>  = 				(1 - </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-μt</a:t>
            </a:r>
            <a:r>
              <a:rPr lang="x-none" altLang="en-US">
                <a:latin typeface="Open Sans Condensed" panose="020B0806030504020204" charset="0"/>
                <a:cs typeface="Open Sans Condensed" panose="020B0806030504020204" charset="0"/>
                <a:sym typeface="+mn-ea"/>
              </a:rPr>
              <a:t>)(1/4)</a:t>
            </a:r>
          </a:p>
        </p:txBody>
      </p:sp>
    </p:spTree>
    <p:extLst>
      <p:ext uri="{BB962C8B-B14F-4D97-AF65-F5344CB8AC3E}">
        <p14:creationId xmlns:p14="http://schemas.microsoft.com/office/powerpoint/2010/main" val="1999844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4EDF7-DE45-56CE-D892-1DC3412A3B21}"/>
              </a:ext>
            </a:extLst>
          </p:cNvPr>
          <p:cNvSpPr>
            <a:spLocks noGrp="1"/>
          </p:cNvSpPr>
          <p:nvPr>
            <p:ph type="title"/>
          </p:nvPr>
        </p:nvSpPr>
        <p:spPr/>
        <p:txBody>
          <a:bodyPr/>
          <a:lstStyle/>
          <a:p>
            <a:r>
              <a:rPr lang="en-US">
                <a:latin typeface="Arial"/>
                <a:cs typeface="Arial"/>
              </a:rPr>
              <a:t>Sanity check: do they all add to one?</a:t>
            </a:r>
            <a:endParaRPr lang="en-US"/>
          </a:p>
        </p:txBody>
      </p:sp>
      <p:grpSp>
        <p:nvGrpSpPr>
          <p:cNvPr id="8" name="Group 7" descr="multiply both ">
            <a:extLst>
              <a:ext uri="{FF2B5EF4-FFF2-40B4-BE49-F238E27FC236}">
                <a16:creationId xmlns:a16="http://schemas.microsoft.com/office/drawing/2014/main" id="{B7C2A26E-E9D4-39B2-2412-A5C60454F6E0}"/>
              </a:ext>
            </a:extLst>
          </p:cNvPr>
          <p:cNvGrpSpPr/>
          <p:nvPr/>
        </p:nvGrpSpPr>
        <p:grpSpPr>
          <a:xfrm>
            <a:off x="711861" y="1928057"/>
            <a:ext cx="7932432" cy="6500819"/>
            <a:chOff x="711861" y="1928057"/>
            <a:chExt cx="7932432" cy="6500819"/>
          </a:xfrm>
        </p:grpSpPr>
        <p:sp>
          <p:nvSpPr>
            <p:cNvPr id="4" name="Content Placeholder 17">
              <a:extLst>
                <a:ext uri="{FF2B5EF4-FFF2-40B4-BE49-F238E27FC236}">
                  <a16:creationId xmlns:a16="http://schemas.microsoft.com/office/drawing/2014/main" id="{CE1BEA2E-BF0B-8251-BF4F-5767385F0C50}"/>
                </a:ext>
              </a:extLst>
            </p:cNvPr>
            <p:cNvSpPr>
              <a:spLocks noGrp="1"/>
            </p:cNvSpPr>
            <p:nvPr/>
          </p:nvSpPr>
          <p:spPr>
            <a:xfrm>
              <a:off x="733451" y="1928057"/>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AA</a:t>
              </a:r>
              <a:r>
                <a:rPr lang="x-none" altLang="en-US">
                  <a:latin typeface="Open Sans Condensed" panose="020B0806030504020204" charset="0"/>
                  <a:cs typeface="Open Sans Condensed" panose="020B0806030504020204" charset="0"/>
                </a:rPr>
                <a:t>  = 	(1/4) 		+ 	(3/4)(e</a:t>
              </a:r>
              <a:r>
                <a:rPr lang="x-none" altLang="en-US" baseline="30000">
                  <a:latin typeface="Open Sans Condensed" panose="020B0806030504020204" charset="0"/>
                  <a:cs typeface="Open Sans Condensed" panose="020B0806030504020204" charset="0"/>
                </a:rPr>
                <a:t>-</a:t>
              </a:r>
              <a:r>
                <a:rPr lang="x-none" altLang="en-US" i="1" baseline="30000">
                  <a:latin typeface="Open Sans Condensed" panose="020B0806030504020204" charset="0"/>
                  <a:cs typeface="Open Sans Condensed" panose="020B0806030504020204" charset="0"/>
                  <a:sym typeface="+mn-ea"/>
                </a:rPr>
                <a:t>4</a:t>
              </a:r>
              <a:r>
                <a:rPr lang="en-US" i="1" baseline="30000">
                  <a:latin typeface="Open Sans Condensed" panose="020B0806030504020204" charset="0"/>
                  <a:cs typeface="Open Sans Condensed" panose="020B0806030504020204" charset="0"/>
                  <a:sym typeface="+mn-ea"/>
                </a:rPr>
                <a:t>ν</a:t>
              </a:r>
              <a:r>
                <a:rPr lang="x-none" altLang="en-US" i="1" baseline="30000">
                  <a:latin typeface="Open Sans Condensed" panose="020B0806030504020204" charset="0"/>
                  <a:cs typeface="Open Sans Condensed" panose="020B0806030504020204" charset="0"/>
                  <a:sym typeface="+mn-ea"/>
                </a:rPr>
                <a:t>/3</a:t>
              </a:r>
              <a:r>
                <a:rPr lang="x-none" altLang="en-US">
                  <a:latin typeface="Open Sans Condensed" panose="020B0806030504020204" charset="0"/>
                  <a:cs typeface="Open Sans Condensed" panose="020B0806030504020204" charset="0"/>
                </a:rPr>
                <a:t> ) 	</a:t>
              </a:r>
              <a:endParaRPr lang="x-none" altLang="en-US">
                <a:latin typeface="Open Sans Condensed" panose="020B0806030504020204" charset="0"/>
                <a:cs typeface="Open Sans Condensed" panose="020B0806030504020204" charset="0"/>
                <a:sym typeface="+mn-ea"/>
              </a:endParaRPr>
            </a:p>
          </p:txBody>
        </p:sp>
        <p:sp>
          <p:nvSpPr>
            <p:cNvPr id="5" name="Content Placeholder 3">
              <a:extLst>
                <a:ext uri="{FF2B5EF4-FFF2-40B4-BE49-F238E27FC236}">
                  <a16:creationId xmlns:a16="http://schemas.microsoft.com/office/drawing/2014/main" id="{33433F1A-7C48-2038-1899-DBDCBA981EF6}"/>
                </a:ext>
              </a:extLst>
            </p:cNvPr>
            <p:cNvSpPr>
              <a:spLocks noGrp="1"/>
            </p:cNvSpPr>
            <p:nvPr/>
          </p:nvSpPr>
          <p:spPr>
            <a:xfrm>
              <a:off x="757581" y="2690692"/>
              <a:ext cx="7886712" cy="43513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AG</a:t>
              </a:r>
              <a:r>
                <a:rPr lang="x-none" altLang="en-US">
                  <a:latin typeface="Open Sans Condensed" panose="020B0806030504020204" charset="0"/>
                  <a:cs typeface="Open Sans Condensed" panose="020B0806030504020204" charset="0"/>
                </a:rPr>
                <a:t>  = 	(1/4) 		-	</a:t>
              </a:r>
              <a:r>
                <a:rPr lang="x-none" altLang="en-US">
                  <a:latin typeface="Open Sans Condensed" panose="020B0806030504020204" charset="0"/>
                  <a:cs typeface="Open Sans Condensed" panose="020B0806030504020204" charset="0"/>
                  <a:sym typeface="+mn-ea"/>
                </a:rPr>
                <a:t>(1/4)</a:t>
              </a:r>
              <a:r>
                <a:rPr lang="x-none" altLang="en-US">
                  <a:latin typeface="Open Sans Condensed" panose="020B0806030504020204" charset="0"/>
                  <a:cs typeface="Open Sans Condensed" panose="020B0806030504020204" charset="0"/>
                </a:rPr>
                <a:t>(</a:t>
              </a:r>
              <a:r>
                <a:rPr lang="x-none" altLang="en-US">
                  <a:latin typeface="Open Sans Condensed" panose="020B0806030504020204" charset="0"/>
                  <a:cs typeface="Open Sans Condensed" panose="020B0806030504020204" charset="0"/>
                  <a:sym typeface="+mn-ea"/>
                </a:rPr>
                <a:t>e</a:t>
              </a:r>
              <a:r>
                <a:rPr lang="x-none" altLang="en-US" baseline="30000">
                  <a:latin typeface="Open Sans Condensed" panose="020B0806030504020204" charset="0"/>
                  <a:cs typeface="Open Sans Condensed" panose="020B0806030504020204" charset="0"/>
                  <a:sym typeface="+mn-ea"/>
                </a:rPr>
                <a:t>-</a:t>
              </a:r>
              <a:r>
                <a:rPr lang="x-none" altLang="en-US" i="1" baseline="30000">
                  <a:latin typeface="Open Sans Condensed" panose="020B0806030504020204" charset="0"/>
                  <a:cs typeface="Open Sans Condensed" panose="020B0806030504020204" charset="0"/>
                  <a:sym typeface="+mn-ea"/>
                </a:rPr>
                <a:t>4</a:t>
              </a:r>
              <a:r>
                <a:rPr lang="en-US" i="1" baseline="30000">
                  <a:latin typeface="Open Sans Condensed" panose="020B0806030504020204" charset="0"/>
                  <a:cs typeface="Open Sans Condensed" panose="020B0806030504020204" charset="0"/>
                  <a:sym typeface="+mn-ea"/>
                </a:rPr>
                <a:t>ν</a:t>
              </a:r>
              <a:r>
                <a:rPr lang="x-none" altLang="en-US" i="1" baseline="30000">
                  <a:latin typeface="Open Sans Condensed" panose="020B0806030504020204" charset="0"/>
                  <a:cs typeface="Open Sans Condensed" panose="020B0806030504020204" charset="0"/>
                  <a:sym typeface="+mn-ea"/>
                </a:rPr>
                <a:t>/3</a:t>
              </a:r>
              <a:r>
                <a:rPr lang="x-none" altLang="en-US">
                  <a:latin typeface="Open Sans Condensed" panose="020B0806030504020204" charset="0"/>
                  <a:cs typeface="Open Sans Condensed" panose="020B0806030504020204" charset="0"/>
                  <a:sym typeface="+mn-ea"/>
                </a:rPr>
                <a:t>)</a:t>
              </a:r>
            </a:p>
          </p:txBody>
        </p:sp>
        <p:sp>
          <p:nvSpPr>
            <p:cNvPr id="6" name="Content Placeholder 17">
              <a:extLst>
                <a:ext uri="{FF2B5EF4-FFF2-40B4-BE49-F238E27FC236}">
                  <a16:creationId xmlns:a16="http://schemas.microsoft.com/office/drawing/2014/main" id="{A96D5044-5E4A-64B7-59D9-150725099D53}"/>
                </a:ext>
              </a:extLst>
            </p:cNvPr>
            <p:cNvSpPr>
              <a:spLocks noGrp="1"/>
            </p:cNvSpPr>
            <p:nvPr/>
          </p:nvSpPr>
          <p:spPr>
            <a:xfrm>
              <a:off x="722021" y="3398717"/>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AC</a:t>
              </a:r>
              <a:r>
                <a:rPr lang="x-none" altLang="en-US">
                  <a:latin typeface="Open Sans Condensed" panose="020B0806030504020204" charset="0"/>
                  <a:cs typeface="Open Sans Condensed" panose="020B0806030504020204" charset="0"/>
                </a:rPr>
                <a:t>  = 	</a:t>
              </a:r>
              <a:r>
                <a:rPr lang="x-none" altLang="en-US">
                  <a:latin typeface="Open Sans Condensed" panose="020B0806030504020204" charset="0"/>
                  <a:cs typeface="Open Sans Condensed" panose="020B0806030504020204" charset="0"/>
                  <a:sym typeface="+mn-ea"/>
                </a:rPr>
                <a:t>(1/4) 		-	(1/4)(e</a:t>
              </a:r>
              <a:r>
                <a:rPr lang="x-none" altLang="en-US" baseline="30000">
                  <a:latin typeface="Open Sans Condensed" panose="020B0806030504020204" charset="0"/>
                  <a:cs typeface="Open Sans Condensed" panose="020B0806030504020204" charset="0"/>
                  <a:sym typeface="+mn-ea"/>
                </a:rPr>
                <a:t>-</a:t>
              </a:r>
              <a:r>
                <a:rPr lang="x-none" altLang="en-US" i="1" baseline="30000">
                  <a:latin typeface="Open Sans Condensed" panose="020B0806030504020204" charset="0"/>
                  <a:cs typeface="Open Sans Condensed" panose="020B0806030504020204" charset="0"/>
                  <a:sym typeface="+mn-ea"/>
                </a:rPr>
                <a:t>4</a:t>
              </a:r>
              <a:r>
                <a:rPr lang="en-US" i="1" baseline="30000">
                  <a:latin typeface="Open Sans Condensed" panose="020B0806030504020204" charset="0"/>
                  <a:cs typeface="Open Sans Condensed" panose="020B0806030504020204" charset="0"/>
                  <a:sym typeface="+mn-ea"/>
                </a:rPr>
                <a:t>ν</a:t>
              </a:r>
              <a:r>
                <a:rPr lang="x-none" altLang="en-US" i="1" baseline="30000">
                  <a:latin typeface="Open Sans Condensed" panose="020B0806030504020204" charset="0"/>
                  <a:cs typeface="Open Sans Condensed" panose="020B0806030504020204" charset="0"/>
                  <a:sym typeface="+mn-ea"/>
                </a:rPr>
                <a:t>/3</a:t>
              </a:r>
              <a:r>
                <a:rPr lang="x-none" altLang="en-US">
                  <a:latin typeface="Open Sans Condensed" panose="020B0806030504020204" charset="0"/>
                  <a:cs typeface="Open Sans Condensed" panose="020B0806030504020204" charset="0"/>
                  <a:sym typeface="+mn-ea"/>
                </a:rPr>
                <a:t>)</a:t>
              </a:r>
            </a:p>
            <a:p>
              <a:pPr marL="0" indent="0">
                <a:buNone/>
              </a:pPr>
              <a:endParaRPr lang="x-none" altLang="en-US">
                <a:latin typeface="Open Sans Condensed" panose="020B0806030504020204" charset="0"/>
                <a:cs typeface="Open Sans Condensed" panose="020B0806030504020204" charset="0"/>
                <a:sym typeface="+mn-ea"/>
              </a:endParaRPr>
            </a:p>
          </p:txBody>
        </p:sp>
        <p:sp>
          <p:nvSpPr>
            <p:cNvPr id="7" name="Content Placeholder 17">
              <a:extLst>
                <a:ext uri="{FF2B5EF4-FFF2-40B4-BE49-F238E27FC236}">
                  <a16:creationId xmlns:a16="http://schemas.microsoft.com/office/drawing/2014/main" id="{D1BD44BA-BCC8-75E9-E0A0-7749973CC488}"/>
                </a:ext>
              </a:extLst>
            </p:cNvPr>
            <p:cNvSpPr>
              <a:spLocks noGrp="1"/>
            </p:cNvSpPr>
            <p:nvPr/>
          </p:nvSpPr>
          <p:spPr>
            <a:xfrm>
              <a:off x="711861" y="4077532"/>
              <a:ext cx="7886712" cy="435134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a:latin typeface="Open Sans Condensed" panose="020B0806030504020204" charset="0"/>
                  <a:cs typeface="Open Sans Condensed" panose="020B0806030504020204" charset="0"/>
                </a:rPr>
                <a:t>P</a:t>
              </a:r>
              <a:r>
                <a:rPr lang="x-none" altLang="en-US" baseline="-25000">
                  <a:latin typeface="Open Sans Condensed" panose="020B0806030504020204" charset="0"/>
                  <a:cs typeface="Open Sans Condensed" panose="020B0806030504020204" charset="0"/>
                </a:rPr>
                <a:t>AT</a:t>
              </a:r>
              <a:r>
                <a:rPr lang="x-none" altLang="en-US">
                  <a:latin typeface="Open Sans Condensed" panose="020B0806030504020204" charset="0"/>
                  <a:cs typeface="Open Sans Condensed" panose="020B0806030504020204" charset="0"/>
                </a:rPr>
                <a:t>  = 	</a:t>
              </a:r>
              <a:r>
                <a:rPr lang="x-none" altLang="en-US">
                  <a:latin typeface="Open Sans Condensed" panose="020B0806030504020204" charset="0"/>
                  <a:cs typeface="Open Sans Condensed" panose="020B0806030504020204" charset="0"/>
                  <a:sym typeface="+mn-ea"/>
                </a:rPr>
                <a:t>(1/4) 		-	(1/4)(e</a:t>
              </a:r>
              <a:r>
                <a:rPr lang="x-none" altLang="en-US" baseline="30000">
                  <a:latin typeface="Open Sans Condensed" panose="020B0806030504020204" charset="0"/>
                  <a:cs typeface="Open Sans Condensed" panose="020B0806030504020204" charset="0"/>
                  <a:sym typeface="+mn-ea"/>
                </a:rPr>
                <a:t>-</a:t>
              </a:r>
              <a:r>
                <a:rPr lang="x-none" altLang="en-US" i="1" baseline="30000">
                  <a:latin typeface="Open Sans Condensed" panose="020B0806030504020204" charset="0"/>
                  <a:cs typeface="Open Sans Condensed" panose="020B0806030504020204" charset="0"/>
                  <a:sym typeface="+mn-ea"/>
                </a:rPr>
                <a:t>4</a:t>
              </a:r>
              <a:r>
                <a:rPr lang="en-US" i="1" baseline="30000">
                  <a:latin typeface="Open Sans Condensed" panose="020B0806030504020204" charset="0"/>
                  <a:cs typeface="Open Sans Condensed" panose="020B0806030504020204" charset="0"/>
                  <a:sym typeface="+mn-ea"/>
                </a:rPr>
                <a:t>ν</a:t>
              </a:r>
              <a:r>
                <a:rPr lang="x-none" altLang="en-US" i="1" baseline="30000">
                  <a:latin typeface="Open Sans Condensed" panose="020B0806030504020204" charset="0"/>
                  <a:cs typeface="Open Sans Condensed" panose="020B0806030504020204" charset="0"/>
                  <a:sym typeface="+mn-ea"/>
                </a:rPr>
                <a:t>/3</a:t>
              </a:r>
              <a:r>
                <a:rPr lang="x-none" altLang="en-US">
                  <a:latin typeface="Open Sans Condensed" panose="020B0806030504020204" charset="0"/>
                  <a:cs typeface="Open Sans Condensed" panose="020B0806030504020204" charset="0"/>
                  <a:sym typeface="+mn-ea"/>
                </a:rPr>
                <a:t>)</a:t>
              </a:r>
            </a:p>
            <a:p>
              <a:pPr marL="0" indent="0">
                <a:buNone/>
              </a:pPr>
              <a:endParaRPr lang="x-none" altLang="en-US">
                <a:latin typeface="Open Sans Condensed" panose="020B0806030504020204" charset="0"/>
                <a:cs typeface="Open Sans Condensed" panose="020B0806030504020204" charset="0"/>
                <a:sym typeface="+mn-ea"/>
              </a:endParaRPr>
            </a:p>
          </p:txBody>
        </p:sp>
      </p:grpSp>
    </p:spTree>
    <p:extLst>
      <p:ext uri="{BB962C8B-B14F-4D97-AF65-F5344CB8AC3E}">
        <p14:creationId xmlns:p14="http://schemas.microsoft.com/office/powerpoint/2010/main" val="73181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981E-AD5F-F165-7D0C-3BE95F58C4B4}"/>
              </a:ext>
            </a:extLst>
          </p:cNvPr>
          <p:cNvSpPr>
            <a:spLocks noGrp="1"/>
          </p:cNvSpPr>
          <p:nvPr>
            <p:ph type="title"/>
          </p:nvPr>
        </p:nvSpPr>
        <p:spPr/>
        <p:txBody>
          <a:bodyPr/>
          <a:lstStyle/>
          <a:p>
            <a:r>
              <a:rPr lang="en-US">
                <a:latin typeface="Arial"/>
                <a:cs typeface="Arial"/>
              </a:rPr>
              <a:t>Likelihood of an unrooted tree</a:t>
            </a:r>
            <a:endParaRPr lang="en-US"/>
          </a:p>
        </p:txBody>
      </p:sp>
      <p:pic>
        <p:nvPicPr>
          <p:cNvPr id="4" name="Content Placeholder 3" descr="A quartet tree with nodes labeled with nucleotide states. The tip states are observed and &quot;clamped&quot; to data, while the ancestral states are not really known, but given possible states. One of the internal nodes is arbitrarily chosen as the root node.">
            <a:extLst>
              <a:ext uri="{FF2B5EF4-FFF2-40B4-BE49-F238E27FC236}">
                <a16:creationId xmlns:a16="http://schemas.microsoft.com/office/drawing/2014/main" id="{01F2B880-9DBE-1ABB-2399-1259EE8EB8A4}"/>
              </a:ext>
            </a:extLst>
          </p:cNvPr>
          <p:cNvPicPr>
            <a:picLocks noGrp="1" noChangeAspect="1"/>
          </p:cNvPicPr>
          <p:nvPr>
            <p:ph idx="1"/>
          </p:nvPr>
        </p:nvPicPr>
        <p:blipFill>
          <a:blip r:embed="rId2"/>
          <a:srcRect b="-155"/>
          <a:stretch>
            <a:fillRect/>
          </a:stretch>
        </p:blipFill>
        <p:spPr>
          <a:xfrm>
            <a:off x="1826013" y="1825628"/>
            <a:ext cx="5491988" cy="4358100"/>
          </a:xfrm>
          <a:prstGeom prst="rect">
            <a:avLst/>
          </a:prstGeom>
        </p:spPr>
      </p:pic>
    </p:spTree>
    <p:extLst>
      <p:ext uri="{BB962C8B-B14F-4D97-AF65-F5344CB8AC3E}">
        <p14:creationId xmlns:p14="http://schemas.microsoft.com/office/powerpoint/2010/main" val="3900040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B3EE-0741-12B1-9559-F85DBBAC2483}"/>
              </a:ext>
            </a:extLst>
          </p:cNvPr>
          <p:cNvSpPr>
            <a:spLocks noGrp="1"/>
          </p:cNvSpPr>
          <p:nvPr>
            <p:ph type="title"/>
          </p:nvPr>
        </p:nvSpPr>
        <p:spPr/>
        <p:txBody>
          <a:bodyPr/>
          <a:lstStyle/>
          <a:p>
            <a:r>
              <a:rPr lang="en-US" dirty="0">
                <a:latin typeface="Arial"/>
                <a:cs typeface="Arial"/>
              </a:rPr>
              <a:t>Calculating the likelihood of a </a:t>
            </a:r>
            <a:r>
              <a:rPr lang="en-US">
                <a:latin typeface="Arial"/>
                <a:cs typeface="Arial"/>
              </a:rPr>
              <a:t>single history and site</a:t>
            </a:r>
            <a:endParaRPr lang="en-US" dirty="0">
              <a:cs typeface="Arial"/>
            </a:endParaRPr>
          </a:p>
        </p:txBody>
      </p:sp>
      <p:pic>
        <p:nvPicPr>
          <p:cNvPr id="4" name="Content Placeholder 3" descr="Same quartet tree with a graphical depiction of the resulting likelihood equation. Each branch is labeled nu subscript i, with i indicating one of five branches and nu indicating the branch length. There are 5 single branches that are just like our previous single tip phylogenies for which we can substitute the appropriate equations, either a substitution happened or one didn't. The probability of the root node is taken from pi sub A, the stationary frequency of the nucleotide A. All these independent branch event probabilities and the root probability are multiplied together using the &quot;AND&quot; rule.">
            <a:extLst>
              <a:ext uri="{FF2B5EF4-FFF2-40B4-BE49-F238E27FC236}">
                <a16:creationId xmlns:a16="http://schemas.microsoft.com/office/drawing/2014/main" id="{B2C3D9DA-7D1E-CE5B-B814-913E24D96C1E}"/>
              </a:ext>
            </a:extLst>
          </p:cNvPr>
          <p:cNvPicPr>
            <a:picLocks noGrp="1" noChangeAspect="1"/>
          </p:cNvPicPr>
          <p:nvPr>
            <p:ph idx="1"/>
          </p:nvPr>
        </p:nvPicPr>
        <p:blipFill>
          <a:blip r:embed="rId2"/>
          <a:srcRect b="124"/>
          <a:stretch>
            <a:fillRect/>
          </a:stretch>
        </p:blipFill>
        <p:spPr>
          <a:xfrm>
            <a:off x="1287466" y="1856007"/>
            <a:ext cx="6576675" cy="4999081"/>
          </a:xfrm>
          <a:prstGeom prst="rect">
            <a:avLst/>
          </a:prstGeom>
        </p:spPr>
      </p:pic>
    </p:spTree>
    <p:extLst>
      <p:ext uri="{BB962C8B-B14F-4D97-AF65-F5344CB8AC3E}">
        <p14:creationId xmlns:p14="http://schemas.microsoft.com/office/powerpoint/2010/main" val="14526712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D093-EE3B-FE95-78F9-9D2661AB8DE2}"/>
              </a:ext>
            </a:extLst>
          </p:cNvPr>
          <p:cNvSpPr>
            <a:spLocks noGrp="1"/>
          </p:cNvSpPr>
          <p:nvPr>
            <p:ph type="title"/>
          </p:nvPr>
        </p:nvSpPr>
        <p:spPr>
          <a:xfrm>
            <a:off x="780545" y="-143718"/>
            <a:ext cx="7886712" cy="1325565"/>
          </a:xfrm>
        </p:spPr>
        <p:txBody>
          <a:bodyPr>
            <a:normAutofit/>
          </a:bodyPr>
          <a:lstStyle/>
          <a:p>
            <a:r>
              <a:rPr lang="en-US" sz="2800">
                <a:latin typeface="Arial"/>
                <a:cs typeface="Arial"/>
              </a:rPr>
              <a:t>All possible node histories by brute force</a:t>
            </a:r>
            <a:endParaRPr lang="en-US" sz="2800"/>
          </a:p>
        </p:txBody>
      </p:sp>
      <p:pic>
        <p:nvPicPr>
          <p:cNvPr id="4" name="Content Placeholder 3" descr="16 quartet trees shown with the same tip states as previously, but with all 16 combinations of the internal nodes that are possible. Brute force approach would be to calculate L sub k for all 16 combinations of the ancestral states and sum them under the &quot;OR&quot; rule of probability.">
            <a:extLst>
              <a:ext uri="{FF2B5EF4-FFF2-40B4-BE49-F238E27FC236}">
                <a16:creationId xmlns:a16="http://schemas.microsoft.com/office/drawing/2014/main" id="{75B00581-5A75-C82A-B776-8D274C3BF7C4}"/>
              </a:ext>
            </a:extLst>
          </p:cNvPr>
          <p:cNvPicPr>
            <a:picLocks noGrp="1" noChangeAspect="1"/>
          </p:cNvPicPr>
          <p:nvPr>
            <p:ph idx="1"/>
          </p:nvPr>
        </p:nvPicPr>
        <p:blipFill>
          <a:blip r:embed="rId2"/>
          <a:srcRect r="-92" b="113"/>
          <a:stretch>
            <a:fillRect/>
          </a:stretch>
        </p:blipFill>
        <p:spPr>
          <a:xfrm>
            <a:off x="783765" y="975023"/>
            <a:ext cx="7057371" cy="5736248"/>
          </a:xfrm>
          <a:prstGeom prst="rect">
            <a:avLst/>
          </a:prstGeom>
        </p:spPr>
      </p:pic>
    </p:spTree>
    <p:extLst>
      <p:ext uri="{BB962C8B-B14F-4D97-AF65-F5344CB8AC3E}">
        <p14:creationId xmlns:p14="http://schemas.microsoft.com/office/powerpoint/2010/main" val="1962088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356" y="581"/>
            <a:ext cx="7886712" cy="1325565"/>
          </a:xfrm>
        </p:spPr>
        <p:txBody>
          <a:bodyPr>
            <a:noAutofit/>
          </a:bodyPr>
          <a:lstStyle/>
          <a:p>
            <a:r>
              <a:rPr lang="en-US" sz="3200">
                <a:latin typeface="Arial"/>
                <a:cs typeface="Arial"/>
              </a:rPr>
              <a:t>Felsenstein '81 pruning algorithm. Repeated patterns in </a:t>
            </a:r>
            <a:r>
              <a:rPr lang="en-US" sz="3200" dirty="0">
                <a:latin typeface="Arial"/>
                <a:cs typeface="Arial"/>
              </a:rPr>
              <a:t>possible ancestries</a:t>
            </a:r>
            <a:endParaRPr lang="en-US" sz="3200" dirty="0"/>
          </a:p>
        </p:txBody>
      </p:sp>
      <p:grpSp>
        <p:nvGrpSpPr>
          <p:cNvPr id="6" name="Group 5" descr="The same 16 quartet trees but four of them have a repeated pattern of the same ancestor as state A (but with the other node varying). This bipartition of the tree is identical in all four cases, ">
            <a:extLst>
              <a:ext uri="{FF2B5EF4-FFF2-40B4-BE49-F238E27FC236}">
                <a16:creationId xmlns:a16="http://schemas.microsoft.com/office/drawing/2014/main" id="{F68B62D3-D9F8-B891-2B1F-7D0A3175A614}"/>
              </a:ext>
            </a:extLst>
          </p:cNvPr>
          <p:cNvGrpSpPr/>
          <p:nvPr/>
        </p:nvGrpSpPr>
        <p:grpSpPr>
          <a:xfrm>
            <a:off x="396495" y="1455827"/>
            <a:ext cx="8250555" cy="5410835"/>
            <a:chOff x="396495" y="1455827"/>
            <a:chExt cx="8250555" cy="5410835"/>
          </a:xfrm>
        </p:grpSpPr>
        <p:pic>
          <p:nvPicPr>
            <p:cNvPr id="7" name="Content Placeholder 3">
              <a:extLst>
                <a:ext uri="{FF2B5EF4-FFF2-40B4-BE49-F238E27FC236}">
                  <a16:creationId xmlns:a16="http://schemas.microsoft.com/office/drawing/2014/main" id="{A687D81D-F314-EFE5-58A1-F38DC7656E88}"/>
                </a:ext>
              </a:extLst>
            </p:cNvPr>
            <p:cNvPicPr>
              <a:picLocks noGrp="1" noChangeAspect="1"/>
            </p:cNvPicPr>
            <p:nvPr/>
          </p:nvPicPr>
          <p:blipFill>
            <a:blip r:embed="rId2"/>
            <a:srcRect t="19347"/>
            <a:stretch>
              <a:fillRect/>
            </a:stretch>
          </p:blipFill>
          <p:spPr>
            <a:xfrm>
              <a:off x="396495" y="1455827"/>
              <a:ext cx="8250555" cy="5410835"/>
            </a:xfrm>
            <a:prstGeom prst="rect">
              <a:avLst/>
            </a:prstGeom>
          </p:spPr>
        </p:pic>
        <p:sp>
          <p:nvSpPr>
            <p:cNvPr id="8" name="Oval 7">
              <a:extLst>
                <a:ext uri="{FF2B5EF4-FFF2-40B4-BE49-F238E27FC236}">
                  <a16:creationId xmlns:a16="http://schemas.microsoft.com/office/drawing/2014/main" id="{894FDD0B-05AC-2F21-8A58-55F00601A010}"/>
                </a:ext>
              </a:extLst>
            </p:cNvPr>
            <p:cNvSpPr/>
            <p:nvPr/>
          </p:nvSpPr>
          <p:spPr>
            <a:xfrm>
              <a:off x="2140205" y="1651407"/>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Oval 8">
              <a:extLst>
                <a:ext uri="{FF2B5EF4-FFF2-40B4-BE49-F238E27FC236}">
                  <a16:creationId xmlns:a16="http://schemas.microsoft.com/office/drawing/2014/main" id="{9E32FDF4-F55A-2CB4-94DA-779A43CC7B05}"/>
                </a:ext>
              </a:extLst>
            </p:cNvPr>
            <p:cNvSpPr/>
            <p:nvPr/>
          </p:nvSpPr>
          <p:spPr>
            <a:xfrm>
              <a:off x="2136395" y="2748687"/>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Oval 9">
              <a:extLst>
                <a:ext uri="{FF2B5EF4-FFF2-40B4-BE49-F238E27FC236}">
                  <a16:creationId xmlns:a16="http://schemas.microsoft.com/office/drawing/2014/main" id="{B4350FA4-CA77-67D6-5CAD-3DBC76A075A5}"/>
                </a:ext>
              </a:extLst>
            </p:cNvPr>
            <p:cNvSpPr/>
            <p:nvPr/>
          </p:nvSpPr>
          <p:spPr>
            <a:xfrm>
              <a:off x="2144015" y="3887877"/>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D12F7769-3FD8-443F-BE1A-696BBB4746E9}"/>
                </a:ext>
              </a:extLst>
            </p:cNvPr>
            <p:cNvSpPr/>
            <p:nvPr/>
          </p:nvSpPr>
          <p:spPr>
            <a:xfrm>
              <a:off x="2121790" y="5015002"/>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056" y="65988"/>
            <a:ext cx="7886712" cy="1325565"/>
          </a:xfrm>
        </p:spPr>
        <p:txBody>
          <a:bodyPr/>
          <a:lstStyle/>
          <a:p>
            <a:r>
              <a:rPr lang="x-none" altLang="en-US" dirty="0">
                <a:latin typeface="Arial"/>
                <a:cs typeface="Arial"/>
              </a:rPr>
              <a:t>This repetition repeats for </a:t>
            </a:r>
            <a:r>
              <a:rPr lang="x-none" altLang="en-US">
                <a:latin typeface="Arial"/>
                <a:cs typeface="Arial"/>
              </a:rPr>
              <a:t>each set of 4 trees</a:t>
            </a:r>
            <a:endParaRPr lang="en-US"/>
          </a:p>
        </p:txBody>
      </p:sp>
      <p:sp>
        <p:nvSpPr>
          <p:cNvPr id="6" name="Content Placeholder 5">
            <a:extLst>
              <a:ext uri="{FF2B5EF4-FFF2-40B4-BE49-F238E27FC236}">
                <a16:creationId xmlns:a16="http://schemas.microsoft.com/office/drawing/2014/main" id="{64940BD0-7E2B-4FD9-AA1A-34EA357939BE}"/>
              </a:ext>
            </a:extLst>
          </p:cNvPr>
          <p:cNvSpPr>
            <a:spLocks noGrp="1"/>
          </p:cNvSpPr>
          <p:nvPr>
            <p:ph idx="1"/>
          </p:nvPr>
        </p:nvSpPr>
        <p:spPr/>
        <p:txBody>
          <a:bodyPr/>
          <a:lstStyle/>
          <a:p>
            <a:endParaRPr lang="en-US"/>
          </a:p>
        </p:txBody>
      </p:sp>
      <p:grpSp>
        <p:nvGrpSpPr>
          <p:cNvPr id="15" name="Group 14" descr="The next set of four trees also share a bipartition, circled in red.">
            <a:extLst>
              <a:ext uri="{FF2B5EF4-FFF2-40B4-BE49-F238E27FC236}">
                <a16:creationId xmlns:a16="http://schemas.microsoft.com/office/drawing/2014/main" id="{22C35DB2-A6B8-4DA4-9D91-A8BADF4B3F29}"/>
              </a:ext>
            </a:extLst>
          </p:cNvPr>
          <p:cNvGrpSpPr/>
          <p:nvPr/>
        </p:nvGrpSpPr>
        <p:grpSpPr>
          <a:xfrm>
            <a:off x="282575" y="1387475"/>
            <a:ext cx="8250555" cy="5410835"/>
            <a:chOff x="282575" y="1387475"/>
            <a:chExt cx="8250555" cy="5410835"/>
          </a:xfrm>
        </p:grpSpPr>
        <p:pic>
          <p:nvPicPr>
            <p:cNvPr id="7" name="Content Placeholder 3" descr="The nex">
              <a:extLst>
                <a:ext uri="{FF2B5EF4-FFF2-40B4-BE49-F238E27FC236}">
                  <a16:creationId xmlns:a16="http://schemas.microsoft.com/office/drawing/2014/main" id="{612AB705-DAA1-7929-ADA0-A3B4B9996A4D}"/>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descr="The nex">
              <a:extLst>
                <a:ext uri="{FF2B5EF4-FFF2-40B4-BE49-F238E27FC236}">
                  <a16:creationId xmlns:a16="http://schemas.microsoft.com/office/drawing/2014/main" id="{B1763B02-4739-63CD-1863-3E50C6E86CC1}"/>
                </a:ext>
              </a:extLst>
            </p:cNvPr>
            <p:cNvSpPr/>
            <p:nvPr/>
          </p:nvSpPr>
          <p:spPr>
            <a:xfrm>
              <a:off x="3812540" y="15538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descr="The nex">
              <a:extLst>
                <a:ext uri="{FF2B5EF4-FFF2-40B4-BE49-F238E27FC236}">
                  <a16:creationId xmlns:a16="http://schemas.microsoft.com/office/drawing/2014/main" id="{C5C8C7DD-652F-9110-6998-C3DA8125CA8D}"/>
                </a:ext>
              </a:extLst>
            </p:cNvPr>
            <p:cNvSpPr/>
            <p:nvPr/>
          </p:nvSpPr>
          <p:spPr>
            <a:xfrm>
              <a:off x="3803015" y="268033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descr="The nex">
              <a:extLst>
                <a:ext uri="{FF2B5EF4-FFF2-40B4-BE49-F238E27FC236}">
                  <a16:creationId xmlns:a16="http://schemas.microsoft.com/office/drawing/2014/main" id="{4FDC77C3-B2B7-30BB-643F-99E23067C21E}"/>
                </a:ext>
              </a:extLst>
            </p:cNvPr>
            <p:cNvSpPr/>
            <p:nvPr/>
          </p:nvSpPr>
          <p:spPr>
            <a:xfrm>
              <a:off x="3832225" y="49193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descr="The nex">
              <a:extLst>
                <a:ext uri="{FF2B5EF4-FFF2-40B4-BE49-F238E27FC236}">
                  <a16:creationId xmlns:a16="http://schemas.microsoft.com/office/drawing/2014/main" id="{D3E54DE9-EEAA-99A3-C32D-DA4B00A4F953}"/>
                </a:ext>
              </a:extLst>
            </p:cNvPr>
            <p:cNvSpPr/>
            <p:nvPr/>
          </p:nvSpPr>
          <p:spPr>
            <a:xfrm>
              <a:off x="3837940" y="381254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And it repeats again</a:t>
            </a:r>
            <a:endParaRPr lang="en-US"/>
          </a:p>
        </p:txBody>
      </p:sp>
      <p:sp>
        <p:nvSpPr>
          <p:cNvPr id="6" name="Content Placeholder 5">
            <a:extLst>
              <a:ext uri="{FF2B5EF4-FFF2-40B4-BE49-F238E27FC236}">
                <a16:creationId xmlns:a16="http://schemas.microsoft.com/office/drawing/2014/main" id="{DBA19ED5-7201-57C0-721F-F840F533BDAB}"/>
              </a:ext>
            </a:extLst>
          </p:cNvPr>
          <p:cNvSpPr>
            <a:spLocks noGrp="1"/>
          </p:cNvSpPr>
          <p:nvPr>
            <p:ph idx="1"/>
          </p:nvPr>
        </p:nvSpPr>
        <p:spPr/>
        <p:txBody>
          <a:bodyPr/>
          <a:lstStyle/>
          <a:p>
            <a:endParaRPr lang="en-US"/>
          </a:p>
        </p:txBody>
      </p:sp>
      <p:pic>
        <p:nvPicPr>
          <p:cNvPr id="7" name="Content Placeholder 3" descr="And the next set of four trees have a shared bipartition.">
            <a:extLst>
              <a:ext uri="{FF2B5EF4-FFF2-40B4-BE49-F238E27FC236}">
                <a16:creationId xmlns:a16="http://schemas.microsoft.com/office/drawing/2014/main" id="{09DE15E7-B6BB-9AD7-660A-77EB25C83799}"/>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descr="And the next set of four trees have a shared bipartition.">
            <a:extLst>
              <a:ext uri="{FF2B5EF4-FFF2-40B4-BE49-F238E27FC236}">
                <a16:creationId xmlns:a16="http://schemas.microsoft.com/office/drawing/2014/main" id="{82CA420C-9072-96C4-643A-017EB0C13DDC}"/>
              </a:ext>
            </a:extLst>
          </p:cNvPr>
          <p:cNvSpPr/>
          <p:nvPr/>
        </p:nvSpPr>
        <p:spPr>
          <a:xfrm>
            <a:off x="5681345" y="15538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descr="And the next set of four trees have a shared bipartition.">
            <a:extLst>
              <a:ext uri="{FF2B5EF4-FFF2-40B4-BE49-F238E27FC236}">
                <a16:creationId xmlns:a16="http://schemas.microsoft.com/office/drawing/2014/main" id="{A3A09111-1436-0681-55FA-38A4E6B0788C}"/>
              </a:ext>
            </a:extLst>
          </p:cNvPr>
          <p:cNvSpPr/>
          <p:nvPr/>
        </p:nvSpPr>
        <p:spPr>
          <a:xfrm>
            <a:off x="5671820" y="268033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descr="And the next set of four trees have a shared bipartition.">
            <a:extLst>
              <a:ext uri="{FF2B5EF4-FFF2-40B4-BE49-F238E27FC236}">
                <a16:creationId xmlns:a16="http://schemas.microsoft.com/office/drawing/2014/main" id="{9E9C01B2-E290-4F4E-4D1F-5DE9016DAC70}"/>
              </a:ext>
            </a:extLst>
          </p:cNvPr>
          <p:cNvSpPr/>
          <p:nvPr/>
        </p:nvSpPr>
        <p:spPr>
          <a:xfrm>
            <a:off x="5701030" y="49193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descr="And the next set of four trees have a shared bipartition.">
            <a:extLst>
              <a:ext uri="{FF2B5EF4-FFF2-40B4-BE49-F238E27FC236}">
                <a16:creationId xmlns:a16="http://schemas.microsoft.com/office/drawing/2014/main" id="{F4FE57C9-BECA-B91B-2EF0-2499A6E1F985}"/>
              </a:ext>
            </a:extLst>
          </p:cNvPr>
          <p:cNvSpPr/>
          <p:nvPr/>
        </p:nvSpPr>
        <p:spPr>
          <a:xfrm>
            <a:off x="5706745" y="381254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And for the last four</a:t>
            </a:r>
            <a:endParaRPr lang="x-none" altLang="en-US" dirty="0">
              <a:cs typeface="Arial"/>
            </a:endParaRPr>
          </a:p>
        </p:txBody>
      </p:sp>
      <p:sp>
        <p:nvSpPr>
          <p:cNvPr id="6" name="Content Placeholder 5">
            <a:extLst>
              <a:ext uri="{FF2B5EF4-FFF2-40B4-BE49-F238E27FC236}">
                <a16:creationId xmlns:a16="http://schemas.microsoft.com/office/drawing/2014/main" id="{04DB24A7-1805-C923-56E8-97446761B695}"/>
              </a:ext>
            </a:extLst>
          </p:cNvPr>
          <p:cNvSpPr>
            <a:spLocks noGrp="1"/>
          </p:cNvSpPr>
          <p:nvPr>
            <p:ph idx="1"/>
          </p:nvPr>
        </p:nvSpPr>
        <p:spPr/>
        <p:txBody>
          <a:bodyPr/>
          <a:lstStyle/>
          <a:p>
            <a:endParaRPr lang="en-US"/>
          </a:p>
        </p:txBody>
      </p:sp>
      <p:grpSp>
        <p:nvGrpSpPr>
          <p:cNvPr id="15" name="Group 14" descr="Now the last set of four trees has its shared bipartition circled.">
            <a:extLst>
              <a:ext uri="{FF2B5EF4-FFF2-40B4-BE49-F238E27FC236}">
                <a16:creationId xmlns:a16="http://schemas.microsoft.com/office/drawing/2014/main" id="{D320CFF0-46A1-E202-4E08-8811441EF801}"/>
              </a:ext>
            </a:extLst>
          </p:cNvPr>
          <p:cNvGrpSpPr/>
          <p:nvPr/>
        </p:nvGrpSpPr>
        <p:grpSpPr>
          <a:xfrm>
            <a:off x="282575" y="1387475"/>
            <a:ext cx="8250555" cy="5410835"/>
            <a:chOff x="282575" y="1387475"/>
            <a:chExt cx="8250555" cy="5410835"/>
          </a:xfrm>
        </p:grpSpPr>
        <p:pic>
          <p:nvPicPr>
            <p:cNvPr id="7" name="Content Placeholder 3">
              <a:extLst>
                <a:ext uri="{FF2B5EF4-FFF2-40B4-BE49-F238E27FC236}">
                  <a16:creationId xmlns:a16="http://schemas.microsoft.com/office/drawing/2014/main" id="{94B3E4A7-094F-6A33-BBC4-BFDB63B38488}"/>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a:extLst>
                <a:ext uri="{FF2B5EF4-FFF2-40B4-BE49-F238E27FC236}">
                  <a16:creationId xmlns:a16="http://schemas.microsoft.com/office/drawing/2014/main" id="{C84FDD95-9A3A-D91E-BDDC-19C6625323FC}"/>
                </a:ext>
              </a:extLst>
            </p:cNvPr>
            <p:cNvSpPr/>
            <p:nvPr/>
          </p:nvSpPr>
          <p:spPr>
            <a:xfrm>
              <a:off x="7544435" y="15538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4E8BFD8B-6ECA-C09E-E1C9-FC39E7808B80}"/>
                </a:ext>
              </a:extLst>
            </p:cNvPr>
            <p:cNvSpPr/>
            <p:nvPr/>
          </p:nvSpPr>
          <p:spPr>
            <a:xfrm>
              <a:off x="7534910" y="268033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95A4544E-2C9B-407A-6F5B-DB94DCDD74F7}"/>
                </a:ext>
              </a:extLst>
            </p:cNvPr>
            <p:cNvSpPr/>
            <p:nvPr/>
          </p:nvSpPr>
          <p:spPr>
            <a:xfrm>
              <a:off x="7564120" y="491934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BEAB6C3A-8125-A2AA-5B04-83CD9F7D8AC7}"/>
                </a:ext>
              </a:extLst>
            </p:cNvPr>
            <p:cNvSpPr/>
            <p:nvPr/>
          </p:nvSpPr>
          <p:spPr>
            <a:xfrm>
              <a:off x="7569835" y="381254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And shared bipartitions across </a:t>
            </a:r>
            <a:r>
              <a:rPr lang="x-none" altLang="en-US" dirty="0">
                <a:latin typeface="Arial"/>
                <a:cs typeface="Arial"/>
              </a:rPr>
              <a:t>rows</a:t>
            </a:r>
            <a:endParaRPr lang="x-none" altLang="en-US" dirty="0">
              <a:cs typeface="Arial"/>
            </a:endParaRPr>
          </a:p>
        </p:txBody>
      </p:sp>
      <p:sp>
        <p:nvSpPr>
          <p:cNvPr id="6" name="Content Placeholder 5">
            <a:extLst>
              <a:ext uri="{FF2B5EF4-FFF2-40B4-BE49-F238E27FC236}">
                <a16:creationId xmlns:a16="http://schemas.microsoft.com/office/drawing/2014/main" id="{DBA99DAA-4D21-884B-5294-63D845B7EAF1}"/>
              </a:ext>
            </a:extLst>
          </p:cNvPr>
          <p:cNvSpPr>
            <a:spLocks noGrp="1"/>
          </p:cNvSpPr>
          <p:nvPr>
            <p:ph idx="1"/>
          </p:nvPr>
        </p:nvSpPr>
        <p:spPr/>
        <p:txBody>
          <a:bodyPr/>
          <a:lstStyle/>
          <a:p>
            <a:endParaRPr lang="en-US"/>
          </a:p>
        </p:txBody>
      </p:sp>
      <p:grpSp>
        <p:nvGrpSpPr>
          <p:cNvPr id="15" name="Group 14" descr="Now we repeat but this time instead of going over columns, we go over rows and find four trees that share the same bipartition on the other side of the quartet.">
            <a:extLst>
              <a:ext uri="{FF2B5EF4-FFF2-40B4-BE49-F238E27FC236}">
                <a16:creationId xmlns:a16="http://schemas.microsoft.com/office/drawing/2014/main" id="{9A467675-7EA5-7627-1205-9CAE88463687}"/>
              </a:ext>
            </a:extLst>
          </p:cNvPr>
          <p:cNvGrpSpPr/>
          <p:nvPr/>
        </p:nvGrpSpPr>
        <p:grpSpPr>
          <a:xfrm>
            <a:off x="282575" y="1387475"/>
            <a:ext cx="8250555" cy="5410835"/>
            <a:chOff x="282575" y="1387475"/>
            <a:chExt cx="8250555" cy="5410835"/>
          </a:xfrm>
        </p:grpSpPr>
        <p:pic>
          <p:nvPicPr>
            <p:cNvPr id="7" name="Content Placeholder 3">
              <a:extLst>
                <a:ext uri="{FF2B5EF4-FFF2-40B4-BE49-F238E27FC236}">
                  <a16:creationId xmlns:a16="http://schemas.microsoft.com/office/drawing/2014/main" id="{29B1A685-D851-904C-0232-4F6C088098BC}"/>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a:extLst>
                <a:ext uri="{FF2B5EF4-FFF2-40B4-BE49-F238E27FC236}">
                  <a16:creationId xmlns:a16="http://schemas.microsoft.com/office/drawing/2014/main" id="{FBFD72BE-57F0-EDE6-7D28-02F7E40D1CDD}"/>
                </a:ext>
              </a:extLst>
            </p:cNvPr>
            <p:cNvSpPr/>
            <p:nvPr/>
          </p:nvSpPr>
          <p:spPr>
            <a:xfrm>
              <a:off x="1151255" y="156527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07189C46-6DD6-AC67-FF91-31902378903F}"/>
                </a:ext>
              </a:extLst>
            </p:cNvPr>
            <p:cNvSpPr/>
            <p:nvPr/>
          </p:nvSpPr>
          <p:spPr>
            <a:xfrm>
              <a:off x="2974975" y="156718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685F91A-98F4-170A-415E-45CB55ABBA27}"/>
                </a:ext>
              </a:extLst>
            </p:cNvPr>
            <p:cNvSpPr/>
            <p:nvPr/>
          </p:nvSpPr>
          <p:spPr>
            <a:xfrm>
              <a:off x="4850130" y="156718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3A06EC8A-10D6-9D98-9999-BBEE4C03619C}"/>
                </a:ext>
              </a:extLst>
            </p:cNvPr>
            <p:cNvSpPr/>
            <p:nvPr/>
          </p:nvSpPr>
          <p:spPr>
            <a:xfrm>
              <a:off x="6707505" y="155575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2nd row shared bipartition</a:t>
            </a:r>
            <a:endParaRPr lang="en-US"/>
          </a:p>
        </p:txBody>
      </p:sp>
      <p:sp>
        <p:nvSpPr>
          <p:cNvPr id="6" name="Content Placeholder 5">
            <a:extLst>
              <a:ext uri="{FF2B5EF4-FFF2-40B4-BE49-F238E27FC236}">
                <a16:creationId xmlns:a16="http://schemas.microsoft.com/office/drawing/2014/main" id="{8D1EE57B-3023-60D6-AA8C-ABEE69F700E4}"/>
              </a:ext>
            </a:extLst>
          </p:cNvPr>
          <p:cNvSpPr>
            <a:spLocks noGrp="1"/>
          </p:cNvSpPr>
          <p:nvPr>
            <p:ph idx="1"/>
          </p:nvPr>
        </p:nvSpPr>
        <p:spPr/>
        <p:txBody>
          <a:bodyPr/>
          <a:lstStyle/>
          <a:p>
            <a:endParaRPr lang="en-US"/>
          </a:p>
        </p:txBody>
      </p:sp>
      <p:grpSp>
        <p:nvGrpSpPr>
          <p:cNvPr id="15" name="Group 14" descr="We find and circle the shared bipartition on the left side again in the second row this time.">
            <a:extLst>
              <a:ext uri="{FF2B5EF4-FFF2-40B4-BE49-F238E27FC236}">
                <a16:creationId xmlns:a16="http://schemas.microsoft.com/office/drawing/2014/main" id="{D329D4EC-C2D4-2E0C-8FA2-377114B49D4F}"/>
              </a:ext>
            </a:extLst>
          </p:cNvPr>
          <p:cNvGrpSpPr/>
          <p:nvPr/>
        </p:nvGrpSpPr>
        <p:grpSpPr>
          <a:xfrm>
            <a:off x="282575" y="1387475"/>
            <a:ext cx="8250555" cy="5410835"/>
            <a:chOff x="282575" y="1387475"/>
            <a:chExt cx="8250555" cy="5410835"/>
          </a:xfrm>
        </p:grpSpPr>
        <p:pic>
          <p:nvPicPr>
            <p:cNvPr id="7" name="Content Placeholder 3">
              <a:extLst>
                <a:ext uri="{FF2B5EF4-FFF2-40B4-BE49-F238E27FC236}">
                  <a16:creationId xmlns:a16="http://schemas.microsoft.com/office/drawing/2014/main" id="{E43A471E-F07E-2F1D-7995-5DA131389AB3}"/>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a:extLst>
                <a:ext uri="{FF2B5EF4-FFF2-40B4-BE49-F238E27FC236}">
                  <a16:creationId xmlns:a16="http://schemas.microsoft.com/office/drawing/2014/main" id="{D80EDE09-BF2B-BFA0-3411-27E2060FC99A}"/>
                </a:ext>
              </a:extLst>
            </p:cNvPr>
            <p:cNvSpPr/>
            <p:nvPr/>
          </p:nvSpPr>
          <p:spPr>
            <a:xfrm>
              <a:off x="1151255" y="268478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3FFA00C9-0EF1-BB3B-5222-30A3D43FBEBF}"/>
                </a:ext>
              </a:extLst>
            </p:cNvPr>
            <p:cNvSpPr/>
            <p:nvPr/>
          </p:nvSpPr>
          <p:spPr>
            <a:xfrm>
              <a:off x="2974975" y="268668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DBCF57E-BF29-A010-AE86-CF73539D412A}"/>
                </a:ext>
              </a:extLst>
            </p:cNvPr>
            <p:cNvSpPr/>
            <p:nvPr/>
          </p:nvSpPr>
          <p:spPr>
            <a:xfrm>
              <a:off x="4850130" y="268668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F797C66C-67E1-151A-7D1B-C68BB8E08D07}"/>
                </a:ext>
              </a:extLst>
            </p:cNvPr>
            <p:cNvSpPr/>
            <p:nvPr/>
          </p:nvSpPr>
          <p:spPr>
            <a:xfrm>
              <a:off x="6707505" y="267525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3rd row shared bipartition</a:t>
            </a:r>
            <a:endParaRPr lang="x-none" altLang="en-US" dirty="0">
              <a:cs typeface="Arial"/>
            </a:endParaRPr>
          </a:p>
        </p:txBody>
      </p:sp>
      <p:sp>
        <p:nvSpPr>
          <p:cNvPr id="6" name="Content Placeholder 5">
            <a:extLst>
              <a:ext uri="{FF2B5EF4-FFF2-40B4-BE49-F238E27FC236}">
                <a16:creationId xmlns:a16="http://schemas.microsoft.com/office/drawing/2014/main" id="{91B965DD-6E13-5B82-EB7D-9002BD442AA7}"/>
              </a:ext>
            </a:extLst>
          </p:cNvPr>
          <p:cNvSpPr>
            <a:spLocks noGrp="1"/>
          </p:cNvSpPr>
          <p:nvPr>
            <p:ph idx="1"/>
          </p:nvPr>
        </p:nvSpPr>
        <p:spPr/>
        <p:txBody>
          <a:bodyPr/>
          <a:lstStyle/>
          <a:p>
            <a:endParaRPr lang="en-US"/>
          </a:p>
        </p:txBody>
      </p:sp>
      <p:grpSp>
        <p:nvGrpSpPr>
          <p:cNvPr id="15" name="Group 14" descr="Image of the shared bipartitions circled in the third row.">
            <a:extLst>
              <a:ext uri="{FF2B5EF4-FFF2-40B4-BE49-F238E27FC236}">
                <a16:creationId xmlns:a16="http://schemas.microsoft.com/office/drawing/2014/main" id="{C4338D29-1777-9DDA-5BDE-6157CD8325E8}"/>
              </a:ext>
            </a:extLst>
          </p:cNvPr>
          <p:cNvGrpSpPr/>
          <p:nvPr/>
        </p:nvGrpSpPr>
        <p:grpSpPr>
          <a:xfrm>
            <a:off x="282575" y="1387475"/>
            <a:ext cx="8250555" cy="5410835"/>
            <a:chOff x="282575" y="1387475"/>
            <a:chExt cx="8250555" cy="5410835"/>
          </a:xfrm>
        </p:grpSpPr>
        <p:pic>
          <p:nvPicPr>
            <p:cNvPr id="7" name="Content Placeholder 3">
              <a:extLst>
                <a:ext uri="{FF2B5EF4-FFF2-40B4-BE49-F238E27FC236}">
                  <a16:creationId xmlns:a16="http://schemas.microsoft.com/office/drawing/2014/main" id="{1F3C3487-9E76-CD86-F4CF-1B2658A30C62}"/>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a:extLst>
                <a:ext uri="{FF2B5EF4-FFF2-40B4-BE49-F238E27FC236}">
                  <a16:creationId xmlns:a16="http://schemas.microsoft.com/office/drawing/2014/main" id="{37B10CDE-AC52-B15B-0D79-F44D8EED853E}"/>
                </a:ext>
              </a:extLst>
            </p:cNvPr>
            <p:cNvSpPr/>
            <p:nvPr/>
          </p:nvSpPr>
          <p:spPr>
            <a:xfrm>
              <a:off x="1151255" y="382778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42501724-27E2-EFE7-F701-FA1FD70B1551}"/>
                </a:ext>
              </a:extLst>
            </p:cNvPr>
            <p:cNvSpPr/>
            <p:nvPr/>
          </p:nvSpPr>
          <p:spPr>
            <a:xfrm>
              <a:off x="2974975" y="382968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A09EEBDB-717A-9C8B-F482-3A10589CCDB6}"/>
                </a:ext>
              </a:extLst>
            </p:cNvPr>
            <p:cNvSpPr/>
            <p:nvPr/>
          </p:nvSpPr>
          <p:spPr>
            <a:xfrm>
              <a:off x="4850130" y="382968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5952B262-2405-C46D-B3ED-1527549FC8D6}"/>
                </a:ext>
              </a:extLst>
            </p:cNvPr>
            <p:cNvSpPr/>
            <p:nvPr/>
          </p:nvSpPr>
          <p:spPr>
            <a:xfrm>
              <a:off x="6707505" y="381825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40666"/>
            <a:ext cx="7886712" cy="1325565"/>
          </a:xfrm>
        </p:spPr>
        <p:txBody>
          <a:bodyPr/>
          <a:lstStyle/>
          <a:p>
            <a:r>
              <a:rPr lang="x-none" altLang="en-US">
                <a:latin typeface="Arial"/>
                <a:cs typeface="Arial"/>
              </a:rPr>
              <a:t>4th row shared bipartition</a:t>
            </a:r>
            <a:endParaRPr lang="x-none" altLang="en-US" dirty="0">
              <a:cs typeface="Arial"/>
            </a:endParaRPr>
          </a:p>
        </p:txBody>
      </p:sp>
      <p:sp>
        <p:nvSpPr>
          <p:cNvPr id="6" name="Content Placeholder 5">
            <a:extLst>
              <a:ext uri="{FF2B5EF4-FFF2-40B4-BE49-F238E27FC236}">
                <a16:creationId xmlns:a16="http://schemas.microsoft.com/office/drawing/2014/main" id="{9DBD0C20-64D5-A67A-8146-F223CB939BD2}"/>
              </a:ext>
            </a:extLst>
          </p:cNvPr>
          <p:cNvSpPr>
            <a:spLocks noGrp="1"/>
          </p:cNvSpPr>
          <p:nvPr>
            <p:ph idx="1"/>
          </p:nvPr>
        </p:nvSpPr>
        <p:spPr/>
        <p:txBody>
          <a:bodyPr/>
          <a:lstStyle/>
          <a:p>
            <a:endParaRPr lang="en-US"/>
          </a:p>
        </p:txBody>
      </p:sp>
      <p:grpSp>
        <p:nvGrpSpPr>
          <p:cNvPr id="15" name="Group 14" descr="Image of the shared bipartition circled in the fourth row.">
            <a:extLst>
              <a:ext uri="{FF2B5EF4-FFF2-40B4-BE49-F238E27FC236}">
                <a16:creationId xmlns:a16="http://schemas.microsoft.com/office/drawing/2014/main" id="{04AA0FC9-BBA9-F4E7-1B42-593797FCF9F2}"/>
              </a:ext>
            </a:extLst>
          </p:cNvPr>
          <p:cNvGrpSpPr/>
          <p:nvPr/>
        </p:nvGrpSpPr>
        <p:grpSpPr>
          <a:xfrm>
            <a:off x="282575" y="1387475"/>
            <a:ext cx="8250555" cy="5410835"/>
            <a:chOff x="282575" y="1387475"/>
            <a:chExt cx="8250555" cy="5410835"/>
          </a:xfrm>
        </p:grpSpPr>
        <p:pic>
          <p:nvPicPr>
            <p:cNvPr id="7" name="Content Placeholder 3">
              <a:extLst>
                <a:ext uri="{FF2B5EF4-FFF2-40B4-BE49-F238E27FC236}">
                  <a16:creationId xmlns:a16="http://schemas.microsoft.com/office/drawing/2014/main" id="{9CFD2E45-C021-3F9C-2F73-02AD01C07350}"/>
                </a:ext>
              </a:extLst>
            </p:cNvPr>
            <p:cNvPicPr>
              <a:picLocks noGrp="1" noChangeAspect="1"/>
            </p:cNvPicPr>
            <p:nvPr/>
          </p:nvPicPr>
          <p:blipFill>
            <a:blip r:embed="rId2"/>
            <a:srcRect t="19347"/>
            <a:stretch>
              <a:fillRect/>
            </a:stretch>
          </p:blipFill>
          <p:spPr>
            <a:xfrm>
              <a:off x="282575" y="1387475"/>
              <a:ext cx="8250555" cy="5410835"/>
            </a:xfrm>
            <a:prstGeom prst="rect">
              <a:avLst/>
            </a:prstGeom>
          </p:spPr>
        </p:pic>
        <p:sp>
          <p:nvSpPr>
            <p:cNvPr id="11" name="Oval 10">
              <a:extLst>
                <a:ext uri="{FF2B5EF4-FFF2-40B4-BE49-F238E27FC236}">
                  <a16:creationId xmlns:a16="http://schemas.microsoft.com/office/drawing/2014/main" id="{4171A01A-1073-A046-7433-B30E957F4F93}"/>
                </a:ext>
              </a:extLst>
            </p:cNvPr>
            <p:cNvSpPr/>
            <p:nvPr/>
          </p:nvSpPr>
          <p:spPr>
            <a:xfrm>
              <a:off x="1144905" y="493522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C662B22C-01D4-4FA7-F754-2E094B9A08CE}"/>
                </a:ext>
              </a:extLst>
            </p:cNvPr>
            <p:cNvSpPr/>
            <p:nvPr/>
          </p:nvSpPr>
          <p:spPr>
            <a:xfrm>
              <a:off x="3034665" y="492442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AB31E328-DDA1-DE7B-B78D-D509E310E28E}"/>
                </a:ext>
              </a:extLst>
            </p:cNvPr>
            <p:cNvSpPr/>
            <p:nvPr/>
          </p:nvSpPr>
          <p:spPr>
            <a:xfrm>
              <a:off x="4838065" y="4942840"/>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2BD8AF6E-BB45-5F89-5486-0B6673AF8637}"/>
                </a:ext>
              </a:extLst>
            </p:cNvPr>
            <p:cNvSpPr/>
            <p:nvPr/>
          </p:nvSpPr>
          <p:spPr>
            <a:xfrm>
              <a:off x="6695440" y="4937125"/>
              <a:ext cx="732155" cy="904875"/>
            </a:xfrm>
            <a:prstGeom prst="ellipse">
              <a:avLst/>
            </a:prstGeom>
            <a:noFill/>
            <a:ln>
              <a:solidFill>
                <a:srgbClr val="FF0000"/>
              </a:solidFill>
            </a:ln>
            <a:extLst>
              <a:ext uri="{909E8E84-426E-40DD-AFC4-6F175D3DCCD1}">
                <a14:hiddenFill xmlns:a14="http://schemas.microsoft.com/office/drawing/2010/main">
                  <a:solidFill>
                    <a:schemeClr val="bg1">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957A-8B4F-03B3-F611-46FC7BA17DA2}"/>
              </a:ext>
            </a:extLst>
          </p:cNvPr>
          <p:cNvSpPr>
            <a:spLocks noGrp="1"/>
          </p:cNvSpPr>
          <p:nvPr>
            <p:ph type="title"/>
          </p:nvPr>
        </p:nvSpPr>
        <p:spPr>
          <a:xfrm>
            <a:off x="89428" y="581"/>
            <a:ext cx="9048698" cy="1325565"/>
          </a:xfrm>
        </p:spPr>
        <p:txBody>
          <a:bodyPr>
            <a:normAutofit/>
          </a:bodyPr>
          <a:lstStyle/>
          <a:p>
            <a:r>
              <a:rPr lang="en-US" sz="3200" dirty="0">
                <a:latin typeface="Arial"/>
                <a:cs typeface="Arial"/>
              </a:rPr>
              <a:t>Redundant calculations enable </a:t>
            </a:r>
            <a:r>
              <a:rPr lang="en-US" sz="3200">
                <a:latin typeface="Arial"/>
                <a:cs typeface="Arial"/>
              </a:rPr>
              <a:t>efficient algorithm</a:t>
            </a:r>
            <a:endParaRPr lang="en-US" sz="3200" dirty="0">
              <a:cs typeface="Arial"/>
            </a:endParaRPr>
          </a:p>
        </p:txBody>
      </p:sp>
      <p:grpSp>
        <p:nvGrpSpPr>
          <p:cNvPr id="4" name="Group 3" descr="Felsenstein's pruning algorithm worked for a tree with six tips and 3 possible character states. Each node and tip is represented by three boxes. The tip states are clamped with probability 1 to the box corresponding to the observed state. ">
            <a:extLst>
              <a:ext uri="{FF2B5EF4-FFF2-40B4-BE49-F238E27FC236}">
                <a16:creationId xmlns:a16="http://schemas.microsoft.com/office/drawing/2014/main" id="{BEC7C199-C5EE-1822-F6A6-F16F8174B625}"/>
              </a:ext>
            </a:extLst>
          </p:cNvPr>
          <p:cNvGrpSpPr/>
          <p:nvPr/>
        </p:nvGrpSpPr>
        <p:grpSpPr>
          <a:xfrm>
            <a:off x="111227" y="1117153"/>
            <a:ext cx="8695690" cy="5910580"/>
            <a:chOff x="141605" y="220980"/>
            <a:chExt cx="8695690" cy="5910580"/>
          </a:xfrm>
        </p:grpSpPr>
        <p:pic>
          <p:nvPicPr>
            <p:cNvPr id="5" name="Content Placeholder 3">
              <a:extLst>
                <a:ext uri="{FF2B5EF4-FFF2-40B4-BE49-F238E27FC236}">
                  <a16:creationId xmlns:a16="http://schemas.microsoft.com/office/drawing/2014/main" id="{53E59C3D-1452-5366-2650-17668853F41E}"/>
                </a:ext>
              </a:extLst>
            </p:cNvPr>
            <p:cNvPicPr>
              <a:picLocks noGrp="1" noChangeAspect="1"/>
            </p:cNvPicPr>
            <p:nvPr/>
          </p:nvPicPr>
          <p:blipFill>
            <a:blip r:embed="rId2"/>
            <a:stretch>
              <a:fillRect/>
            </a:stretch>
          </p:blipFill>
          <p:spPr>
            <a:xfrm>
              <a:off x="141605" y="220980"/>
              <a:ext cx="8677910" cy="5910580"/>
            </a:xfrm>
            <a:prstGeom prst="rect">
              <a:avLst/>
            </a:prstGeom>
          </p:spPr>
        </p:pic>
        <p:sp>
          <p:nvSpPr>
            <p:cNvPr id="6" name="Text Box 4">
              <a:extLst>
                <a:ext uri="{FF2B5EF4-FFF2-40B4-BE49-F238E27FC236}">
                  <a16:creationId xmlns:a16="http://schemas.microsoft.com/office/drawing/2014/main" id="{AA151CA2-E0BC-A446-DA75-AF6EFC797BDE}"/>
                </a:ext>
              </a:extLst>
            </p:cNvPr>
            <p:cNvSpPr txBox="1"/>
            <p:nvPr/>
          </p:nvSpPr>
          <p:spPr>
            <a:xfrm>
              <a:off x="2135505" y="110680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1    0    0</a:t>
              </a:r>
            </a:p>
          </p:txBody>
        </p:sp>
        <p:sp>
          <p:nvSpPr>
            <p:cNvPr id="7" name="Text Box 5">
              <a:extLst>
                <a:ext uri="{FF2B5EF4-FFF2-40B4-BE49-F238E27FC236}">
                  <a16:creationId xmlns:a16="http://schemas.microsoft.com/office/drawing/2014/main" id="{BA857EFF-B270-7E77-B5F9-A13DEDCDE60B}"/>
                </a:ext>
              </a:extLst>
            </p:cNvPr>
            <p:cNvSpPr txBox="1"/>
            <p:nvPr/>
          </p:nvSpPr>
          <p:spPr>
            <a:xfrm>
              <a:off x="3279775" y="110807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0    1    0</a:t>
              </a:r>
            </a:p>
          </p:txBody>
        </p:sp>
        <p:sp>
          <p:nvSpPr>
            <p:cNvPr id="8" name="Text Box 6">
              <a:extLst>
                <a:ext uri="{FF2B5EF4-FFF2-40B4-BE49-F238E27FC236}">
                  <a16:creationId xmlns:a16="http://schemas.microsoft.com/office/drawing/2014/main" id="{EDE8EDC8-B531-E03F-2E11-F12505749199}"/>
                </a:ext>
              </a:extLst>
            </p:cNvPr>
            <p:cNvSpPr txBox="1"/>
            <p:nvPr/>
          </p:nvSpPr>
          <p:spPr>
            <a:xfrm>
              <a:off x="4418330" y="1115060"/>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1    0    0</a:t>
              </a:r>
            </a:p>
          </p:txBody>
        </p:sp>
        <p:sp>
          <p:nvSpPr>
            <p:cNvPr id="9" name="Text Box 7">
              <a:extLst>
                <a:ext uri="{FF2B5EF4-FFF2-40B4-BE49-F238E27FC236}">
                  <a16:creationId xmlns:a16="http://schemas.microsoft.com/office/drawing/2014/main" id="{60C0A69A-3640-FE6D-D54A-13CE2ABFA4BF}"/>
                </a:ext>
              </a:extLst>
            </p:cNvPr>
            <p:cNvSpPr txBox="1"/>
            <p:nvPr/>
          </p:nvSpPr>
          <p:spPr>
            <a:xfrm>
              <a:off x="5519420" y="111061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sp>
          <p:nvSpPr>
            <p:cNvPr id="10" name="Text Box 8">
              <a:extLst>
                <a:ext uri="{FF2B5EF4-FFF2-40B4-BE49-F238E27FC236}">
                  <a16:creationId xmlns:a16="http://schemas.microsoft.com/office/drawing/2014/main" id="{14B5A2E1-FCF3-5A8B-C470-5E5F45A103E8}"/>
                </a:ext>
              </a:extLst>
            </p:cNvPr>
            <p:cNvSpPr txBox="1"/>
            <p:nvPr/>
          </p:nvSpPr>
          <p:spPr>
            <a:xfrm>
              <a:off x="6709410" y="1106170"/>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sp>
          <p:nvSpPr>
            <p:cNvPr id="11" name="Text Box 9">
              <a:extLst>
                <a:ext uri="{FF2B5EF4-FFF2-40B4-BE49-F238E27FC236}">
                  <a16:creationId xmlns:a16="http://schemas.microsoft.com/office/drawing/2014/main" id="{C9EBDE89-D2F5-9216-9069-84EE35D2D9CF}"/>
                </a:ext>
              </a:extLst>
            </p:cNvPr>
            <p:cNvSpPr txBox="1"/>
            <p:nvPr/>
          </p:nvSpPr>
          <p:spPr>
            <a:xfrm>
              <a:off x="7819390" y="111315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grpSp>
    </p:spTree>
    <p:extLst>
      <p:ext uri="{BB962C8B-B14F-4D97-AF65-F5344CB8AC3E}">
        <p14:creationId xmlns:p14="http://schemas.microsoft.com/office/powerpoint/2010/main" val="37406380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D608-529D-53F9-0873-DC4CA53DD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86794-1269-3279-B1B4-924214487AA0}"/>
              </a:ext>
            </a:extLst>
          </p:cNvPr>
          <p:cNvSpPr>
            <a:spLocks noGrp="1"/>
          </p:cNvSpPr>
          <p:nvPr>
            <p:ph type="title"/>
          </p:nvPr>
        </p:nvSpPr>
        <p:spPr>
          <a:xfrm>
            <a:off x="89428" y="581"/>
            <a:ext cx="9048698" cy="1325565"/>
          </a:xfrm>
        </p:spPr>
        <p:txBody>
          <a:bodyPr>
            <a:normAutofit/>
          </a:bodyPr>
          <a:lstStyle/>
          <a:p>
            <a:r>
              <a:rPr lang="en-US" sz="3200">
                <a:latin typeface="Arial"/>
                <a:cs typeface="Arial"/>
              </a:rPr>
              <a:t>Traverse the nodes filling in likelihoods</a:t>
            </a:r>
            <a:endParaRPr lang="en-US" sz="3200">
              <a:cs typeface="Arial"/>
            </a:endParaRPr>
          </a:p>
        </p:txBody>
      </p:sp>
      <p:grpSp>
        <p:nvGrpSpPr>
          <p:cNvPr id="13" name="Group 12" descr="Same phylogeny as the previous slide, but with the first node filled in by calculating the probability of each ancestor using the AND rule for each descendant branch. Each box is filled with its probability of state 0, state 1 and state 2 given the descendant species A and B in states 0 and 1. ">
            <a:extLst>
              <a:ext uri="{FF2B5EF4-FFF2-40B4-BE49-F238E27FC236}">
                <a16:creationId xmlns:a16="http://schemas.microsoft.com/office/drawing/2014/main" id="{4190A8CF-8C8F-067D-04C7-7777ABE322E4}"/>
              </a:ext>
            </a:extLst>
          </p:cNvPr>
          <p:cNvGrpSpPr/>
          <p:nvPr/>
        </p:nvGrpSpPr>
        <p:grpSpPr>
          <a:xfrm>
            <a:off x="214961" y="896907"/>
            <a:ext cx="8713470" cy="5910580"/>
            <a:chOff x="123825" y="220980"/>
            <a:chExt cx="8713470" cy="5910580"/>
          </a:xfrm>
        </p:grpSpPr>
        <p:pic>
          <p:nvPicPr>
            <p:cNvPr id="14" name="Content Placeholder 3">
              <a:extLst>
                <a:ext uri="{FF2B5EF4-FFF2-40B4-BE49-F238E27FC236}">
                  <a16:creationId xmlns:a16="http://schemas.microsoft.com/office/drawing/2014/main" id="{496D3D9A-8529-B6DB-2BA9-78CC4D218EAA}"/>
                </a:ext>
              </a:extLst>
            </p:cNvPr>
            <p:cNvPicPr>
              <a:picLocks noGrp="1" noChangeAspect="1"/>
            </p:cNvPicPr>
            <p:nvPr/>
          </p:nvPicPr>
          <p:blipFill>
            <a:blip r:embed="rId2"/>
            <a:stretch>
              <a:fillRect/>
            </a:stretch>
          </p:blipFill>
          <p:spPr>
            <a:xfrm>
              <a:off x="123825" y="220980"/>
              <a:ext cx="8677910" cy="5910580"/>
            </a:xfrm>
            <a:prstGeom prst="rect">
              <a:avLst/>
            </a:prstGeom>
          </p:spPr>
        </p:pic>
        <p:sp>
          <p:nvSpPr>
            <p:cNvPr id="15" name="Text Box 4">
              <a:extLst>
                <a:ext uri="{FF2B5EF4-FFF2-40B4-BE49-F238E27FC236}">
                  <a16:creationId xmlns:a16="http://schemas.microsoft.com/office/drawing/2014/main" id="{58B70849-19F2-0BCB-95F5-68BF767B0740}"/>
                </a:ext>
              </a:extLst>
            </p:cNvPr>
            <p:cNvSpPr txBox="1"/>
            <p:nvPr/>
          </p:nvSpPr>
          <p:spPr>
            <a:xfrm>
              <a:off x="2135505" y="110680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1    0    0</a:t>
              </a:r>
            </a:p>
          </p:txBody>
        </p:sp>
        <p:sp>
          <p:nvSpPr>
            <p:cNvPr id="16" name="Text Box 5">
              <a:extLst>
                <a:ext uri="{FF2B5EF4-FFF2-40B4-BE49-F238E27FC236}">
                  <a16:creationId xmlns:a16="http://schemas.microsoft.com/office/drawing/2014/main" id="{F9F91EA3-8872-1DE3-638C-BFDA5E6D3EB8}"/>
                </a:ext>
              </a:extLst>
            </p:cNvPr>
            <p:cNvSpPr txBox="1"/>
            <p:nvPr/>
          </p:nvSpPr>
          <p:spPr>
            <a:xfrm>
              <a:off x="3279775" y="110807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0    1    0</a:t>
              </a:r>
            </a:p>
          </p:txBody>
        </p:sp>
        <p:sp>
          <p:nvSpPr>
            <p:cNvPr id="17" name="Text Box 6">
              <a:extLst>
                <a:ext uri="{FF2B5EF4-FFF2-40B4-BE49-F238E27FC236}">
                  <a16:creationId xmlns:a16="http://schemas.microsoft.com/office/drawing/2014/main" id="{A575AE8D-5382-6768-E14F-46741C14B2AF}"/>
                </a:ext>
              </a:extLst>
            </p:cNvPr>
            <p:cNvSpPr txBox="1"/>
            <p:nvPr/>
          </p:nvSpPr>
          <p:spPr>
            <a:xfrm>
              <a:off x="4418330" y="1115060"/>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1    0    0</a:t>
              </a:r>
            </a:p>
          </p:txBody>
        </p:sp>
        <p:sp>
          <p:nvSpPr>
            <p:cNvPr id="18" name="Text Box 7">
              <a:extLst>
                <a:ext uri="{FF2B5EF4-FFF2-40B4-BE49-F238E27FC236}">
                  <a16:creationId xmlns:a16="http://schemas.microsoft.com/office/drawing/2014/main" id="{C6DDB87F-5FF9-4AEE-D998-75B0DD253560}"/>
                </a:ext>
              </a:extLst>
            </p:cNvPr>
            <p:cNvSpPr txBox="1"/>
            <p:nvPr/>
          </p:nvSpPr>
          <p:spPr>
            <a:xfrm>
              <a:off x="5519420" y="111061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sp>
          <p:nvSpPr>
            <p:cNvPr id="19" name="Text Box 8">
              <a:extLst>
                <a:ext uri="{FF2B5EF4-FFF2-40B4-BE49-F238E27FC236}">
                  <a16:creationId xmlns:a16="http://schemas.microsoft.com/office/drawing/2014/main" id="{A20E18FD-1A48-BC43-F0D7-1B3AF3A2D20E}"/>
                </a:ext>
              </a:extLst>
            </p:cNvPr>
            <p:cNvSpPr txBox="1"/>
            <p:nvPr/>
          </p:nvSpPr>
          <p:spPr>
            <a:xfrm>
              <a:off x="6709410" y="1106170"/>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sp>
          <p:nvSpPr>
            <p:cNvPr id="20" name="Text Box 9">
              <a:extLst>
                <a:ext uri="{FF2B5EF4-FFF2-40B4-BE49-F238E27FC236}">
                  <a16:creationId xmlns:a16="http://schemas.microsoft.com/office/drawing/2014/main" id="{A8841918-05D3-ED88-0B1E-63D4D43378D6}"/>
                </a:ext>
              </a:extLst>
            </p:cNvPr>
            <p:cNvSpPr txBox="1"/>
            <p:nvPr/>
          </p:nvSpPr>
          <p:spPr>
            <a:xfrm>
              <a:off x="7819390" y="1113155"/>
              <a:ext cx="1017905" cy="304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400">
                  <a:latin typeface="Arial" panose="020B0604020202020204" pitchFamily="34" charset="0"/>
                </a:rPr>
                <a:t>0    0    1</a:t>
              </a:r>
            </a:p>
          </p:txBody>
        </p:sp>
        <p:sp>
          <p:nvSpPr>
            <p:cNvPr id="21" name="Text Box 10">
              <a:extLst>
                <a:ext uri="{FF2B5EF4-FFF2-40B4-BE49-F238E27FC236}">
                  <a16:creationId xmlns:a16="http://schemas.microsoft.com/office/drawing/2014/main" id="{C57167A2-3F8D-CC81-771C-A9CE25B38F24}"/>
                </a:ext>
              </a:extLst>
            </p:cNvPr>
            <p:cNvSpPr txBox="1"/>
            <p:nvPr/>
          </p:nvSpPr>
          <p:spPr>
            <a:xfrm>
              <a:off x="2626360" y="2477770"/>
              <a:ext cx="1017905" cy="245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1000">
                  <a:latin typeface="Ubuntu" charset="0"/>
                  <a:cs typeface="Ubuntu" charset="0"/>
                </a:rPr>
                <a:t>0.12  0.12  0.1</a:t>
              </a:r>
              <a:endParaRPr lang="en-US" altLang="x-none" sz="1000">
                <a:latin typeface="Ubuntu" charset="0"/>
                <a:cs typeface="Ubuntu" charset="0"/>
              </a:endParaRPr>
            </a:p>
          </p:txBody>
        </p:sp>
      </p:grpSp>
    </p:spTree>
    <p:extLst>
      <p:ext uri="{BB962C8B-B14F-4D97-AF65-F5344CB8AC3E}">
        <p14:creationId xmlns:p14="http://schemas.microsoft.com/office/powerpoint/2010/main" val="37475200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C6E8-2D8A-92AF-7AAE-F9C290299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FC3E9-1D19-2F0D-8D83-57F9B610284D}"/>
              </a:ext>
            </a:extLst>
          </p:cNvPr>
          <p:cNvSpPr>
            <a:spLocks noGrp="1"/>
          </p:cNvSpPr>
          <p:nvPr>
            <p:ph type="title"/>
          </p:nvPr>
        </p:nvSpPr>
        <p:spPr>
          <a:xfrm>
            <a:off x="89428" y="581"/>
            <a:ext cx="9048698" cy="1325565"/>
          </a:xfrm>
        </p:spPr>
        <p:txBody>
          <a:bodyPr>
            <a:normAutofit/>
          </a:bodyPr>
          <a:lstStyle/>
          <a:p>
            <a:r>
              <a:rPr lang="en-US" sz="3200">
                <a:latin typeface="Arial"/>
                <a:cs typeface="Arial"/>
              </a:rPr>
              <a:t>Traverse the nodes filling in likelihoods</a:t>
            </a:r>
            <a:endParaRPr lang="en-US" sz="3200">
              <a:cs typeface="Arial"/>
            </a:endParaRPr>
          </a:p>
        </p:txBody>
      </p:sp>
      <p:pic>
        <p:nvPicPr>
          <p:cNvPr id="3" name="Picture 2" descr="Same tree as before but with every node filled in with their likelihoods. The total likelihood of the data over all possible histories is simply the sum of the three values in the three boxes at the root of the tree.">
            <a:extLst>
              <a:ext uri="{FF2B5EF4-FFF2-40B4-BE49-F238E27FC236}">
                <a16:creationId xmlns:a16="http://schemas.microsoft.com/office/drawing/2014/main" id="{312701B6-F5FA-E07E-F4A5-8FBC2DC97EA3}"/>
              </a:ext>
            </a:extLst>
          </p:cNvPr>
          <p:cNvPicPr>
            <a:picLocks noChangeAspect="1"/>
          </p:cNvPicPr>
          <p:nvPr/>
        </p:nvPicPr>
        <p:blipFill>
          <a:blip r:embed="rId2"/>
          <a:srcRect/>
          <a:stretch>
            <a:fillRect/>
          </a:stretch>
        </p:blipFill>
        <p:spPr>
          <a:xfrm>
            <a:off x="93130" y="1168996"/>
            <a:ext cx="9048876" cy="5795915"/>
          </a:xfrm>
          <a:prstGeom prst="rect">
            <a:avLst/>
          </a:prstGeom>
        </p:spPr>
      </p:pic>
    </p:spTree>
    <p:extLst>
      <p:ext uri="{BB962C8B-B14F-4D97-AF65-F5344CB8AC3E}">
        <p14:creationId xmlns:p14="http://schemas.microsoft.com/office/powerpoint/2010/main" val="67865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5680</Words>
  <Application>Microsoft Office PowerPoint</Application>
  <PresentationFormat>On-screen Show (4:3)</PresentationFormat>
  <Paragraphs>516</Paragraphs>
  <Slides>62</Slides>
  <Notes>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Practical considerations   </vt:lpstr>
      <vt:lpstr>Finding the best tree:  Exhaustive searches</vt:lpstr>
      <vt:lpstr>Heuristic searches</vt:lpstr>
      <vt:lpstr>Tree space</vt:lpstr>
      <vt:lpstr>Visualizing tree space</vt:lpstr>
      <vt:lpstr>Finding the shortest tree in treespace</vt:lpstr>
      <vt:lpstr>Tree space connectivity is defined by "moves"</vt:lpstr>
      <vt:lpstr>Distance between tree spaces changes depending on which moves you use</vt:lpstr>
      <vt:lpstr>Navigating tree space</vt:lpstr>
      <vt:lpstr>Parsimony has an exact algorithm</vt:lpstr>
      <vt:lpstr>Branch and bound</vt:lpstr>
      <vt:lpstr>Felsenstein and the birth of statistical phylogenetics</vt:lpstr>
      <vt:lpstr>Joe Felsenstein</vt:lpstr>
      <vt:lpstr>Disclaimer: Heavily borrowed material from Paul Lewis (UConn)</vt:lpstr>
      <vt:lpstr>If two DNA sequences are unrelated, what percent of bases (aligned sites) do you expect to be identical?</vt:lpstr>
      <vt:lpstr>Why do we need statistics and probability?</vt:lpstr>
      <vt:lpstr>Long branch attraction</vt:lpstr>
      <vt:lpstr>Conditional probabilities </vt:lpstr>
      <vt:lpstr>How do we treat trees probabilistically?</vt:lpstr>
      <vt:lpstr>Generating data on a tree</vt:lpstr>
      <vt:lpstr>Initialize root</vt:lpstr>
      <vt:lpstr>Step 1</vt:lpstr>
      <vt:lpstr>Step 2</vt:lpstr>
      <vt:lpstr>Step 3 and 4</vt:lpstr>
      <vt:lpstr>Step 5</vt:lpstr>
      <vt:lpstr>Step 6</vt:lpstr>
      <vt:lpstr>Step 7-10</vt:lpstr>
      <vt:lpstr>Combining probabilities:  The AND rule</vt:lpstr>
      <vt:lpstr>Combining probabilities:  Calculating a likelihood</vt:lpstr>
      <vt:lpstr>Combining probabilities:  The Likelihood under an alternative topology</vt:lpstr>
      <vt:lpstr>Node states are usually unknown</vt:lpstr>
      <vt:lpstr>Combining probabilities:  The OR rule</vt:lpstr>
      <vt:lpstr>Combining probabilities:  Calculate likelihood of another possible history</vt:lpstr>
      <vt:lpstr>Combining probabilities:  Yet another history under the same tree</vt:lpstr>
      <vt:lpstr>Calculating likelihoods over all possible histories </vt:lpstr>
      <vt:lpstr>Biology will want continuous time</vt:lpstr>
      <vt:lpstr>Continuous-time Markov Models</vt:lpstr>
      <vt:lpstr>Our model of change depends on time: must have branch lengths</vt:lpstr>
      <vt:lpstr>Probabilities are dependent on time</vt:lpstr>
      <vt:lpstr>Event probabilities</vt:lpstr>
      <vt:lpstr>CTMC on a (very) simple phylogeny...</vt:lpstr>
      <vt:lpstr>Staying the same</vt:lpstr>
      <vt:lpstr>A substitution</vt:lpstr>
      <vt:lpstr>Another possible substitution</vt:lpstr>
      <vt:lpstr>The last possible substitution</vt:lpstr>
      <vt:lpstr>Substitutions vs. "events"  </vt:lpstr>
      <vt:lpstr>Putting all four possible events together</vt:lpstr>
      <vt:lpstr>Sanity check: do they all add to one?</vt:lpstr>
      <vt:lpstr>Likelihood of an unrooted tree</vt:lpstr>
      <vt:lpstr>Calculating the likelihood of a single history and site</vt:lpstr>
      <vt:lpstr>All possible node histories by brute force</vt:lpstr>
      <vt:lpstr>Felsenstein '81 pruning algorithm. Repeated patterns in possible ancestries</vt:lpstr>
      <vt:lpstr>This repetition repeats for each set of 4 trees</vt:lpstr>
      <vt:lpstr>And it repeats again</vt:lpstr>
      <vt:lpstr>And for the last four</vt:lpstr>
      <vt:lpstr>And shared bipartitions across rows</vt:lpstr>
      <vt:lpstr>2nd row shared bipartition</vt:lpstr>
      <vt:lpstr>3rd row shared bipartition</vt:lpstr>
      <vt:lpstr>4th row shared bipartition</vt:lpstr>
      <vt:lpstr>Redundant calculations enable efficient algorithm</vt:lpstr>
      <vt:lpstr>Traverse the nodes filling in likelihoods</vt:lpstr>
      <vt:lpstr>Traverse the nodes filling in likelihoods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Macroevolution &amp; Phylogenetics</dc:title>
  <dc:creator>juyeda</dc:creator>
  <cp:lastModifiedBy>juyeda</cp:lastModifiedBy>
  <cp:revision>600</cp:revision>
  <dcterms:created xsi:type="dcterms:W3CDTF">2024-09-05T01:43:52Z</dcterms:created>
  <dcterms:modified xsi:type="dcterms:W3CDTF">2026-08-31T20:51:49Z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1033-11.1.0.11720</vt:lpwstr>
  </property>
  <property fmtid="{D5CDD505-2E9C-101B-9397-08002B2CF9AE}" pid="3" name="ICV">
    <vt:lpwstr/>
  </property>
</Properties>
</file>