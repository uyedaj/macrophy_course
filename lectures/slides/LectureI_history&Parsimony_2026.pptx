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wdp" ContentType="image/vnd.ms-photo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53"/>
  </p:handoutMasterIdLst>
  <p:sldIdLst>
    <p:sldId id="464" r:id="rId3"/>
    <p:sldId id="257" r:id="rId4"/>
    <p:sldId id="465" r:id="rId5"/>
    <p:sldId id="466" r:id="rId6"/>
    <p:sldId id="467" r:id="rId7"/>
    <p:sldId id="468" r:id="rId8"/>
    <p:sldId id="470" r:id="rId9"/>
    <p:sldId id="471" r:id="rId10"/>
    <p:sldId id="472" r:id="rId11"/>
    <p:sldId id="473" r:id="rId12"/>
    <p:sldId id="474" r:id="rId13"/>
    <p:sldId id="475" r:id="rId14"/>
    <p:sldId id="476" r:id="rId15"/>
    <p:sldId id="477" r:id="rId16"/>
    <p:sldId id="478" r:id="rId17"/>
    <p:sldId id="479" r:id="rId18"/>
    <p:sldId id="480" r:id="rId19"/>
    <p:sldId id="481" r:id="rId20"/>
    <p:sldId id="482" r:id="rId21"/>
    <p:sldId id="483" r:id="rId22"/>
    <p:sldId id="485" r:id="rId23"/>
    <p:sldId id="484" r:id="rId24"/>
    <p:sldId id="486" r:id="rId25"/>
    <p:sldId id="487" r:id="rId26"/>
    <p:sldId id="488" r:id="rId27"/>
    <p:sldId id="260" r:id="rId28"/>
    <p:sldId id="489" r:id="rId29"/>
    <p:sldId id="490" r:id="rId30"/>
    <p:sldId id="491" r:id="rId32"/>
    <p:sldId id="493" r:id="rId33"/>
    <p:sldId id="494" r:id="rId34"/>
    <p:sldId id="495" r:id="rId35"/>
    <p:sldId id="496" r:id="rId36"/>
    <p:sldId id="497" r:id="rId37"/>
    <p:sldId id="498" r:id="rId38"/>
    <p:sldId id="499" r:id="rId39"/>
    <p:sldId id="500" r:id="rId40"/>
    <p:sldId id="501" r:id="rId41"/>
    <p:sldId id="502" r:id="rId42"/>
    <p:sldId id="503" r:id="rId43"/>
    <p:sldId id="504" r:id="rId44"/>
    <p:sldId id="505" r:id="rId45"/>
    <p:sldId id="506" r:id="rId46"/>
    <p:sldId id="507" r:id="rId47"/>
    <p:sldId id="508" r:id="rId48"/>
    <p:sldId id="509" r:id="rId49"/>
    <p:sldId id="510" r:id="rId50"/>
    <p:sldId id="511" r:id="rId51"/>
    <p:sldId id="512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yeda" initials="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7" Type="http://schemas.openxmlformats.org/officeDocument/2006/relationships/commentAuthors" Target="commentAuthors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handoutMaster" Target="handoutMasters/handoutMaster1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The figure here shows A) a protein alignment of 7 species of vertebrate (human, baboon, cow, sheep, mouse, hamster, chicken). B) A raw count of the number of amino acid substitutions for all pairwise comparisons between the same taxa arranged as a distance matrix. C) Distance-based phylogenetic inference attempts to build a phylogeny that best describes the distance matrix, with more closely related species being placed more closely together based on overall similarity. 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399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Shape 400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Shape 407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411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Shape 412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418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Shape 41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425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Shape 426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432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Shape 43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Shape 440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6017" y="1122365"/>
            <a:ext cx="6858010" cy="2387603"/>
          </a:xfrm>
        </p:spPr>
        <p:txBody>
          <a:bodyPr anchor="b"/>
          <a:lstStyle>
            <a:lvl1pPr algn="ctr">
              <a:defRPr sz="6000">
                <a:latin typeface="Ubuntu" charset="0"/>
                <a:cs typeface="Ubuntu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6017" y="3602043"/>
            <a:ext cx="6858010" cy="1655764"/>
          </a:xfrm>
        </p:spPr>
        <p:txBody>
          <a:bodyPr/>
          <a:lstStyle>
            <a:lvl1pPr marL="0" indent="0" algn="ctr">
              <a:buNone/>
              <a:defRPr sz="2400">
                <a:latin typeface="Ubuntu" charset="0"/>
                <a:cs typeface="Ubuntu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8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12" cy="285274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0"/>
            <a:ext cx="7886712" cy="150018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8"/>
            <a:ext cx="3886206" cy="43513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7" y="1825628"/>
            <a:ext cx="3886206" cy="43513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6"/>
            <a:ext cx="7886712" cy="13255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5"/>
            <a:ext cx="3868346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9"/>
            <a:ext cx="3868346" cy="3684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7" y="1681165"/>
            <a:ext cx="3887397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7" y="2505079"/>
            <a:ext cx="3887397" cy="3684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1"/>
            <a:ext cx="2949182" cy="16002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7" y="987426"/>
            <a:ext cx="4629157" cy="487363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3"/>
            <a:ext cx="2949182" cy="38115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1"/>
            <a:ext cx="2949182" cy="16002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7" y="987426"/>
            <a:ext cx="4629157" cy="48736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3"/>
            <a:ext cx="2949182" cy="38115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85" y="365126"/>
            <a:ext cx="1971678" cy="58118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34" cy="58118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/>
          <p:nvPr/>
        </p:nvSpPr>
        <p:spPr>
          <a:xfrm>
            <a:off x="0" y="6727600"/>
            <a:ext cx="9144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6"/>
            <a:ext cx="7886712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8"/>
            <a:ext cx="7886712" cy="4351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9"/>
            <a:ext cx="2057403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5" y="6356359"/>
            <a:ext cx="3086105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60" y="6356359"/>
            <a:ext cx="2057403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Ubuntu" charset="0"/>
          <a:ea typeface="+mj-ea"/>
          <a:cs typeface="Ubuntu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Ubuntu" charset="0"/>
          <a:ea typeface="+mn-ea"/>
          <a:cs typeface="Ubuntu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Ubuntu" charset="0"/>
          <a:ea typeface="+mn-ea"/>
          <a:cs typeface="Ubuntu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Ubuntu" charset="0"/>
          <a:ea typeface="+mn-ea"/>
          <a:cs typeface="Ubuntu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Ubuntu" charset="0"/>
          <a:ea typeface="+mn-ea"/>
          <a:cs typeface="Ubuntu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Ubuntu" charset="0"/>
          <a:ea typeface="+mn-ea"/>
          <a:cs typeface="Ubuntu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pollev.com/josefuyeda941" TargetMode="External"/><Relationship Id="rId1" Type="http://schemas.openxmlformats.org/officeDocument/2006/relationships/hyperlink" Target="http://www.onezoom.org/lif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18.wdp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3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0.jpeg"/><Relationship Id="rId1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ackground illustration of a circular phylogeny in space stylized like a pulsar star. 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0485" y="635"/>
            <a:ext cx="9237980" cy="68897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83583" y="-1032538"/>
            <a:ext cx="6858010" cy="2215539"/>
          </a:xfrm>
        </p:spPr>
        <p:txBody>
          <a:bodyPr/>
          <a:lstStyle/>
          <a:p>
            <a:pPr algn="r"/>
            <a:r>
              <a:rPr lang="en-US">
                <a:solidFill>
                  <a:schemeClr val="bg1"/>
                </a:solidFill>
                <a:latin typeface="Open Sans Condensed"/>
              </a:rPr>
              <a:t>Macroevolution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83583" y="1389785"/>
            <a:ext cx="6858010" cy="15410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  <a:latin typeface="Open Sans Condensed"/>
              </a:rPr>
              <a:t>Instructor: Josef Uyeda</a:t>
            </a:r>
            <a:endParaRPr lang="en-US">
              <a:solidFill>
                <a:srgbClr val="FFFFFF"/>
              </a:solidFill>
              <a:latin typeface="Open Sans Condensed"/>
            </a:endParaRPr>
          </a:p>
          <a:p>
            <a:pPr algn="r"/>
            <a:r>
              <a:rPr lang="en-US">
                <a:solidFill>
                  <a:srgbClr val="FFFFFF"/>
                </a:solidFill>
                <a:latin typeface="Open Sans Condensed"/>
              </a:rPr>
              <a:t>   juyeda@vt.edu</a:t>
            </a:r>
            <a:endParaRPr lang="en-US">
              <a:solidFill>
                <a:srgbClr val="FFFFFF"/>
              </a:solidFill>
            </a:endParaRPr>
          </a:p>
          <a:p>
            <a:pPr algn="r"/>
            <a:r>
              <a:rPr lang="en-US">
                <a:solidFill>
                  <a:srgbClr val="FFFFFF"/>
                </a:solidFill>
                <a:latin typeface="Open Sans Condensed"/>
              </a:rPr>
              <a:t>uyedalab.com</a:t>
            </a:r>
            <a:endParaRPr lang="en-US" dirty="0">
              <a:solidFill>
                <a:srgbClr val="FFFFFF"/>
              </a:solidFill>
              <a:latin typeface="Open Sans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/>
        </p:nvSpPr>
        <p:spPr>
          <a:xfrm>
            <a:off x="-314169" y="1488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x-none" altLang="en-US">
                <a:latin typeface="Ubuntu" charset="0"/>
                <a:cs typeface="Ubuntu" charset="0"/>
              </a:rPr>
              <a:t> Goals of the course:</a:t>
            </a:r>
            <a:endParaRPr lang="x-none" altLang="en-US">
              <a:latin typeface="Ubuntu" charset="0"/>
              <a:cs typeface="Ubuntu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type="title" idx="4294967295"/>
          </p:nvPr>
        </p:nvSpPr>
        <p:spPr>
          <a:xfrm>
            <a:off x="732797" y="1809755"/>
            <a:ext cx="10515600" cy="4351338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x-none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charset="0"/>
                <a:ea typeface="+mn-ea"/>
                <a:cs typeface="Ubuntu" charset="0"/>
              </a:rPr>
              <a:t>1. Learn</a:t>
            </a:r>
            <a:r>
              <a:rPr kumimoji="0" lang="en-US" altLang="x-non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charset="0"/>
                <a:ea typeface="+mn-ea"/>
                <a:cs typeface="Ubuntu" charset="0"/>
              </a:rPr>
              <a:t> the core of phylogenetic models</a:t>
            </a:r>
            <a:endParaRPr kumimoji="0" lang="en-US" altLang="x-none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Ubuntu" charset="0"/>
              <a:ea typeface="+mn-ea"/>
              <a:cs typeface="Ubuntu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x-none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charset="0"/>
                <a:ea typeface="+mn-ea"/>
                <a:cs typeface="Ubuntu" charset="0"/>
              </a:rPr>
              <a:t>2. Learn how to use trees</a:t>
            </a:r>
            <a:endParaRPr kumimoji="0" lang="x-none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Ubuntu" charset="0"/>
              <a:ea typeface="+mn-ea"/>
              <a:cs typeface="Ubuntu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x-none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charset="0"/>
                <a:ea typeface="+mn-ea"/>
                <a:cs typeface="Ubuntu" charset="0"/>
              </a:rPr>
              <a:t>3. Learn about the big questions in macroevolution</a:t>
            </a:r>
            <a:endParaRPr kumimoji="0" lang="x-none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Ubuntu" charset="0"/>
              <a:ea typeface="+mn-ea"/>
              <a:cs typeface="Ubuntu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x-none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Ubuntu" charset="0"/>
                <a:ea typeface="+mn-ea"/>
                <a:cs typeface="Ubuntu" charset="0"/>
              </a:rPr>
              <a:t>4. What are your goals? </a:t>
            </a:r>
            <a:endParaRPr kumimoji="0" lang="x-none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Ubuntu" charset="0"/>
              <a:ea typeface="+mn-ea"/>
              <a:cs typeface="Ubuntu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Ubuntu" charset="0"/>
              </a:rPr>
              <a:t>Syllabus</a:t>
            </a:r>
            <a:endParaRPr lang="en-US">
              <a:latin typeface="Ubuntu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840817"/>
            <a:ext cx="7886712" cy="43513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See Canvas Site </a:t>
            </a:r>
            <a:endParaRPr lang="en-US"/>
          </a:p>
          <a:p>
            <a:r>
              <a:rPr lang="en-US"/>
              <a:t>(Syllabus subject to change, especially schedule)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Ubuntu" charset="0"/>
              </a:rPr>
              <a:t>Introductions</a:t>
            </a:r>
            <a:endParaRPr lang="en-US" dirty="0" err="1">
              <a:latin typeface="Ubuntu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Your name, department, year, program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What topic you most want to learn about in this class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What's your best science "hot take"?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372746"/>
            <a:ext cx="7886712" cy="1325565"/>
          </a:xfrm>
        </p:spPr>
        <p:txBody>
          <a:bodyPr/>
          <a:lstStyle/>
          <a:p>
            <a:r>
              <a:rPr lang="en-US">
                <a:latin typeface="Ubuntu" charset="0"/>
              </a:rPr>
              <a:t>Why phylogeny?</a:t>
            </a:r>
            <a:endParaRPr lang="en-US">
              <a:latin typeface="Ubuntu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833248"/>
            <a:ext cx="7886712" cy="43513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What does a phylogeny represent?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hlinkClick r:id="rId1"/>
              </a:rPr>
              <a:t>OneZoom</a:t>
            </a:r>
            <a:endParaRPr lang="en-US" dirty="0"/>
          </a:p>
          <a:p>
            <a:r>
              <a:rPr lang="en-US"/>
              <a:t>We will use poll everywhere: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Permalink: </a:t>
            </a:r>
            <a:r>
              <a:rPr lang="en-US" dirty="0">
                <a:hlinkClick r:id="rId2"/>
              </a:rPr>
              <a:t>www.pollev.com/josefuyeda941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372746"/>
            <a:ext cx="7886712" cy="132556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Ubuntu" charset="0"/>
              </a:rPr>
              <a:t>How many ancestors do you have?</a:t>
            </a:r>
            <a:endParaRPr lang="en-US">
              <a:latin typeface="Ubuntu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833248"/>
            <a:ext cx="7886712" cy="43513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Consider your personal family tree (i.e. a pedigree). How many parents do you have? How many grandparents? Great grandparents? What's the formula? </a:t>
            </a:r>
            <a:endParaRPr lang="en-US" dirty="0"/>
          </a:p>
          <a:p>
            <a:r>
              <a:rPr lang="en-US"/>
              <a:t>Approximately how many ancestors do we have 25 generations ago? (25 generations for humans is ~ 400-900 years) </a:t>
            </a:r>
            <a:endParaRPr lang="en-US" dirty="0"/>
          </a:p>
          <a:p>
            <a:r>
              <a:rPr lang="en-US"/>
              <a:t>What are phylogenies? Are they a) hypotheses b) real facts that exist in nature or c) a metaphor?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55" y="85367"/>
            <a:ext cx="8520600" cy="763600"/>
          </a:xfrm>
        </p:spPr>
        <p:txBody>
          <a:bodyPr>
            <a:normAutofit fontScale="90000"/>
          </a:bodyPr>
          <a:lstStyle/>
          <a:p>
            <a:r>
              <a:rPr lang="en-US"/>
              <a:t>Consider your personal family tree</a:t>
            </a:r>
            <a:endParaRPr lang="en-US"/>
          </a:p>
        </p:txBody>
      </p:sp>
      <p:pic>
        <p:nvPicPr>
          <p:cNvPr id="4" name="Picture 3" descr="Silhouette illustration of a standing woman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9025" y="852487"/>
            <a:ext cx="1885950" cy="5153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Counting ancestors</a:t>
            </a:r>
            <a:endParaRPr lang="en-US"/>
          </a:p>
        </p:txBody>
      </p:sp>
      <p:grpSp>
        <p:nvGrpSpPr>
          <p:cNvPr id="7" name="Group 6" descr="The same standing woman, now small and in blue. Behind her are 2 parents in orange, behind them is 4 grandparents, behind them are 8 great grandparents. This continues for 9 generations behind the silhouetted woman until the number of people is wider than the page. "/>
          <p:cNvGrpSpPr/>
          <p:nvPr/>
        </p:nvGrpSpPr>
        <p:grpSpPr>
          <a:xfrm>
            <a:off x="-76200" y="1201399"/>
            <a:ext cx="9144002" cy="3388404"/>
            <a:chOff x="-76200" y="1201399"/>
            <a:chExt cx="9144002" cy="3388404"/>
          </a:xfrm>
        </p:grpSpPr>
        <p:pic>
          <p:nvPicPr>
            <p:cNvPr id="5" name="Shape 153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-76200" y="1201399"/>
              <a:ext cx="9144002" cy="33884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Shape 155" descr="A standing woman "/>
            <p:cNvPicPr preferRelativeResize="0"/>
            <p:nvPr/>
          </p:nvPicPr>
          <p:blipFill>
            <a:blip r:embed="rId2"/>
            <a:stretch>
              <a:fillRect/>
            </a:stretch>
          </p:blipFill>
          <p:spPr>
            <a:xfrm>
              <a:off x="4450800" y="3152325"/>
              <a:ext cx="282075" cy="771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Shape 156"/>
          <p:cNvSpPr txBox="1"/>
          <p:nvPr/>
        </p:nvSpPr>
        <p:spPr>
          <a:xfrm>
            <a:off x="154050" y="3569325"/>
            <a:ext cx="3414600" cy="1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Ubuntu" charset="0"/>
                <a:ea typeface="Proxima Nova"/>
                <a:cs typeface="Ubuntu" charset="0"/>
                <a:sym typeface="Proxima Nova"/>
              </a:rPr>
              <a:t>40 generations ago, you would have &gt; 1 trillion ancestors</a:t>
            </a:r>
            <a:endParaRPr sz="2000">
              <a:latin typeface="Ubuntu" charset="0"/>
              <a:ea typeface="Proxima Nova"/>
              <a:cs typeface="Ubuntu" charset="0"/>
              <a:sym typeface="Proxima Nova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Ubuntu" charset="0"/>
              <a:ea typeface="Proxima Nova"/>
              <a:cs typeface="Ubuntu" charset="0"/>
              <a:sym typeface="Proxima Nova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Ubuntu" charset="0"/>
              <a:ea typeface="Proxima Nova"/>
              <a:cs typeface="Ubuntu" charset="0"/>
              <a:sym typeface="Proxima Nova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Ubuntu" charset="0"/>
                <a:ea typeface="Proxima Nova"/>
                <a:cs typeface="Ubuntu" charset="0"/>
                <a:sym typeface="Proxima Nova"/>
              </a:rPr>
              <a:t>….2500 times the population 800 years ago</a:t>
            </a:r>
            <a:endParaRPr sz="2000">
              <a:latin typeface="Ubuntu" charset="0"/>
              <a:ea typeface="Proxima Nova"/>
              <a:cs typeface="Ubuntu" charset="0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" y="1505"/>
            <a:ext cx="8520600" cy="763600"/>
          </a:xfrm>
        </p:spPr>
        <p:txBody>
          <a:bodyPr>
            <a:normAutofit fontScale="90000"/>
          </a:bodyPr>
          <a:lstStyle/>
          <a:p>
            <a:r>
              <a:rPr lang="en-US"/>
              <a:t>What </a:t>
            </a:r>
            <a:r>
              <a:rPr lang="en-US"/>
              <a:t>does a phylogeny represent?</a:t>
            </a:r>
            <a:endParaRPr lang="en-US"/>
          </a:p>
        </p:txBody>
      </p:sp>
      <p:pic>
        <p:nvPicPr>
          <p:cNvPr id="5" name="Shape 170" descr="A phylogenetic tree with 6 species of ape. The outgroup is a silhouette of a Gibbon. The ingroup is (Orangutan, (Gorilla, (Human, (Chimp, Bonobo)))). 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043414" y="1536353"/>
            <a:ext cx="5064651" cy="4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" y="1505"/>
            <a:ext cx="8520600" cy="763600"/>
          </a:xfrm>
        </p:spPr>
        <p:txBody>
          <a:bodyPr>
            <a:noAutofit/>
          </a:bodyPr>
          <a:lstStyle/>
          <a:p>
            <a:r>
              <a:rPr lang="en-US" sz="3200"/>
              <a:t>Branches represent population ancestry</a:t>
            </a:r>
            <a:endParaRPr lang="en-US" sz="3200"/>
          </a:p>
        </p:txBody>
      </p:sp>
      <p:pic>
        <p:nvPicPr>
          <p:cNvPr id="6" name="Shape 161" descr="Animation of zooming into a branch leading to humans. A zoomed in image appears that shows silhouettes of generations of human populations with lines denoting parent-offspring ancestry. 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631825"/>
            <a:ext cx="9144000" cy="67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Shape 162" descr="Animation of zooming into a branch leading to humans. A zoomed in image appears that shows silhouettes of generations of human populations with lines denoting parent-offspring ancestry. 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918526" y="1009650"/>
            <a:ext cx="5064651" cy="4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163" descr="Animation of zooming into a branch leading to humans. A zoomed in image appears that shows silhouettes of generations of human populations with lines denoting parent-offspring ancestry. "/>
          <p:cNvSpPr/>
          <p:nvPr/>
        </p:nvSpPr>
        <p:spPr>
          <a:xfrm>
            <a:off x="4826525" y="4524525"/>
            <a:ext cx="265800" cy="204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3" y="236"/>
            <a:ext cx="8520600" cy="763600"/>
          </a:xfrm>
        </p:spPr>
        <p:txBody>
          <a:bodyPr>
            <a:normAutofit fontScale="90000"/>
          </a:bodyPr>
          <a:lstStyle/>
          <a:p>
            <a:r>
              <a:rPr lang="en-US"/>
              <a:t>What do nodes represent?</a:t>
            </a:r>
            <a:endParaRPr lang="en-US"/>
          </a:p>
        </p:txBody>
      </p:sp>
      <p:grpSp>
        <p:nvGrpSpPr>
          <p:cNvPr id="10" name="Group 9" descr="A circle is drawn around the node connecting the branch leading to humans and the branch leading to (chimpanzee, bonobo). What does this represent?"/>
          <p:cNvGrpSpPr/>
          <p:nvPr/>
        </p:nvGrpSpPr>
        <p:grpSpPr>
          <a:xfrm>
            <a:off x="1918526" y="1009650"/>
            <a:ext cx="5064651" cy="4771650"/>
            <a:chOff x="1918526" y="1009650"/>
            <a:chExt cx="5064651" cy="4771650"/>
          </a:xfrm>
        </p:grpSpPr>
        <p:pic>
          <p:nvPicPr>
            <p:cNvPr id="5" name="Shape 170" descr="A group of people in different poses&#10;&#10;AI-generated content may be incorrect.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1918526" y="1009650"/>
              <a:ext cx="5064651" cy="4771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Shape 171"/>
            <p:cNvSpPr/>
            <p:nvPr/>
          </p:nvSpPr>
          <p:spPr>
            <a:xfrm>
              <a:off x="5215100" y="3107775"/>
              <a:ext cx="910200" cy="930600"/>
            </a:xfrm>
            <a:prstGeom prst="ellipse">
              <a:avLst/>
            </a:prstGeom>
            <a:noFill/>
            <a:ln w="762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" name="Shape 172"/>
          <p:cNvSpPr txBox="1"/>
          <p:nvPr/>
        </p:nvSpPr>
        <p:spPr>
          <a:xfrm>
            <a:off x="5491200" y="2147725"/>
            <a:ext cx="5889900" cy="6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  <a:latin typeface="Ubuntu" charset="0"/>
                <a:ea typeface="Proxima Nova"/>
                <a:cs typeface="Ubuntu" charset="0"/>
                <a:sym typeface="Proxima Nova"/>
              </a:rPr>
              <a:t>What happened here?</a:t>
            </a:r>
            <a:endParaRPr lang="en-GB" sz="2400">
              <a:solidFill>
                <a:srgbClr val="434343"/>
              </a:solidFill>
              <a:latin typeface="Ubuntu" charset="0"/>
              <a:ea typeface="Proxima Nova"/>
              <a:cs typeface="Ubuntu" charset="0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" y="235"/>
            <a:ext cx="8520600" cy="763600"/>
          </a:xfrm>
        </p:spPr>
        <p:txBody>
          <a:bodyPr>
            <a:normAutofit fontScale="90000"/>
          </a:bodyPr>
          <a:lstStyle/>
          <a:p>
            <a:r>
              <a:rPr lang="en-US"/>
              <a:t>Nodes represent speciation events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hape 181" descr="A group of people in different poses&#10;&#10;AI-generated content may be incorrect."/>
          <p:cNvSpPr txBox="1"/>
          <p:nvPr/>
        </p:nvSpPr>
        <p:spPr>
          <a:xfrm>
            <a:off x="5491200" y="2147725"/>
            <a:ext cx="5889900" cy="6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What happened here?</a:t>
            </a:r>
            <a:endParaRPr sz="24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986562" y="1043667"/>
            <a:ext cx="5064651" cy="4771650"/>
            <a:chOff x="605437" y="376917"/>
            <a:chExt cx="5064651" cy="4771650"/>
          </a:xfrm>
        </p:grpSpPr>
        <p:pic>
          <p:nvPicPr>
            <p:cNvPr id="5" name="Shape 179" descr="Same phylogeny and node circled as previous slide.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605437" y="376917"/>
              <a:ext cx="5064651" cy="4771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Shape 180"/>
            <p:cNvSpPr/>
            <p:nvPr/>
          </p:nvSpPr>
          <p:spPr>
            <a:xfrm>
              <a:off x="3956439" y="2420614"/>
              <a:ext cx="910200" cy="930600"/>
            </a:xfrm>
            <a:prstGeom prst="ellipse">
              <a:avLst/>
            </a:prstGeom>
            <a:noFill/>
            <a:ln w="762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1" name="Shape 182" descr="Animation of zooming into the circled node. It now shows generations of populations that are not human, but a chimp/bonobo &amp; human ancestral ape. As before lines connect parent offspring relationships.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04775" y="763905"/>
            <a:ext cx="9246235" cy="59950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roup 11"/>
          <p:cNvGrpSpPr/>
          <p:nvPr/>
        </p:nvGrpSpPr>
        <p:grpSpPr>
          <a:xfrm>
            <a:off x="2443027" y="1938727"/>
            <a:ext cx="4286885" cy="4820304"/>
            <a:chOff x="1206591" y="2417789"/>
            <a:chExt cx="4286885" cy="4820304"/>
          </a:xfrm>
        </p:grpSpPr>
        <p:grpSp>
          <p:nvGrpSpPr>
            <p:cNvPr id="8" name="Group 7"/>
            <p:cNvGrpSpPr/>
            <p:nvPr/>
          </p:nvGrpSpPr>
          <p:grpSpPr>
            <a:xfrm>
              <a:off x="1206591" y="2417789"/>
              <a:ext cx="4286885" cy="4820304"/>
              <a:chOff x="2186305" y="2145646"/>
              <a:chExt cx="4286885" cy="4820304"/>
            </a:xfrm>
          </p:grpSpPr>
          <p:pic>
            <p:nvPicPr>
              <p:cNvPr id="13" name="Shape 183" descr=" A mountain range splits the branch symbolizing the emergence of a geographic barrier. The Homo sapiens lineage proceeds to the left of the screen, and the Chimp/Bonobo lineage proceeds to the right of the screen, with the mountain range preventing any parent-offspring lines from crossing. 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86305" y="2622550"/>
                <a:ext cx="4286885" cy="4343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Shape 184" descr="Same phylogeny as previous slides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93747" y="2145646"/>
                <a:ext cx="3153000" cy="41531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7" name="Shape 185" descr="A white triangle with black background&#10;&#10;AI-generated content may be incorrect.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2753413" y="4233402"/>
              <a:ext cx="1195825" cy="1785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53" y="224132"/>
            <a:ext cx="8520600" cy="763600"/>
          </a:xfrm>
        </p:spPr>
        <p:txBody>
          <a:bodyPr>
            <a:normAutofit fontScale="90000"/>
          </a:bodyPr>
          <a:lstStyle/>
          <a:p>
            <a:r>
              <a:rPr lang="en-US"/>
              <a:t>Terminology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/>
              <a:t>Root</a:t>
            </a:r>
            <a:endParaRPr lang="en-US"/>
          </a:p>
          <a:p>
            <a:pPr marL="114300" indent="0">
              <a:buNone/>
            </a:pPr>
            <a:r>
              <a:rPr lang="en-US"/>
              <a:t>Branch</a:t>
            </a:r>
            <a:endParaRPr lang="en-US"/>
          </a:p>
          <a:p>
            <a:pPr marL="114300" indent="0">
              <a:buNone/>
            </a:pPr>
            <a:r>
              <a:rPr lang="en-US"/>
              <a:t>Node</a:t>
            </a:r>
            <a:endParaRPr lang="en-US" dirty="0"/>
          </a:p>
          <a:p>
            <a:pPr marL="114300" indent="0">
              <a:buNone/>
            </a:pPr>
            <a:r>
              <a:rPr lang="en-US"/>
              <a:t>Tip</a:t>
            </a:r>
            <a:endParaRPr lang="en-US" dirty="0"/>
          </a:p>
          <a:p>
            <a:pPr marL="114300" indent="0">
              <a:buNone/>
            </a:pPr>
            <a:r>
              <a:rPr lang="en-US"/>
              <a:t>Outgroup</a:t>
            </a:r>
            <a:endParaRPr lang="en-US"/>
          </a:p>
          <a:p>
            <a:pPr marL="114300" indent="0">
              <a:buNone/>
            </a:pPr>
            <a:r>
              <a:rPr lang="en-US"/>
              <a:t>Clade</a:t>
            </a:r>
            <a:endParaRPr lang="en-US" dirty="0"/>
          </a:p>
          <a:p>
            <a:pPr marL="114300" indent="0">
              <a:buNone/>
            </a:pPr>
            <a:r>
              <a:rPr lang="en-US"/>
              <a:t>Monophyletic</a:t>
            </a:r>
            <a:endParaRPr lang="en-US" dirty="0"/>
          </a:p>
          <a:p>
            <a:pPr marL="114300" indent="0">
              <a:buNone/>
            </a:pPr>
            <a:r>
              <a:rPr lang="en-US"/>
              <a:t>Paraphyletic</a:t>
            </a:r>
            <a:endParaRPr lang="en-US"/>
          </a:p>
          <a:p>
            <a:pPr marL="114300" indent="0">
              <a:buNone/>
            </a:pPr>
            <a:r>
              <a:rPr lang="en-US"/>
              <a:t>Polyphyletic</a:t>
            </a:r>
            <a:endParaRPr lang="en-US" dirty="0"/>
          </a:p>
        </p:txBody>
      </p:sp>
      <p:pic>
        <p:nvPicPr>
          <p:cNvPr id="5" name="Picture 4" descr="A phylogenetic tree with the tips at the top of the phylogeny. A legend on the left indicates time going from the past at the bottom to the present at the top. Three extant tips are present, A) a human, B) a chimpanzee, and C) a bonobo. Another tip is labeled F) &quot;Extinct Lineage&quot; that branches off the human branch but does not reach the present. A, B, and C are labeled terminal nodes or &quot;tips&quot;. Lines connecting nodes are labeled &quot;lineage or branch&quot;. Internal nodes D and E connect Chimps &amp; Bonobos, and That lineage to the human branch, respectively. 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5810" y="885825"/>
            <a:ext cx="5751195" cy="5054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48113"/>
            <a:ext cx="8520600" cy="763600"/>
          </a:xfrm>
        </p:spPr>
        <p:txBody>
          <a:bodyPr>
            <a:noAutofit/>
          </a:bodyPr>
          <a:lstStyle/>
          <a:p>
            <a:r>
              <a:rPr lang="en-US" sz="3200"/>
              <a:t>The goal of taxonomy and systematics is to represent monophyly</a:t>
            </a:r>
            <a:endParaRPr lang="en-US" sz="3200" dirty="0"/>
          </a:p>
        </p:txBody>
      </p:sp>
      <p:pic>
        <p:nvPicPr>
          <p:cNvPr id="5" name="Picture 4" descr="A diagram depicting 3 panels. The first shows a monophyletic group, that includes an ancestor and all its descendants labeled as &quot;Taxon 1&quot;. The second shows a polyphyletic group because it does not include the common ancestor of the group. The third shows a paraphyletic group, because it includes the ancestor but not all the descendents of a node. 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75" y="2814320"/>
            <a:ext cx="8990330" cy="29781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93814"/>
            <a:ext cx="8520600" cy="763600"/>
          </a:xfrm>
        </p:spPr>
        <p:txBody>
          <a:bodyPr>
            <a:normAutofit fontScale="90000"/>
          </a:bodyPr>
          <a:lstStyle/>
          <a:p>
            <a:r>
              <a:rPr lang="en-US"/>
              <a:t>Practice question 1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536633"/>
            <a:ext cx="4068059" cy="4555200"/>
          </a:xfrm>
        </p:spPr>
        <p:txBody>
          <a:bodyPr/>
          <a:lstStyle/>
          <a:p>
            <a:pPr marL="114300" indent="0">
              <a:buNone/>
            </a:pPr>
            <a:r>
              <a:rPr lang="en-US"/>
              <a:t>The phylogeny depicted demonstrates that lungfish </a:t>
            </a:r>
            <a:r>
              <a:rPr lang="en-US" dirty="0"/>
              <a:t>are basal to and more primitive than frogs.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628650" indent="-514350">
              <a:buAutoNum type="alphaUcPeriod"/>
            </a:pPr>
            <a:r>
              <a:rPr lang="en-US"/>
              <a:t>True</a:t>
            </a:r>
            <a:endParaRPr lang="en-US"/>
          </a:p>
          <a:p>
            <a:pPr marL="628650" indent="-514350">
              <a:buAutoNum type="alphaUcPeriod"/>
            </a:pPr>
            <a:r>
              <a:rPr lang="en-US"/>
              <a:t>False</a:t>
            </a:r>
            <a:endParaRPr lang="en-US" dirty="0"/>
          </a:p>
        </p:txBody>
      </p:sp>
      <p:grpSp>
        <p:nvGrpSpPr>
          <p:cNvPr id="10" name="Group 9" descr="A phylogeny depicting vertebrates. Frogs are highlighted with a box as well as lungfish. "/>
          <p:cNvGrpSpPr/>
          <p:nvPr/>
        </p:nvGrpSpPr>
        <p:grpSpPr>
          <a:xfrm>
            <a:off x="4390102" y="1534995"/>
            <a:ext cx="4754111" cy="4669661"/>
            <a:chOff x="4390102" y="1534995"/>
            <a:chExt cx="4754111" cy="4669661"/>
          </a:xfrm>
        </p:grpSpPr>
        <p:pic>
          <p:nvPicPr>
            <p:cNvPr id="5" name="Shape 481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4390102" y="1534995"/>
              <a:ext cx="4754111" cy="46696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Rectangle 0"/>
            <p:cNvSpPr/>
            <p:nvPr/>
          </p:nvSpPr>
          <p:spPr>
            <a:xfrm>
              <a:off x="6767454" y="3815899"/>
              <a:ext cx="1645285" cy="6089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5"/>
                  </a:solidFill>
                </a14:hiddenFill>
              </a:ext>
            </a:ex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0"/>
            <p:cNvSpPr/>
            <p:nvPr/>
          </p:nvSpPr>
          <p:spPr>
            <a:xfrm>
              <a:off x="5942105" y="4424051"/>
              <a:ext cx="1645285" cy="6089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5"/>
                  </a:solidFill>
                </a14:hiddenFill>
              </a:ext>
            </a:ex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02412"/>
            <a:ext cx="8520600" cy="763600"/>
          </a:xfrm>
        </p:spPr>
        <p:txBody>
          <a:bodyPr>
            <a:noAutofit/>
          </a:bodyPr>
          <a:lstStyle/>
          <a:p>
            <a:r>
              <a:rPr lang="en-US" sz="3600"/>
              <a:t>Assignment I: Canvas self-assessment</a:t>
            </a:r>
            <a:endParaRPr lang="en-US" sz="36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Read Baum &amp; Smith, and complete the questions in Assignment I. </a:t>
            </a:r>
            <a:r>
              <a:rPr lang="en-US"/>
              <a:t>The purpose is a self-reflection of your </a:t>
            </a:r>
            <a:r>
              <a:rPr lang="en-US" dirty="0"/>
              <a:t>understanding.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I'm going to assume you understand basic terminology and can read &amp; interpret trees going forward. If you find it challenging (almost everyone does when first interpreting trees), reach out (e.g. come to office hour).</a:t>
            </a: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Macroevolution, systematics, phylogenetics, taxonomy, biodiversity science, phylogenetic comparative methods, oh my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3431678"/>
            <a:ext cx="8520600" cy="2660155"/>
          </a:xfrm>
        </p:spPr>
        <p:txBody>
          <a:bodyPr/>
          <a:lstStyle/>
          <a:p>
            <a:pPr marL="114300" indent="0">
              <a:buNone/>
            </a:pPr>
            <a:r>
              <a:rPr lang="en-US"/>
              <a:t>What is macroevolution? </a:t>
            </a:r>
            <a:endParaRPr lang="en-US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We seek to understand the processes that explain </a:t>
            </a:r>
            <a:r>
              <a:rPr lang="en-US"/>
              <a:t>biodiversity.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Ubuntu" charset="0"/>
              </a:rPr>
              <a:t>My terminology for macroevolution</a:t>
            </a:r>
            <a:endParaRPr lang="en-US">
              <a:latin typeface="Ubuntu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Inferring trees from data  = </a:t>
            </a:r>
            <a:br>
              <a:rPr lang="en-US"/>
            </a:br>
            <a:r>
              <a:rPr lang="en-US"/>
              <a:t>Phylogenetics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Using trees to study evolution = </a:t>
            </a:r>
            <a:br>
              <a:rPr lang="en-US" dirty="0"/>
            </a:br>
            <a:r>
              <a:rPr lang="en-US" dirty="0"/>
              <a:t>Phylogenetic </a:t>
            </a:r>
            <a:r>
              <a:rPr lang="en-US"/>
              <a:t>comparative methods </a:t>
            </a:r>
            <a:r>
              <a:rPr lang="en-US" i="1"/>
              <a:t>sensu lato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Asking evolutionary questions over deep time = Macroevolution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21" y="-275605"/>
            <a:ext cx="7886712" cy="1325565"/>
          </a:xfrm>
        </p:spPr>
        <p:txBody>
          <a:bodyPr>
            <a:normAutofit/>
          </a:bodyPr>
          <a:lstStyle/>
          <a:p>
            <a:r>
              <a:rPr lang="en-US" sz="3200">
                <a:latin typeface="Ubuntu" charset="0"/>
              </a:rPr>
              <a:t>What is systematics?</a:t>
            </a:r>
            <a:endParaRPr lang="en-US" sz="3200" dirty="0">
              <a:latin typeface="Ubuntu" charset="0"/>
            </a:endParaRPr>
          </a:p>
        </p:txBody>
      </p:sp>
      <p:pic>
        <p:nvPicPr>
          <p:cNvPr id="5" name="Content Placeholder 5" descr="A figure from Stuessy1990 in Plant Taxonomy. A circle labeled &quot;Systematics&quot; is divided into 3 equal slices labeled &quot;Taxonomy&quot;, &quot;Study of Phylogeny&quot;, and &quot;Study of the process of evolution&quot;."/>
          <p:cNvPicPr>
            <a:picLocks noGrp="1" noChangeAspect="1"/>
          </p:cNvPicPr>
          <p:nvPr>
            <p:ph idx="1"/>
          </p:nvPr>
        </p:nvPicPr>
        <p:blipFill>
          <a:blip r:embed="rId1"/>
          <a:srcRect l="705"/>
          <a:stretch>
            <a:fillRect/>
          </a:stretch>
        </p:blipFill>
        <p:spPr>
          <a:xfrm>
            <a:off x="796925" y="892810"/>
            <a:ext cx="5721350" cy="5871210"/>
          </a:xfrm>
          <a:prstGeom prst="rect">
            <a:avLst/>
          </a:prstGeom>
        </p:spPr>
      </p:pic>
      <p:sp>
        <p:nvSpPr>
          <p:cNvPr id="7" name="Text Box 2"/>
          <p:cNvSpPr txBox="1"/>
          <p:nvPr/>
        </p:nvSpPr>
        <p:spPr>
          <a:xfrm>
            <a:off x="6518275" y="6457315"/>
            <a:ext cx="2540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latin typeface="Ubuntu" charset="0"/>
                <a:cs typeface="Ubuntu" charset="0"/>
              </a:rPr>
              <a:t>Stuessy 1990 Plant Taxonomy</a:t>
            </a:r>
            <a:endParaRPr lang="en-US" sz="1400">
              <a:latin typeface="Ubuntu" charset="0"/>
              <a:cs typeface="Ubuntu" charset="0"/>
            </a:endParaRPr>
          </a:p>
        </p:txBody>
      </p:sp>
      <p:pic>
        <p:nvPicPr>
          <p:cNvPr id="9" name="Picture 8" descr="The logo of the Society of Systematic Biologists."/>
          <p:cNvPicPr>
            <a:picLocks noChangeAspect="1"/>
          </p:cNvPicPr>
          <p:nvPr/>
        </p:nvPicPr>
        <p:blipFill>
          <a:blip r:embed="rId2"/>
          <a:srcRect l="14210" t="16457" r="14805" b="14078"/>
          <a:stretch>
            <a:fillRect/>
          </a:stretch>
        </p:blipFill>
        <p:spPr>
          <a:xfrm>
            <a:off x="6797040" y="51435"/>
            <a:ext cx="2261235" cy="2212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93305"/>
            <a:ext cx="8520600" cy="763600"/>
          </a:xfrm>
        </p:spPr>
        <p:txBody>
          <a:bodyPr>
            <a:noAutofit/>
          </a:bodyPr>
          <a:lstStyle/>
          <a:p>
            <a:r>
              <a:rPr lang="en-US" sz="3600"/>
              <a:t>Going backwards- inferring phylogeny</a:t>
            </a:r>
            <a:endParaRPr lang="en-US" sz="3600"/>
          </a:p>
        </p:txBody>
      </p:sp>
      <p:pic>
        <p:nvPicPr>
          <p:cNvPr id="7" name="Shape 381" descr="Silhouettes of a variety of organisms, including 6 apes, 2 salamanders, 1 bird, 1 coelacanth, 1 starfish, and 1 tunicate.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05838" y="1183821"/>
            <a:ext cx="694003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416403"/>
            <a:ext cx="7886712" cy="13255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How can we find the "true" tree?</a:t>
            </a:r>
            <a:br>
              <a:rPr lang="en-US" dirty="0"/>
            </a:br>
            <a:r>
              <a:rPr lang="en-US"/>
              <a:t>(Is there a true tree?!?)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81" y="-2267"/>
            <a:ext cx="7886712" cy="1325565"/>
          </a:xfrm>
        </p:spPr>
        <p:txBody>
          <a:bodyPr/>
          <a:lstStyle/>
          <a:p>
            <a:r>
              <a:rPr lang="en-US">
                <a:latin typeface="Ubuntu" charset="0"/>
              </a:rPr>
              <a:t>Tree space is HUGE.</a:t>
            </a:r>
            <a:endParaRPr lang="en-US">
              <a:latin typeface="Ubuntu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83" y="1692959"/>
            <a:ext cx="4080114" cy="501469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800"/>
              <a:t> Inferring phylogenies is incredibly challenging statistical and computational task. </a:t>
            </a:r>
            <a:endParaRPr lang="en-US"/>
          </a:p>
          <a:p>
            <a:pPr>
              <a:buNone/>
            </a:pPr>
            <a:r>
              <a:rPr lang="en-US" sz="1800"/>
              <a:t> For that reason, phylogenetics is/has been at</a:t>
            </a:r>
            <a:r>
              <a:rPr lang="en-US" sz="1800" dirty="0"/>
              <a:t> the forefront of many advances in statistics &amp; computer science. </a:t>
            </a:r>
            <a:endParaRPr lang="en-US" dirty="0"/>
          </a:p>
          <a:p>
            <a:pPr>
              <a:buNone/>
            </a:pPr>
            <a:r>
              <a:rPr lang="en-US" sz="1800"/>
              <a:t> This course </a:t>
            </a:r>
            <a:r>
              <a:rPr lang="en-US" sz="1800" dirty="0"/>
              <a:t>will cover the story of phylogenetics and the basic models, as they are shared with </a:t>
            </a:r>
            <a:r>
              <a:rPr lang="en-US" sz="1800"/>
              <a:t>phylogenetic comparative methods. </a:t>
            </a:r>
            <a:endParaRPr lang="en-US"/>
          </a:p>
          <a:p>
            <a:pPr>
              <a:buNone/>
            </a:pPr>
            <a:r>
              <a:rPr lang="en-US" sz="1800" dirty="0"/>
              <a:t> For in depth “how-to” on building trees from molecular data, take </a:t>
            </a:r>
            <a:r>
              <a:rPr lang="en-US" sz="1800"/>
              <a:t>Anton Suvorov’s course next semester!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Figure from Felsenstein's Inferring Phylogenies showing increase in number of rooted, bifurcating trees for n species for values of n ranging from 1 to 50. 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23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5115" y="1056640"/>
            <a:ext cx="4916805" cy="55765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749" y="365126"/>
            <a:ext cx="3845389" cy="1345975"/>
          </a:xfrm>
        </p:spPr>
        <p:txBody>
          <a:bodyPr>
            <a:noAutofit/>
          </a:bodyPr>
          <a:lstStyle/>
          <a:p>
            <a:r>
              <a:rPr lang="en-US" sz="3600" dirty="0">
                <a:latin typeface="Ubuntu" charset="0"/>
              </a:rPr>
              <a:t>A brief history of </a:t>
            </a:r>
            <a:r>
              <a:rPr lang="en-US" sz="3600">
                <a:latin typeface="Ubuntu" charset="0"/>
              </a:rPr>
              <a:t>phylogenetics</a:t>
            </a:r>
            <a:endParaRPr lang="en-US" sz="3600" dirty="0">
              <a:latin typeface="Ubuntu" charset="0"/>
            </a:endParaRPr>
          </a:p>
        </p:txBody>
      </p:sp>
      <p:pic>
        <p:nvPicPr>
          <p:cNvPr id="4" name="Content Placeholder 3" descr="A page from Darwin's notebook showing the famous &quot;I think&quot; written in handwriting next to his sketch of a phylogenetic tree."/>
          <p:cNvPicPr>
            <a:picLocks noGrp="1" noChangeAspect="1"/>
          </p:cNvPicPr>
          <p:nvPr>
            <p:ph idx="1"/>
          </p:nvPr>
        </p:nvPicPr>
        <p:blipFill>
          <a:blip r:embed="rId1"/>
          <a:srcRect r="249"/>
          <a:stretch>
            <a:fillRect/>
          </a:stretch>
        </p:blipFill>
        <p:spPr>
          <a:xfrm>
            <a:off x="563803" y="2366512"/>
            <a:ext cx="4005894" cy="4351344"/>
          </a:xfrm>
          <a:prstGeom prst="rect">
            <a:avLst/>
          </a:prstGeom>
        </p:spPr>
      </p:pic>
      <p:pic>
        <p:nvPicPr>
          <p:cNvPr id="5" name="Picture 4" descr="A stylistic depiction of a phylogenetic tree from Ernst Haeckel labeled &quot;Monera&quot; at the trunk of the tree, with many branches of mostly animals, and &quot;MAN&quot; a the very top branch."/>
          <p:cNvPicPr>
            <a:picLocks noChangeAspect="1"/>
          </p:cNvPicPr>
          <p:nvPr/>
        </p:nvPicPr>
        <p:blipFill>
          <a:blip r:embed="rId2"/>
          <a:srcRect r="246" b="156"/>
          <a:stretch>
            <a:fillRect/>
          </a:stretch>
        </p:blipFill>
        <p:spPr>
          <a:xfrm>
            <a:off x="4674054" y="153080"/>
            <a:ext cx="4142672" cy="65620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Ubuntu" charset="0"/>
              </a:rPr>
              <a:t>The four cannibalistic schools of </a:t>
            </a:r>
            <a:r>
              <a:rPr lang="en-US">
                <a:latin typeface="Ubuntu" charset="0"/>
              </a:rPr>
              <a:t>phylogenetics history</a:t>
            </a:r>
            <a:endParaRPr lang="en-US" dirty="0">
              <a:latin typeface="Ubuntu" charset="0"/>
            </a:endParaRPr>
          </a:p>
        </p:txBody>
      </p:sp>
      <p:pic>
        <p:nvPicPr>
          <p:cNvPr id="5" name="Content Placeholder 3" descr="Four cartoon fish. The smallest is evolutionary taxonomy, a larger fish eats it labeled phenetics, a larger fish eats it labeled cladistics, and the largest fish eating it is statistical phylogenetics. 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8650" y="2032635"/>
            <a:ext cx="7886700" cy="3937000"/>
          </a:xfrm>
          <a:prstGeom prst="rect">
            <a:avLst/>
          </a:prstGeom>
        </p:spPr>
      </p:pic>
      <p:sp>
        <p:nvSpPr>
          <p:cNvPr id="7" name="Text Box 4"/>
          <p:cNvSpPr txBox="1"/>
          <p:nvPr/>
        </p:nvSpPr>
        <p:spPr>
          <a:xfrm>
            <a:off x="7635240" y="4751070"/>
            <a:ext cx="17506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en-US">
                <a:latin typeface="Ubuntu" charset="0"/>
                <a:cs typeface="Ubuntu" charset="0"/>
              </a:rPr>
              <a:t>Evolutionary Taxonomy</a:t>
            </a:r>
            <a:r>
              <a:rPr lang="en-US" altLang="x-none">
                <a:latin typeface="Ubuntu" charset="0"/>
                <a:cs typeface="Ubuntu" charset="0"/>
              </a:rPr>
              <a:t> </a:t>
            </a:r>
            <a:br>
              <a:rPr lang="en-US" altLang="x-none">
                <a:latin typeface="Ubuntu" charset="0"/>
                <a:cs typeface="Ubuntu" charset="0"/>
              </a:rPr>
            </a:br>
            <a:r>
              <a:rPr lang="en-US" altLang="x-none">
                <a:latin typeface="Ubuntu" charset="0"/>
                <a:cs typeface="Ubuntu" charset="0"/>
              </a:rPr>
              <a:t>(Pre-1960s)</a:t>
            </a:r>
            <a:endParaRPr lang="en-US" altLang="x-none">
              <a:latin typeface="Ubuntu" charset="0"/>
              <a:cs typeface="Ubuntu" charset="0"/>
            </a:endParaRPr>
          </a:p>
        </p:txBody>
      </p:sp>
      <p:sp>
        <p:nvSpPr>
          <p:cNvPr id="9" name="Text Box 5"/>
          <p:cNvSpPr txBox="1"/>
          <p:nvPr/>
        </p:nvSpPr>
        <p:spPr>
          <a:xfrm>
            <a:off x="6325235" y="4925695"/>
            <a:ext cx="12966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en-US">
                <a:latin typeface="Ubuntu" charset="0"/>
                <a:cs typeface="Ubuntu" charset="0"/>
              </a:rPr>
              <a:t>Phenetics</a:t>
            </a:r>
            <a:endParaRPr lang="x-none" altLang="en-US">
              <a:latin typeface="Ubuntu" charset="0"/>
              <a:cs typeface="Ubuntu" charset="0"/>
            </a:endParaRPr>
          </a:p>
          <a:p>
            <a:r>
              <a:rPr lang="en-US" altLang="x-none">
                <a:latin typeface="Ubuntu" charset="0"/>
                <a:cs typeface="Ubuntu" charset="0"/>
              </a:rPr>
              <a:t>(1950s-70s)</a:t>
            </a:r>
            <a:endParaRPr lang="en-US" altLang="x-none">
              <a:latin typeface="Ubuntu" charset="0"/>
              <a:cs typeface="Ubuntu" charset="0"/>
            </a:endParaRPr>
          </a:p>
        </p:txBody>
      </p:sp>
      <p:sp>
        <p:nvSpPr>
          <p:cNvPr id="11" name="Text Box 6"/>
          <p:cNvSpPr txBox="1"/>
          <p:nvPr/>
        </p:nvSpPr>
        <p:spPr>
          <a:xfrm>
            <a:off x="4966970" y="5135880"/>
            <a:ext cx="12522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en-US">
                <a:latin typeface="Ubuntu" charset="0"/>
                <a:cs typeface="Ubuntu" charset="0"/>
              </a:rPr>
              <a:t>Cladistics</a:t>
            </a:r>
            <a:br>
              <a:rPr lang="x-none" altLang="en-US">
                <a:latin typeface="Ubuntu" charset="0"/>
                <a:cs typeface="Ubuntu" charset="0"/>
              </a:rPr>
            </a:br>
            <a:r>
              <a:rPr lang="en-US" altLang="x-none">
                <a:latin typeface="Ubuntu" charset="0"/>
                <a:cs typeface="Ubuntu" charset="0"/>
              </a:rPr>
              <a:t>(1960s-90s)</a:t>
            </a:r>
            <a:endParaRPr lang="en-US" altLang="x-none">
              <a:latin typeface="Ubuntu" charset="0"/>
              <a:cs typeface="Ubuntu" charset="0"/>
            </a:endParaRPr>
          </a:p>
        </p:txBody>
      </p:sp>
      <p:sp>
        <p:nvSpPr>
          <p:cNvPr id="13" name="Text Box 7"/>
          <p:cNvSpPr txBox="1"/>
          <p:nvPr/>
        </p:nvSpPr>
        <p:spPr>
          <a:xfrm>
            <a:off x="2630170" y="5483860"/>
            <a:ext cx="23571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en-US">
                <a:latin typeface="Ubuntu" charset="0"/>
                <a:cs typeface="Ubuntu" charset="0"/>
              </a:rPr>
              <a:t>Statistical Phylogenetics</a:t>
            </a:r>
            <a:endParaRPr lang="x-none" altLang="en-US">
              <a:latin typeface="Ubuntu" charset="0"/>
              <a:cs typeface="Ubuntu" charset="0"/>
            </a:endParaRPr>
          </a:p>
          <a:p>
            <a:r>
              <a:rPr lang="en-US" altLang="x-none">
                <a:latin typeface="Ubuntu" charset="0"/>
                <a:cs typeface="Ubuntu" charset="0"/>
              </a:rPr>
              <a:t>(1970s- present)</a:t>
            </a:r>
            <a:endParaRPr lang="en-US" altLang="x-none">
              <a:latin typeface="Ubuntu" charset="0"/>
              <a:cs typeface="Ubuntu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3298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3300">
                <a:latin typeface="Ubuntu" charset="0"/>
              </a:rPr>
              <a:t>History of phylogenetics: Evolutionary taxonomy</a:t>
            </a:r>
            <a:endParaRPr lang="en-US" sz="3300">
              <a:latin typeface="Ubuntu" charset="0"/>
            </a:endParaRPr>
          </a:p>
        </p:txBody>
      </p:sp>
      <p:sp>
        <p:nvSpPr>
          <p:cNvPr id="12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80519"/>
            <a:ext cx="3182691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900"/>
              <a:t>No objective methodology</a:t>
            </a:r>
            <a:endParaRPr lang="en-US" sz="1900"/>
          </a:p>
          <a:p>
            <a:pPr marL="0" indent="0">
              <a:buNone/>
            </a:pPr>
            <a:endParaRPr lang="en-US" sz="1900"/>
          </a:p>
          <a:p>
            <a:pPr marL="0" indent="0">
              <a:buNone/>
            </a:pPr>
            <a:r>
              <a:rPr lang="en-US" sz="1900"/>
              <a:t>Relies on expert opinion and a lifetime of study</a:t>
            </a:r>
            <a:endParaRPr lang="en-US" sz="1900"/>
          </a:p>
          <a:p>
            <a:pPr marL="0" indent="0">
              <a:buNone/>
            </a:pPr>
            <a:endParaRPr lang="en-US" sz="1900"/>
          </a:p>
          <a:p>
            <a:pPr marL="0" indent="0">
              <a:buNone/>
            </a:pPr>
            <a:r>
              <a:rPr lang="en-US" sz="1900"/>
              <a:t>Strengths? Weaknesses?</a:t>
            </a:r>
            <a:br>
              <a:rPr lang="en-US" sz="1900"/>
            </a:br>
            <a:endParaRPr lang="en-US" sz="1900"/>
          </a:p>
        </p:txBody>
      </p:sp>
      <p:pic>
        <p:nvPicPr>
          <p:cNvPr id="5" name="Content Placeholder 4" descr="Decorative figure of Darwin's &quot;I think [tree]&quot; notebook"/>
          <p:cNvPicPr>
            <a:picLocks noChangeAspect="1"/>
          </p:cNvPicPr>
          <p:nvPr/>
        </p:nvPicPr>
        <p:blipFill>
          <a:blip r:embed="rId1"/>
          <a:srcRect l="10745" r="7509" b="1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31" y="365126"/>
            <a:ext cx="7886712" cy="1325565"/>
          </a:xfrm>
        </p:spPr>
        <p:txBody>
          <a:bodyPr>
            <a:normAutofit fontScale="90000"/>
          </a:bodyPr>
          <a:lstStyle/>
          <a:p>
            <a:r>
              <a:rPr lang="x-none" altLang="en-US">
                <a:latin typeface="Ubuntu" charset="0"/>
              </a:rPr>
              <a:t>History of phylogenetic</a:t>
            </a:r>
            <a:r>
              <a:rPr lang="en-US" altLang="x-none">
                <a:latin typeface="Ubuntu" charset="0"/>
              </a:rPr>
              <a:t>s</a:t>
            </a:r>
            <a:r>
              <a:rPr lang="x-none" altLang="en-US">
                <a:latin typeface="Ubuntu" charset="0"/>
              </a:rPr>
              <a:t>:</a:t>
            </a:r>
            <a:br>
              <a:rPr lang="x-none" altLang="en-US">
                <a:latin typeface="Ubuntu" charset="0"/>
              </a:rPr>
            </a:br>
            <a:r>
              <a:rPr lang="x-none" altLang="en-US">
                <a:latin typeface="Ubuntu" charset="0"/>
              </a:rPr>
              <a:t>Phenetics</a:t>
            </a:r>
            <a:endParaRPr lang="x-none" altLang="en-US">
              <a:latin typeface="Ubuntu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030" y="1826895"/>
            <a:ext cx="7689850" cy="4351655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x-none" altLang="en-US"/>
              <a:t>Numerical Taxonomy &amp; distance methods - measure overall similarity</a:t>
            </a:r>
            <a:endParaRPr lang="x-none" altLang="en-US"/>
          </a:p>
          <a:p>
            <a:pPr marL="0" indent="0">
              <a:buNone/>
            </a:pPr>
            <a:endParaRPr lang="x-none" altLang="en-US"/>
          </a:p>
          <a:p>
            <a:pPr marL="0" indent="0">
              <a:buNone/>
            </a:pPr>
            <a:r>
              <a:rPr lang="x-none" altLang="en-US"/>
              <a:t>How do you measure similarity? </a:t>
            </a:r>
            <a:endParaRPr lang="x-none" altLang="en-US"/>
          </a:p>
          <a:p>
            <a:pPr marL="0" indent="0">
              <a:buNone/>
            </a:pPr>
            <a:endParaRPr lang="x-none" altLang="en-US"/>
          </a:p>
          <a:p>
            <a:pPr marL="0" indent="0">
              <a:buNone/>
            </a:pPr>
            <a:r>
              <a:rPr lang="x-none" altLang="en-US"/>
              <a:t>What are the drawbacks of this approach? </a:t>
            </a:r>
            <a:endParaRPr lang="x-none" altLang="en-US"/>
          </a:p>
          <a:p>
            <a:pPr marL="0" indent="0">
              <a:buNone/>
            </a:pPr>
            <a:endParaRPr lang="x-none" altLang="en-US"/>
          </a:p>
          <a:p>
            <a:pPr marL="0" indent="0">
              <a:buNone/>
            </a:pPr>
            <a:r>
              <a:rPr lang="x-none" altLang="en-US"/>
              <a:t>Sokal, Sneath &amp; Rohlf (1960's) argued phenetics provided much needed reproducibility </a:t>
            </a:r>
            <a:endParaRPr lang="x-none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Ubuntu" charset="0"/>
              </a:rPr>
              <a:t>History of phylogenetics: Phenetics</a:t>
            </a:r>
            <a:endParaRPr lang="en-US">
              <a:latin typeface="Ubuntu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825628"/>
            <a:ext cx="8162257" cy="435134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/>
              <a:t>Numerical taxonomy and distance methods</a:t>
            </a:r>
            <a:endParaRPr lang="en-US"/>
          </a:p>
          <a:p>
            <a:pPr marL="0" indent="0">
              <a:buNone/>
            </a:pPr>
            <a:r>
              <a:rPr lang="en-US"/>
              <a:t> Measure overall similarity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/>
              <a:t>Sokal, Sneath, and Rohlf (1960s) argued</a:t>
            </a:r>
            <a:br>
              <a:rPr lang="en-US" dirty="0"/>
            </a:br>
            <a:r>
              <a:rPr lang="en-US"/>
              <a:t>phenetics </a:t>
            </a:r>
            <a:r>
              <a:rPr lang="en-US" dirty="0"/>
              <a:t>provided much needed reproducibility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How do you measure similarity?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What are the drawbacks of this approach?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Distance methods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/>
              <a:t>Still used for fast tree construction</a:t>
            </a:r>
            <a:endParaRPr lang="en-US"/>
          </a:p>
        </p:txBody>
      </p:sp>
      <p:pic>
        <p:nvPicPr>
          <p:cNvPr id="5" name="Shape 386" descr="A three part figure showing the conversion of molecular sequence data into a pairwise distance matrix between taxa, and ultimately, a phylogenetic tree based on the neighbor-joining algorithm. 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067275" y="2255093"/>
            <a:ext cx="7272287" cy="4346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411" y="365126"/>
            <a:ext cx="7886712" cy="132556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Ubuntu" charset="0"/>
              </a:rPr>
              <a:t>History of phylogenetics: Cladistics</a:t>
            </a:r>
            <a:endParaRPr lang="en-US">
              <a:latin typeface="Ubuntu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410" y="1968500"/>
            <a:ext cx="5086985" cy="4494530"/>
          </a:xfrm>
        </p:spPr>
        <p:txBody>
          <a:bodyPr vert="horz" lIns="91440" tIns="45720" rIns="91440" bIns="45720" rtlCol="0" anchor="t">
            <a:normAutofit lnSpcReduction="20000"/>
          </a:bodyPr>
          <a:lstStyle/>
          <a:p>
            <a:pPr marL="0" indent="0">
              <a:buNone/>
            </a:pPr>
            <a:r>
              <a:rPr lang="x-none" sz="2400"/>
              <a:t>Coined "phylogenetic systematics" </a:t>
            </a:r>
            <a:endParaRPr lang="en-US" sz="2400"/>
          </a:p>
          <a:p>
            <a:pPr marL="0" indent="0">
              <a:buNone/>
            </a:pPr>
            <a:endParaRPr lang="x-none" sz="2400" dirty="0"/>
          </a:p>
          <a:p>
            <a:pPr marL="0" indent="0">
              <a:buNone/>
            </a:pPr>
            <a:r>
              <a:rPr lang="x-none" sz="2400"/>
              <a:t>Grouping should not be based on</a:t>
            </a:r>
            <a:r>
              <a:rPr lang="x-none" sz="2400" i="1" dirty="0"/>
              <a:t> </a:t>
            </a:r>
            <a:r>
              <a:rPr lang="x-none" sz="2400" i="1"/>
              <a:t>overall </a:t>
            </a:r>
            <a:r>
              <a:rPr lang="x-none" sz="2400"/>
              <a:t>trait similarity, but only on </a:t>
            </a:r>
            <a:r>
              <a:rPr lang="x-none" sz="2400" i="1"/>
              <a:t>shared derived traits</a:t>
            </a:r>
            <a:r>
              <a:rPr lang="x-none" sz="2400" i="1" dirty="0"/>
              <a:t> </a:t>
            </a:r>
            <a:r>
              <a:rPr lang="en-US" altLang="x-none" sz="2400" dirty="0"/>
              <a:t>(s</a:t>
            </a:r>
            <a:r>
              <a:rPr lang="x-none" sz="2400" i="1"/>
              <a:t>ynapomorphies</a:t>
            </a:r>
            <a:r>
              <a:rPr lang="x-none" sz="2400"/>
              <a:t>)</a:t>
            </a:r>
            <a:endParaRPr lang="en-US" sz="2400"/>
          </a:p>
          <a:p>
            <a:pPr marL="0" indent="0">
              <a:buNone/>
            </a:pPr>
            <a:endParaRPr lang="x-none" sz="2400" dirty="0"/>
          </a:p>
          <a:p>
            <a:pPr marL="0" indent="0">
              <a:buNone/>
            </a:pPr>
            <a:r>
              <a:rPr lang="x-none" sz="2400"/>
              <a:t>Taxonomy based on </a:t>
            </a:r>
            <a:r>
              <a:rPr lang="x-none" sz="2400" i="1"/>
              <a:t>monophyly</a:t>
            </a:r>
            <a:endParaRPr lang="en-US" sz="2400"/>
          </a:p>
          <a:p>
            <a:pPr marL="0" indent="0">
              <a:buNone/>
            </a:pPr>
            <a:endParaRPr lang="x-none" sz="2400" dirty="0"/>
          </a:p>
          <a:p>
            <a:pPr marL="0" indent="0">
              <a:buNone/>
            </a:pPr>
            <a:r>
              <a:rPr lang="x-none" sz="2400"/>
              <a:t>Parsimony &amp; Occam's Razor- The simplest explanation is probably the correct one</a:t>
            </a:r>
            <a:endParaRPr lang="en-US" sz="2400"/>
          </a:p>
          <a:p>
            <a:pPr marL="0" indent="0">
              <a:buNone/>
            </a:pPr>
            <a:endParaRPr lang="en-US" sz="3600" dirty="0"/>
          </a:p>
        </p:txBody>
      </p:sp>
      <p:grpSp>
        <p:nvGrpSpPr>
          <p:cNvPr id="8" name="Group 7" descr="Black and white photo of Willi Hennig (1966)"/>
          <p:cNvGrpSpPr/>
          <p:nvPr/>
        </p:nvGrpSpPr>
        <p:grpSpPr>
          <a:xfrm>
            <a:off x="6099130" y="2391048"/>
            <a:ext cx="2003652" cy="3049769"/>
            <a:chOff x="6085523" y="1948815"/>
            <a:chExt cx="1500188" cy="2294573"/>
          </a:xfrm>
        </p:grpSpPr>
        <p:pic>
          <p:nvPicPr>
            <p:cNvPr id="5" name="Picture 4" descr="A person in a suit and tie&#10;&#10;AI-generated content may be incorrect.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170771" y="1948815"/>
              <a:ext cx="1329214" cy="1727835"/>
            </a:xfrm>
            <a:prstGeom prst="rect">
              <a:avLst/>
            </a:prstGeom>
          </p:spPr>
        </p:pic>
        <p:sp>
          <p:nvSpPr>
            <p:cNvPr id="7" name="Text Box 4"/>
            <p:cNvSpPr txBox="1"/>
            <p:nvPr/>
          </p:nvSpPr>
          <p:spPr>
            <a:xfrm>
              <a:off x="6085523" y="3736658"/>
              <a:ext cx="1500188" cy="506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altLang="en-US" sz="1350"/>
                <a:t>Willi Hennig (1966)</a:t>
              </a:r>
              <a:endParaRPr lang="x-none" altLang="en-US" sz="135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437" name="Picture 4" descr="TroutLunfishCow.wm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26" y="2148364"/>
            <a:ext cx="7358063" cy="1760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Box 5"/>
          <p:cNvSpPr txBox="1">
            <a:spLocks noChangeArrowheads="1"/>
          </p:cNvSpPr>
          <p:nvPr/>
        </p:nvSpPr>
        <p:spPr bwMode="auto">
          <a:xfrm>
            <a:off x="1958939" y="3979523"/>
            <a:ext cx="1022350" cy="29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80604020202020204" pitchFamily="34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Font typeface="Arial" panose="02080604020202020204" pitchFamily="34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Font typeface="Arial" panose="02080604020202020204" pitchFamily="34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/>
              <a:t>Phenogram</a:t>
            </a:r>
            <a:endParaRPr lang="en-US" altLang="en-US" sz="1350"/>
          </a:p>
        </p:txBody>
      </p:sp>
      <p:sp>
        <p:nvSpPr>
          <p:cNvPr id="18439" name="TextBox 6"/>
          <p:cNvSpPr txBox="1">
            <a:spLocks noChangeArrowheads="1"/>
          </p:cNvSpPr>
          <p:nvPr/>
        </p:nvSpPr>
        <p:spPr bwMode="auto">
          <a:xfrm>
            <a:off x="5960143" y="3979523"/>
            <a:ext cx="973455" cy="29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80604020202020204" pitchFamily="34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Font typeface="Arial" panose="02080604020202020204" pitchFamily="34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Font typeface="Arial" panose="02080604020202020204" pitchFamily="34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/>
              <a:t>Cladogram</a:t>
            </a:r>
            <a:endParaRPr lang="en-US" altLang="en-US" sz="135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 txBox="1"/>
          <p:nvPr>
            <p:ph type="title"/>
          </p:nvPr>
        </p:nvSpPr>
        <p:spPr>
          <a:xfrm>
            <a:off x="468630" y="1330325"/>
            <a:ext cx="8282940" cy="429260"/>
          </a:xfrm>
          <a:prstGeom prst="rect">
            <a:avLst/>
          </a:prstGeom>
        </p:spPr>
        <p:txBody>
          <a:bodyPr spcFirstLastPara="1" wrap="square" lIns="68568" tIns="68568" rIns="68568" bIns="68568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What’s the phylogenetic relationship?</a:t>
            </a:r>
            <a:endParaRPr lang="en-GB"/>
          </a:p>
        </p:txBody>
      </p:sp>
      <p:pic>
        <p:nvPicPr>
          <p:cNvPr id="404" name="Shape 40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736513" y="2573849"/>
            <a:ext cx="5807288" cy="1250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Shape 40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343150" y="2377781"/>
            <a:ext cx="4606463" cy="2980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hape 414"/>
          <p:cNvSpPr txBox="1"/>
          <p:nvPr>
            <p:ph type="title"/>
          </p:nvPr>
        </p:nvSpPr>
        <p:spPr>
          <a:xfrm>
            <a:off x="1264856" y="1043858"/>
            <a:ext cx="6390450" cy="429525"/>
          </a:xfrm>
          <a:prstGeom prst="rect">
            <a:avLst/>
          </a:prstGeom>
        </p:spPr>
        <p:txBody>
          <a:bodyPr spcFirstLastPara="1" wrap="square" lIns="68568" tIns="68568" rIns="68568" bIns="68568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Parsimony</a:t>
            </a:r>
            <a:endParaRPr lang="en-GB"/>
          </a:p>
        </p:txBody>
      </p:sp>
      <p:sp>
        <p:nvSpPr>
          <p:cNvPr id="415" name="Shape 415"/>
          <p:cNvSpPr txBox="1"/>
          <p:nvPr>
            <p:ph type="body" idx="1"/>
          </p:nvPr>
        </p:nvSpPr>
        <p:spPr>
          <a:xfrm>
            <a:off x="1376775" y="2364544"/>
            <a:ext cx="6390450" cy="2562300"/>
          </a:xfrm>
          <a:prstGeom prst="rect">
            <a:avLst/>
          </a:prstGeom>
        </p:spPr>
        <p:txBody>
          <a:bodyPr spcFirstLastPara="1" wrap="square" lIns="68568" tIns="68568" rIns="68568" bIns="68568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1600"/>
              </a:spcAft>
              <a:buNone/>
            </a:pPr>
          </a:p>
        </p:txBody>
      </p:sp>
      <p:pic>
        <p:nvPicPr>
          <p:cNvPr id="416" name="Shape 4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337225" y="2364544"/>
            <a:ext cx="4635206" cy="2998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Shape 42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327429" y="2364544"/>
            <a:ext cx="4865408" cy="299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428"/>
          <p:cNvSpPr txBox="1"/>
          <p:nvPr>
            <p:ph type="title"/>
          </p:nvPr>
        </p:nvSpPr>
        <p:spPr>
          <a:xfrm>
            <a:off x="1376458" y="764299"/>
            <a:ext cx="6390450" cy="429525"/>
          </a:xfrm>
          <a:prstGeom prst="rect">
            <a:avLst/>
          </a:prstGeom>
        </p:spPr>
        <p:txBody>
          <a:bodyPr spcFirstLastPara="1" wrap="square" lIns="68568" tIns="68568" rIns="68568" bIns="68568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Derived Character</a:t>
            </a:r>
            <a:r>
              <a:rPr lang="x-none" altLang="en-GB"/>
              <a:t>s = Apomorphies</a:t>
            </a:r>
            <a:endParaRPr lang="x-none" altLang="en-GB"/>
          </a:p>
        </p:txBody>
      </p:sp>
      <p:sp>
        <p:nvSpPr>
          <p:cNvPr id="429" name="Shape 429"/>
          <p:cNvSpPr txBox="1"/>
          <p:nvPr>
            <p:ph type="body" idx="1"/>
          </p:nvPr>
        </p:nvSpPr>
        <p:spPr>
          <a:xfrm>
            <a:off x="1376775" y="2364544"/>
            <a:ext cx="6390450" cy="2562300"/>
          </a:xfrm>
          <a:prstGeom prst="rect">
            <a:avLst/>
          </a:prstGeom>
        </p:spPr>
        <p:txBody>
          <a:bodyPr spcFirstLastPara="1" wrap="square" lIns="68568" tIns="68568" rIns="68568" bIns="68568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1600"/>
              </a:spcAft>
              <a:buNone/>
            </a:pPr>
          </a:p>
        </p:txBody>
      </p:sp>
      <p:pic>
        <p:nvPicPr>
          <p:cNvPr id="430" name="Shape 43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306116" y="2364544"/>
            <a:ext cx="5086054" cy="299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 txBox="1"/>
          <p:nvPr>
            <p:ph type="title"/>
          </p:nvPr>
        </p:nvSpPr>
        <p:spPr>
          <a:xfrm>
            <a:off x="1248505" y="268522"/>
            <a:ext cx="6390450" cy="429525"/>
          </a:xfrm>
          <a:prstGeom prst="rect">
            <a:avLst/>
          </a:prstGeom>
        </p:spPr>
        <p:txBody>
          <a:bodyPr spcFirstLastPara="1" wrap="square" lIns="68568" tIns="68568" rIns="68568" bIns="68568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Shared derived characters </a:t>
            </a:r>
            <a:r>
              <a:rPr lang="x-none" altLang="en-GB"/>
              <a:t>= Synapomorphies</a:t>
            </a:r>
            <a:endParaRPr lang="x-none" altLang="en-GB"/>
          </a:p>
        </p:txBody>
      </p:sp>
      <p:sp>
        <p:nvSpPr>
          <p:cNvPr id="436" name="Shape 436"/>
          <p:cNvSpPr txBox="1"/>
          <p:nvPr>
            <p:ph type="body" idx="1"/>
          </p:nvPr>
        </p:nvSpPr>
        <p:spPr>
          <a:xfrm>
            <a:off x="1376775" y="2364544"/>
            <a:ext cx="6390450" cy="2562300"/>
          </a:xfrm>
          <a:prstGeom prst="rect">
            <a:avLst/>
          </a:prstGeom>
        </p:spPr>
        <p:txBody>
          <a:bodyPr spcFirstLastPara="1" wrap="square" lIns="68568" tIns="68568" rIns="68568" bIns="68568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1600"/>
              </a:spcAft>
              <a:buNone/>
            </a:pPr>
          </a:p>
        </p:txBody>
      </p:sp>
      <p:pic>
        <p:nvPicPr>
          <p:cNvPr id="437" name="Shape 43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306116" y="2364544"/>
            <a:ext cx="5086054" cy="299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 txBox="1"/>
          <p:nvPr>
            <p:ph type="title"/>
          </p:nvPr>
        </p:nvSpPr>
        <p:spPr>
          <a:xfrm>
            <a:off x="1376775" y="174542"/>
            <a:ext cx="6390450" cy="429525"/>
          </a:xfrm>
          <a:prstGeom prst="rect">
            <a:avLst/>
          </a:prstGeom>
        </p:spPr>
        <p:txBody>
          <a:bodyPr spcFirstLastPara="1" wrap="square" lIns="68568" tIns="68568" rIns="68568" bIns="68568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Shared ancestral characters </a:t>
            </a:r>
            <a:r>
              <a:rPr lang="x-none" altLang="en-GB"/>
              <a:t>= Symplesiomorphies</a:t>
            </a:r>
            <a:endParaRPr lang="x-none" altLang="en-GB"/>
          </a:p>
        </p:txBody>
      </p:sp>
      <p:sp>
        <p:nvSpPr>
          <p:cNvPr id="443" name="Shape 443"/>
          <p:cNvSpPr txBox="1"/>
          <p:nvPr>
            <p:ph type="body" idx="1"/>
          </p:nvPr>
        </p:nvSpPr>
        <p:spPr>
          <a:xfrm>
            <a:off x="1376775" y="2364544"/>
            <a:ext cx="6390450" cy="2562300"/>
          </a:xfrm>
          <a:prstGeom prst="rect">
            <a:avLst/>
          </a:prstGeom>
        </p:spPr>
        <p:txBody>
          <a:bodyPr spcFirstLastPara="1" wrap="square" lIns="68568" tIns="68568" rIns="68568" bIns="68568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1600"/>
              </a:spcAft>
              <a:buNone/>
            </a:pPr>
          </a:p>
        </p:txBody>
      </p:sp>
      <p:pic>
        <p:nvPicPr>
          <p:cNvPr id="444" name="Shape 44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317970" y="2364544"/>
            <a:ext cx="5052695" cy="2993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311700" y="586673"/>
            <a:ext cx="8520600" cy="4555200"/>
          </a:xfrm>
        </p:spPr>
        <p:txBody>
          <a:bodyPr>
            <a:normAutofit lnSpcReduction="10000"/>
          </a:bodyPr>
          <a:p>
            <a:pPr marL="114300" indent="0">
              <a:buNone/>
            </a:pPr>
            <a:r>
              <a:rPr lang="en-US" altLang="en-US" b="0" i="0"/>
              <a:t>Overall similarity takes all characters equally</a:t>
            </a:r>
            <a:endParaRPr lang="en-US" altLang="en-US" b="0" i="0"/>
          </a:p>
          <a:p>
            <a:pPr marL="114300" indent="0">
              <a:buNone/>
            </a:pPr>
            <a:endParaRPr lang="en-US" altLang="en-US" b="0" i="0"/>
          </a:p>
          <a:p>
            <a:pPr marL="114300" indent="0">
              <a:buNone/>
            </a:pPr>
            <a:r>
              <a:rPr lang="en-US" altLang="en-US" b="0" i="0"/>
              <a:t>Cladistics only considers </a:t>
            </a:r>
            <a:r>
              <a:rPr lang="en-US" altLang="en-US" b="0"/>
              <a:t>synapomorphies, </a:t>
            </a:r>
            <a:r>
              <a:rPr lang="en-US" altLang="en-US" b="0" i="0"/>
              <a:t>and excludes </a:t>
            </a:r>
            <a:r>
              <a:rPr lang="en-US" altLang="en-US" b="0"/>
              <a:t>autapomorphies &amp; symplesiomorphies</a:t>
            </a:r>
            <a:endParaRPr lang="en-US" altLang="en-US" b="0"/>
          </a:p>
          <a:p>
            <a:pPr marL="114300" indent="0">
              <a:buNone/>
            </a:pPr>
            <a:endParaRPr lang="en-US" altLang="en-US" b="0"/>
          </a:p>
          <a:p>
            <a:pPr marL="114300" indent="0">
              <a:buNone/>
            </a:pPr>
            <a:r>
              <a:rPr lang="en-US" altLang="en-US" b="0" i="0"/>
              <a:t>Best supported hypothesis: Minimizing # of steps</a:t>
            </a:r>
            <a:endParaRPr lang="en-US" altLang="en-US" b="0"/>
          </a:p>
          <a:p>
            <a:pPr marL="114300" indent="0">
              <a:buNone/>
            </a:pPr>
            <a:endParaRPr lang="en-US" altLang="en-US" b="0" i="0"/>
          </a:p>
          <a:p>
            <a:pPr marL="114300" indent="0">
              <a:buNone/>
            </a:pPr>
            <a:r>
              <a:rPr lang="en-US" altLang="en-US" b="0" i="0"/>
              <a:t>Critical role of outgroup to distinguish derived vs. ancestral characters</a:t>
            </a:r>
            <a:endParaRPr lang="en-US" altLang="en-US" b="0" i="0"/>
          </a:p>
          <a:p>
            <a:pPr marL="114300" indent="0">
              <a:buNone/>
            </a:pPr>
            <a:endParaRPr lang="en-US" altLang="en-US" b="0" i="0"/>
          </a:p>
          <a:p>
            <a:pPr marL="114300" indent="0">
              <a:buNone/>
            </a:pPr>
            <a:r>
              <a:rPr lang="en-US" altLang="en-US" b="0" i="0"/>
              <a:t>Also note that characters are defined as derived/ancestral relative to the taxa being considered (the ingroup)</a:t>
            </a:r>
            <a:endParaRPr lang="en-US" altLang="en-US" b="0" i="0"/>
          </a:p>
          <a:p>
            <a:pPr marL="114300" indent="0">
              <a:buNone/>
            </a:pPr>
            <a:endParaRPr lang="en-US" altLang="en-US" b="0" i="0"/>
          </a:p>
          <a:p>
            <a:pPr marL="114300" indent="0">
              <a:buNone/>
            </a:pPr>
            <a:endParaRPr lang="en-US" altLang="en-US" b="0" i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308366" y="172610"/>
            <a:ext cx="8520600" cy="572700"/>
          </a:xfrm>
        </p:spPr>
        <p:txBody>
          <a:bodyPr>
            <a:normAutofit fontScale="90000"/>
          </a:bodyPr>
          <a:p>
            <a:r>
              <a:rPr lang="x-none" altLang="en-US"/>
              <a:t>Conflict = Homoplasy</a:t>
            </a:r>
            <a:br>
              <a:rPr lang="x-none" altLang="en-US"/>
            </a:br>
            <a:r>
              <a:rPr lang="en-US" altLang="x-none"/>
              <a:t>Evolutionary reversals and/or convergence</a:t>
            </a:r>
            <a:endParaRPr lang="en-US" altLang="x-non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150" y="2402999"/>
            <a:ext cx="6482715" cy="39909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398240" y="155465"/>
            <a:ext cx="6390450" cy="572700"/>
          </a:xfrm>
        </p:spPr>
        <p:txBody>
          <a:bodyPr>
            <a:normAutofit fontScale="90000"/>
          </a:bodyPr>
          <a:p>
            <a:r>
              <a:rPr lang="x-none" altLang="en-US"/>
              <a:t>Parsimony informative vs. uninformative</a:t>
            </a:r>
            <a:endParaRPr lang="x-none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583" y="2277428"/>
            <a:ext cx="7019449" cy="39933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470910" y="3276600"/>
            <a:ext cx="5184458" cy="30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350">
                <a:solidFill>
                  <a:schemeClr val="tx1"/>
                </a:solidFill>
              </a:rPr>
              <a:t>Characters</a:t>
            </a:r>
            <a:endParaRPr lang="en-US" altLang="en-US" sz="135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398145" y="1478598"/>
            <a:ext cx="5842159" cy="3416618"/>
          </a:xfrm>
        </p:spPr>
        <p:txBody>
          <a:bodyPr/>
          <a:p>
            <a:pPr marL="114300" indent="0">
              <a:buNone/>
            </a:pPr>
            <a:r>
              <a:rPr lang="en-US" altLang="en-US"/>
              <a:t>Must have at least 2 taxa with shared traits in 2 different states. </a:t>
            </a:r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265980" y="331043"/>
            <a:ext cx="8520600" cy="572700"/>
          </a:xfrm>
        </p:spPr>
        <p:txBody>
          <a:bodyPr>
            <a:normAutofit fontScale="90000"/>
          </a:bodyPr>
          <a:p>
            <a:r>
              <a:rPr lang="en-US" altLang="en-US"/>
              <a:t>Generalized Parsimony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114300" indent="0">
              <a:buNone/>
            </a:pPr>
            <a:r>
              <a:rPr lang="en-US" altLang="en-US"/>
              <a:t>	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1874996"/>
            <a:ext cx="4423410" cy="3378041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8108" y="5182553"/>
            <a:ext cx="6677978" cy="714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350"/>
              <a:t>By Peter Forey</a:t>
            </a:r>
            <a:br>
              <a:rPr lang="en-US" sz="1350"/>
            </a:br>
            <a:r>
              <a:rPr lang="en-US" sz="1350"/>
              <a:t>https://www.palass.org/publications/newsletter/cladistics-palaeontologists/cladistics-palaeontologists-part-4-optimisation</a:t>
            </a:r>
            <a:endParaRPr lang="en-US" sz="1350"/>
          </a:p>
        </p:txBody>
      </p:sp>
      <p:sp>
        <p:nvSpPr>
          <p:cNvPr id="6" name="Text Box 5"/>
          <p:cNvSpPr txBox="1"/>
          <p:nvPr/>
        </p:nvSpPr>
        <p:spPr>
          <a:xfrm>
            <a:off x="5438775" y="1483519"/>
            <a:ext cx="230124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100"/>
              <a:t>Step matrices</a:t>
            </a:r>
            <a:endParaRPr lang="en-US" altLang="en-US" sz="2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311700" y="273327"/>
            <a:ext cx="8520600" cy="763600"/>
          </a:xfrm>
        </p:spPr>
        <p:txBody>
          <a:bodyPr>
            <a:normAutofit fontScale="90000"/>
          </a:bodyPr>
          <a:p>
            <a:r>
              <a:rPr lang="en-US" altLang="en-US"/>
              <a:t>Homology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311700" y="1216593"/>
            <a:ext cx="8520600" cy="4555200"/>
          </a:xfrm>
        </p:spPr>
        <p:txBody>
          <a:bodyPr/>
          <a:p>
            <a:pPr marL="114300" indent="0">
              <a:buNone/>
            </a:pPr>
            <a:r>
              <a:rPr lang="en-US" altLang="en-US" i="0"/>
              <a:t>Primary homology - Initial hypothesis of homology due to similarity</a:t>
            </a:r>
            <a:endParaRPr lang="en-US" altLang="en-US" i="0"/>
          </a:p>
          <a:p>
            <a:pPr marL="114300" indent="0">
              <a:buNone/>
            </a:pPr>
            <a:endParaRPr lang="en-US" altLang="en-US" i="0"/>
          </a:p>
          <a:p>
            <a:pPr marL="114300" indent="0">
              <a:buNone/>
            </a:pPr>
            <a:r>
              <a:rPr lang="en-US" altLang="en-US" i="0"/>
              <a:t>Secondary homology - Implied homology single origin on phylogeny by parsimony analysis</a:t>
            </a:r>
            <a:endParaRPr lang="en-US" altLang="en-US" i="0"/>
          </a:p>
          <a:p>
            <a:pPr marL="114300" indent="0">
              <a:buNone/>
            </a:pPr>
            <a:endParaRPr lang="en-US" altLang="en-US" i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1366" y="3264694"/>
            <a:ext cx="5520690" cy="1711643"/>
          </a:xfrm>
          <a:prstGeom prst="rect">
            <a:avLst/>
          </a:prstGeom>
        </p:spPr>
      </p:pic>
      <p:sp>
        <p:nvSpPr>
          <p:cNvPr id="6" name="Title 1"/>
          <p:cNvSpPr/>
          <p:nvPr/>
        </p:nvSpPr>
        <p:spPr>
          <a:xfrm>
            <a:off x="311468" y="5084445"/>
            <a:ext cx="8520589" cy="651034"/>
          </a:xfrm>
          <a:prstGeom prst="rect">
            <a:avLst/>
          </a:prstGeom>
        </p:spPr>
        <p:txBody>
          <a:bodyPr vert="horz" wrap="square" lIns="68568" tIns="68568" rIns="68568" bIns="68568" rtlCol="0" anchor="t" anchorCtr="0"/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 kern="1200">
                <a:solidFill>
                  <a:schemeClr val="tx1"/>
                </a:solidFill>
                <a:latin typeface="Ubuntu" charset="0"/>
                <a:ea typeface="+mj-ea"/>
                <a:cs typeface="Ubuntu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r>
              <a:rPr lang="en-US" altLang="en-US" sz="2000" i="1">
                <a:latin typeface="Open Sans Condensed" panose="020B0806030504020204" charset="0"/>
                <a:cs typeface="Open Sans Condensed" panose="020B0806030504020204" charset="0"/>
              </a:rPr>
              <a:t>Underlines importance of character construction - often surprisingly subjective</a:t>
            </a:r>
            <a:endParaRPr lang="en-US" altLang="en-US" sz="2000" i="1">
              <a:latin typeface="Open Sans Condensed" panose="020B0806030504020204" charset="0"/>
              <a:cs typeface="Open Sans Condensed" panose="020B0806030504020204" charset="0"/>
            </a:endParaRPr>
          </a:p>
          <a:p>
            <a:pPr algn="ctr"/>
            <a:r>
              <a:rPr lang="en-US" altLang="en-US" sz="2000" i="1">
                <a:latin typeface="Open Sans Condensed" panose="020B0806030504020204" charset="0"/>
                <a:cs typeface="Open Sans Condensed" panose="020B0806030504020204" charset="0"/>
              </a:rPr>
              <a:t>“Reciprocal illumination” Hennig 1966</a:t>
            </a:r>
            <a:endParaRPr lang="en-US" altLang="en-US" sz="2000" i="1">
              <a:latin typeface="Open Sans Condensed" panose="020B0806030504020204" charset="0"/>
              <a:cs typeface="Open Sans Condensed" panose="020B080603050402020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703263" y="165259"/>
            <a:ext cx="6758464" cy="671513"/>
          </a:xfrm>
        </p:spPr>
        <p:txBody>
          <a:bodyPr>
            <a:normAutofit fontScale="90000"/>
          </a:bodyPr>
          <a:p>
            <a:r>
              <a:rPr lang="x-none" altLang="en-US"/>
              <a:t>History of phylogenetic inference: Statistical phylogenetics</a:t>
            </a:r>
            <a:endParaRPr lang="x-none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18833" y="2409666"/>
            <a:ext cx="4602956" cy="3569494"/>
          </a:xfrm>
        </p:spPr>
        <p:txBody>
          <a:bodyPr>
            <a:normAutofit fontScale="70000"/>
          </a:bodyPr>
          <a:p>
            <a:pPr marL="114300" indent="0">
              <a:buNone/>
            </a:pPr>
            <a:r>
              <a:rPr lang="x-none" altLang="en-US" b="0" i="0"/>
              <a:t>Luca Cavalli-Sforza, Anthony Edwards and later, Joseph Felsenstein</a:t>
            </a:r>
            <a:endParaRPr lang="x-none" altLang="en-US" b="0" i="0"/>
          </a:p>
          <a:p>
            <a:pPr marL="114300" indent="0">
              <a:buNone/>
            </a:pPr>
            <a:endParaRPr lang="x-none" altLang="en-US" b="0" i="0"/>
          </a:p>
          <a:p>
            <a:pPr marL="114300" indent="0">
              <a:buNone/>
            </a:pPr>
            <a:r>
              <a:rPr lang="x-none" altLang="en-US" b="0" i="0"/>
              <a:t>Probabilistic models of trait evolution</a:t>
            </a:r>
            <a:endParaRPr lang="x-none" altLang="en-US" b="0" i="0"/>
          </a:p>
          <a:p>
            <a:pPr marL="114300" indent="0">
              <a:buNone/>
            </a:pPr>
            <a:endParaRPr lang="x-none" altLang="en-US" b="0" i="0"/>
          </a:p>
          <a:p>
            <a:pPr marL="114300" indent="0">
              <a:buNone/>
            </a:pPr>
            <a:r>
              <a:rPr lang="x-none" altLang="en-US" b="0" i="0"/>
              <a:t>Showed statistical issues with parsimony, e.g. "the Felsenstein zone"</a:t>
            </a:r>
            <a:endParaRPr lang="x-none" altLang="en-US" b="0" i="0"/>
          </a:p>
          <a:p>
            <a:pPr marL="114300" indent="0">
              <a:buNone/>
            </a:pPr>
            <a:r>
              <a:rPr lang="en-US" altLang="x-none" b="0" i="0"/>
              <a:t>	-&gt; Highlighted the importance of 	simulation!</a:t>
            </a:r>
            <a:endParaRPr lang="x-none" altLang="en-US" b="0" i="0"/>
          </a:p>
          <a:p>
            <a:pPr marL="114300" indent="0">
              <a:buNone/>
            </a:pPr>
            <a:endParaRPr lang="x-none" altLang="en-US" b="0" i="0"/>
          </a:p>
          <a:p>
            <a:pPr marL="114300" indent="0">
              <a:buNone/>
            </a:pPr>
            <a:r>
              <a:rPr lang="x-none" altLang="en-US" b="0" i="0"/>
              <a:t>Maximum Likelihood &amp; Bayesian inference</a:t>
            </a:r>
            <a:endParaRPr lang="x-none" altLang="en-US" b="0" i="0"/>
          </a:p>
          <a:p>
            <a:pPr marL="114300" indent="0">
              <a:buNone/>
            </a:pPr>
            <a:endParaRPr lang="x-none" altLang="en-US" b="0" i="0"/>
          </a:p>
          <a:p>
            <a:pPr marL="114300" indent="0">
              <a:buNone/>
            </a:pPr>
            <a:endParaRPr lang="x-none" altLang="en-US" b="0" i="0"/>
          </a:p>
          <a:p>
            <a:pPr marL="114300" indent="0">
              <a:buNone/>
            </a:pPr>
            <a:endParaRPr lang="x-none" altLang="en-US" b="0" i="0"/>
          </a:p>
          <a:p>
            <a:pPr marL="114300" indent="0">
              <a:buNone/>
            </a:pPr>
            <a:endParaRPr lang="x-none" altLang="en-US" b="0" i="0"/>
          </a:p>
          <a:p>
            <a:pPr marL="114300" indent="0">
              <a:buNone/>
            </a:pPr>
            <a:endParaRPr lang="x-none" altLang="en-US" b="0" i="0"/>
          </a:p>
          <a:p>
            <a:pPr marL="114300" indent="0">
              <a:buNone/>
            </a:pPr>
            <a:endParaRPr lang="x-none" altLang="en-US" b="0" i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9839" y="1716405"/>
            <a:ext cx="2001203" cy="2425541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329680" y="4267835"/>
            <a:ext cx="18224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2000">
                <a:latin typeface="Open Sans Condensed" panose="020B0806030504020204" charset="0"/>
                <a:cs typeface="Open Sans Condensed" panose="020B0806030504020204" charset="0"/>
              </a:rPr>
              <a:t>Joe Felsenstein</a:t>
            </a:r>
            <a:endParaRPr lang="x-none" altLang="en-US" sz="2000">
              <a:latin typeface="Open Sans Condensed" panose="020B0806030504020204" charset="0"/>
              <a:cs typeface="Open Sans Condensed" panose="020B0806030504020204" charset="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1314386" y="290879"/>
            <a:ext cx="6390450" cy="572700"/>
          </a:xfrm>
        </p:spPr>
        <p:txBody>
          <a:bodyPr>
            <a:normAutofit fontScale="90000"/>
          </a:bodyPr>
          <a:p>
            <a:pPr algn="ctr"/>
            <a:r>
              <a:rPr lang="x-none" altLang="en-US"/>
              <a:t>The Felsenstein Zone &amp; </a:t>
            </a:r>
            <a:br>
              <a:rPr lang="x-none" altLang="en-US"/>
            </a:br>
            <a:r>
              <a:rPr lang="x-none" altLang="en-US"/>
              <a:t>"Long-branch attraction"</a:t>
            </a:r>
            <a:endParaRPr lang="x-none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11310" r="4199" b="45266"/>
          <a:stretch>
            <a:fillRect/>
          </a:stretch>
        </p:blipFill>
        <p:spPr>
          <a:xfrm>
            <a:off x="1263015" y="2090261"/>
            <a:ext cx="7264718" cy="2469833"/>
          </a:xfrm>
          <a:prstGeom prst="rect">
            <a:avLst/>
          </a:prstGeom>
        </p:spPr>
      </p:pic>
      <p:sp>
        <p:nvSpPr>
          <p:cNvPr id="7" name="Title 1"/>
          <p:cNvSpPr/>
          <p:nvPr/>
        </p:nvSpPr>
        <p:spPr>
          <a:xfrm>
            <a:off x="1376775" y="5094337"/>
            <a:ext cx="6390450" cy="572700"/>
          </a:xfrm>
          <a:prstGeom prst="rect">
            <a:avLst/>
          </a:prstGeom>
        </p:spPr>
        <p:txBody>
          <a:bodyPr vert="horz" wrap="square" lIns="68568" tIns="68568" rIns="68568" bIns="68568" rtlCol="0" anchor="t" anchorCtr="0"/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Arial Black" panose="020B0A04020102020204" charset="0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pPr algn="ctr"/>
            <a:r>
              <a:rPr lang="x-none" altLang="en-US" sz="1800">
                <a:latin typeface="Open Sans Condensed" panose="020B0806030504020204" charset="0"/>
                <a:cs typeface="Open Sans Condensed" panose="020B0806030504020204" charset="0"/>
              </a:rPr>
              <a:t>More generally, parsimony fell out of favor for molecular data due to more flexibility in incorporating substition models in statistical phylogenetics</a:t>
            </a:r>
            <a:endParaRPr lang="x-none" altLang="en-US" sz="1800">
              <a:latin typeface="Open Sans Condensed" panose="020B0806030504020204" charset="0"/>
              <a:cs typeface="Open Sans Condensed" panose="020B0806030504020204" charset="0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My oversimplification of the problem...</a:t>
            </a:r>
            <a:endParaRPr lang="en-US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>
            <a:normAutofit lnSpcReduction="20000"/>
          </a:bodyPr>
          <a:p>
            <a:pPr marL="114300" indent="0">
              <a:buNone/>
            </a:pPr>
            <a:r>
              <a:rPr lang="en-US" altLang="en-US" b="0" i="0"/>
              <a:t>Under the cladistics philosophy (model), homoplasy is a “mistake” in character construction</a:t>
            </a:r>
            <a:br>
              <a:rPr lang="en-US" altLang="en-US" b="0" i="0"/>
            </a:br>
            <a:endParaRPr lang="en-US" altLang="en-US" b="0" i="0"/>
          </a:p>
          <a:p>
            <a:pPr marL="114300" indent="0">
              <a:buNone/>
            </a:pPr>
            <a:r>
              <a:rPr lang="en-US" altLang="en-US" b="0" i="0"/>
              <a:t>	Coding independently evolved traits the same, look 	closer and you'll see they're different!! (e.g. wings of 	birds &amp; wings of bats)</a:t>
            </a:r>
            <a:endParaRPr lang="en-US" altLang="en-US" b="0" i="0"/>
          </a:p>
          <a:p>
            <a:pPr marL="114300" indent="0">
              <a:buNone/>
            </a:pPr>
            <a:r>
              <a:rPr lang="en-US" altLang="en-US" b="0" i="0"/>
              <a:t>	</a:t>
            </a:r>
            <a:endParaRPr lang="en-US" altLang="en-US" b="0" i="0"/>
          </a:p>
          <a:p>
            <a:pPr marL="114300" indent="0">
              <a:buNone/>
            </a:pPr>
            <a:r>
              <a:rPr lang="en-US" altLang="en-US" b="0" i="0"/>
              <a:t>	But for DNA, complete convergence is real (a “T” is a 	“T” is a “T”, no matter how it became that)</a:t>
            </a:r>
            <a:endParaRPr lang="en-US" altLang="en-US" b="0" i="0"/>
          </a:p>
          <a:p>
            <a:pPr marL="114300" indent="0">
              <a:buNone/>
            </a:pPr>
            <a:endParaRPr lang="en-US" altLang="en-US" b="0" i="0"/>
          </a:p>
          <a:p>
            <a:pPr marL="114300" indent="0">
              <a:buNone/>
            </a:pPr>
            <a:r>
              <a:rPr lang="en-US" altLang="en-US" b="0" i="0"/>
              <a:t>	As similarity by convergence becomes more common 	than similarity by shared ancestry, parsimony fails, 	and no “looking closer” at the character will save it. </a:t>
            </a:r>
            <a:endParaRPr lang="en-US" altLang="en-US" b="0" i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311785" y="593090"/>
            <a:ext cx="8698230" cy="763905"/>
          </a:xfrm>
        </p:spPr>
        <p:txBody>
          <a:bodyPr>
            <a:noAutofit/>
          </a:bodyPr>
          <a:p>
            <a:r>
              <a:rPr lang="x-none" altLang="en-US" sz="2400">
                <a:ea typeface="Ubuntu" charset="0"/>
              </a:rPr>
              <a:t>Parsimony </a:t>
            </a:r>
            <a:r>
              <a:rPr lang="en-US" altLang="x-none" sz="2400">
                <a:ea typeface="Ubuntu" charset="0"/>
              </a:rPr>
              <a:t>main assumption “Occam's Razor” has unclear implications for what this means for the assumed evolutionary process</a:t>
            </a:r>
            <a:br>
              <a:rPr lang="en-US" altLang="x-none" sz="2400">
                <a:ea typeface="Ubuntu" charset="0"/>
              </a:rPr>
            </a:br>
            <a:br>
              <a:rPr lang="en-US" altLang="x-none" sz="2400">
                <a:ea typeface="Ubuntu" charset="0"/>
              </a:rPr>
            </a:br>
            <a:r>
              <a:rPr lang="en-US" altLang="x-none" sz="2100">
                <a:ea typeface="Ubuntu" charset="0"/>
              </a:rPr>
              <a:t>Ultimately -&gt;</a:t>
            </a:r>
            <a:r>
              <a:rPr lang="en-US" altLang="x-none" sz="3000">
                <a:ea typeface="Ubuntu" charset="0"/>
              </a:rPr>
              <a:t> </a:t>
            </a:r>
            <a:r>
              <a:rPr lang="x-none" altLang="en-US" sz="2100">
                <a:ea typeface="Ubuntu" charset="0"/>
              </a:rPr>
              <a:t>rare changes </a:t>
            </a:r>
            <a:r>
              <a:rPr lang="en-US" altLang="x-none" sz="2100">
                <a:ea typeface="Ubuntu" charset="0"/>
              </a:rPr>
              <a:t>or</a:t>
            </a:r>
            <a:r>
              <a:rPr lang="x-none" altLang="en-US" sz="2100">
                <a:ea typeface="Ubuntu" charset="0"/>
              </a:rPr>
              <a:t> "no common </a:t>
            </a:r>
            <a:r>
              <a:rPr lang="en-US" altLang="x-none" sz="2100">
                <a:ea typeface="Ubuntu" charset="0"/>
              </a:rPr>
              <a:t>	</a:t>
            </a:r>
            <a:r>
              <a:rPr lang="x-none" altLang="en-US" sz="2100">
                <a:ea typeface="Ubuntu" charset="0"/>
              </a:rPr>
              <a:t>mechanism" </a:t>
            </a:r>
            <a:br>
              <a:rPr lang="x-none" altLang="en-US" sz="2100">
                <a:ea typeface="Ubuntu" charset="0"/>
              </a:rPr>
            </a:br>
            <a:r>
              <a:rPr lang="en-US" altLang="x-none" sz="2100">
                <a:ea typeface="Ubuntu" charset="0"/>
              </a:rPr>
              <a:t>			(Tuffley and Steele 1997)</a:t>
            </a:r>
            <a:br>
              <a:rPr lang="x-none" altLang="en-US" sz="3000">
                <a:ea typeface="Ubuntu" charset="0"/>
              </a:rPr>
            </a:br>
            <a:br>
              <a:rPr lang="x-none" altLang="en-US" sz="3000">
                <a:ea typeface="Ubuntu" charset="0"/>
              </a:rPr>
            </a:br>
            <a:endParaRPr lang="x-none" altLang="en-US" sz="3000">
              <a:ea typeface="Ubuntu" charset="0"/>
            </a:endParaRPr>
          </a:p>
        </p:txBody>
      </p:sp>
      <p:sp>
        <p:nvSpPr>
          <p:cNvPr id="4" name="Title 1"/>
          <p:cNvSpPr/>
          <p:nvPr/>
        </p:nvSpPr>
        <p:spPr>
          <a:xfrm>
            <a:off x="1413986" y="3607118"/>
            <a:ext cx="6390323" cy="1381125"/>
          </a:xfrm>
          <a:prstGeom prst="rect">
            <a:avLst/>
          </a:prstGeom>
        </p:spPr>
        <p:txBody>
          <a:bodyPr vert="horz" wrap="square" lIns="68568" tIns="68568" rIns="68568" bIns="68568" rtlCol="0" anchor="t" anchorCtr="0">
            <a:normAutofit fontScale="80000"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Arial Black" panose="020B0A04020102020204" charset="0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r>
              <a:rPr lang="x-none" altLang="en-US" sz="3300">
                <a:latin typeface="Open Sans Condensed" panose="020B0806030504020204" charset="0"/>
                <a:ea typeface="Ubuntu" charset="0"/>
                <a:cs typeface="Open Sans Condensed" panose="020B0806030504020204" charset="0"/>
              </a:rPr>
              <a:t>Inconsistent estimator - An estimator that gets more and more certain of the wrong answer as more data is added</a:t>
            </a:r>
            <a:endParaRPr lang="x-none" altLang="en-US" sz="3300">
              <a:latin typeface="Open Sans Condensed" panose="020B0806030504020204" charset="0"/>
              <a:ea typeface="Ubuntu" charset="0"/>
              <a:cs typeface="Open Sans Condensed" panose="020B0806030504020204" charset="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3" y="1544955"/>
            <a:ext cx="5697379" cy="3143250"/>
          </a:xfrm>
          <a:prstGeom prst="rect">
            <a:avLst/>
          </a:prstGeom>
        </p:spPr>
      </p:pic>
      <p:sp>
        <p:nvSpPr>
          <p:cNvPr id="2" name="Title 1"/>
          <p:cNvSpPr/>
          <p:nvPr>
            <p:ph type="title"/>
          </p:nvPr>
        </p:nvSpPr>
        <p:spPr>
          <a:xfrm>
            <a:off x="183769" y="254208"/>
            <a:ext cx="6390450" cy="572700"/>
          </a:xfrm>
        </p:spPr>
        <p:txBody>
          <a:bodyPr>
            <a:normAutofit fontScale="90000"/>
          </a:bodyPr>
          <a:p>
            <a:r>
              <a:rPr lang="x-none" altLang="en-US"/>
              <a:t>Conflict in science</a:t>
            </a:r>
            <a:endParaRPr lang="x-none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2058353" y="3391853"/>
            <a:ext cx="2639854" cy="416719"/>
          </a:xfrm>
        </p:spPr>
        <p:txBody>
          <a:bodyPr>
            <a:normAutofit fontScale="50000"/>
          </a:bodyPr>
          <a:p>
            <a:pPr marL="114300" indent="0">
              <a:buNone/>
            </a:pPr>
            <a:r>
              <a:rPr lang="x-none" altLang="en-US"/>
              <a:t>#ParsimonyGate</a:t>
            </a:r>
            <a:endParaRPr lang="x-none" altLang="en-US"/>
          </a:p>
        </p:txBody>
      </p:sp>
      <p:pic>
        <p:nvPicPr>
          <p:cNvPr id="4" name="Picture 3" descr="FelsensteinButton"/>
          <p:cNvPicPr>
            <a:picLocks noChangeAspect="1"/>
          </p:cNvPicPr>
          <p:nvPr/>
        </p:nvPicPr>
        <p:blipFill>
          <a:blip r:embed="rId2"/>
          <a:srcRect l="7793" t="11096" r="9773" b="12193"/>
          <a:stretch>
            <a:fillRect/>
          </a:stretch>
        </p:blipFill>
        <p:spPr>
          <a:xfrm>
            <a:off x="5898356" y="1241108"/>
            <a:ext cx="3066098" cy="308657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 fontScale="90000"/>
          </a:bodyPr>
          <a:p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" y="861536"/>
            <a:ext cx="9090184" cy="473154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x-none" altLang="en-US"/>
              <a:t>Parsimony still commonly used for:</a:t>
            </a:r>
            <a:endParaRPr lang="x-none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982504" y="2009775"/>
            <a:ext cx="7849553" cy="3416618"/>
          </a:xfrm>
        </p:spPr>
        <p:txBody>
          <a:bodyPr/>
          <a:p>
            <a:pPr marL="114300" indent="0">
              <a:buNone/>
            </a:pPr>
            <a:r>
              <a:rPr lang="x-none" altLang="en-US" sz="2400" b="0" i="0"/>
              <a:t>Morphological analyses (though probabilistic models exist here too)</a:t>
            </a:r>
            <a:endParaRPr lang="x-none" altLang="en-US" sz="2400" b="0" i="0"/>
          </a:p>
          <a:p>
            <a:pPr marL="114300" indent="0">
              <a:buNone/>
            </a:pPr>
            <a:endParaRPr lang="x-none" altLang="en-US" sz="2400" b="0" i="0"/>
          </a:p>
          <a:p>
            <a:pPr marL="114300" indent="0">
              <a:buNone/>
            </a:pPr>
            <a:r>
              <a:rPr lang="x-none" altLang="en-US" sz="2400" b="0" i="0"/>
              <a:t>Starting trees</a:t>
            </a:r>
            <a:endParaRPr lang="x-none" altLang="en-US" sz="2400" b="0" i="0"/>
          </a:p>
          <a:p>
            <a:pPr marL="114300" indent="0">
              <a:buNone/>
            </a:pPr>
            <a:endParaRPr lang="x-none" altLang="en-US" sz="2400" b="0" i="0"/>
          </a:p>
          <a:p>
            <a:pPr marL="114300" indent="0">
              <a:buNone/>
            </a:pPr>
            <a:r>
              <a:rPr lang="x-none" altLang="en-US" sz="2400" b="0" i="0"/>
              <a:t>Understanding history of trait change</a:t>
            </a:r>
            <a:r>
              <a:rPr lang="en-US" altLang="x-none" sz="2400" b="0" i="0"/>
              <a:t> (ancestral state reconstructions)</a:t>
            </a:r>
            <a:endParaRPr lang="en-US" altLang="x-none" sz="2400" b="0" i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6889</Words>
  <Application>WPS Presentation</Application>
  <PresentationFormat>On-screen Show (4:3)</PresentationFormat>
  <Paragraphs>282</Paragraphs>
  <Slides>49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70" baseType="lpstr">
      <vt:lpstr>Arial</vt:lpstr>
      <vt:lpstr>SimSun</vt:lpstr>
      <vt:lpstr>Wingdings</vt:lpstr>
      <vt:lpstr>Ubuntu</vt:lpstr>
      <vt:lpstr>DejaVu Sans</vt:lpstr>
      <vt:lpstr>Open Sans Condensed</vt:lpstr>
      <vt:lpstr>C059</vt:lpstr>
      <vt:lpstr>Courier New</vt:lpstr>
      <vt:lpstr>Microsoft YaHei</vt:lpstr>
      <vt:lpstr>Droid Sans Fallback</vt:lpstr>
      <vt:lpstr>Arial Unicode MS</vt:lpstr>
      <vt:lpstr>Calibri</vt:lpstr>
      <vt:lpstr>Proxima Nova</vt:lpstr>
      <vt:lpstr>Open Sans Condensed</vt:lpstr>
      <vt:lpstr>Noto Nastaliq Urdu</vt:lpstr>
      <vt:lpstr>Calibri</vt:lpstr>
      <vt:lpstr>OpenSymbol</vt:lpstr>
      <vt:lpstr>MS PGothic</vt:lpstr>
      <vt:lpstr>Arial Black</vt:lpstr>
      <vt:lpstr>Noto Sans Symbols2</vt:lpstr>
      <vt:lpstr>Office Theme</vt:lpstr>
      <vt:lpstr>Macroevolution</vt:lpstr>
      <vt:lpstr>4. What are your goals? </vt:lpstr>
      <vt:lpstr>Syllabus</vt:lpstr>
      <vt:lpstr>Introductions</vt:lpstr>
      <vt:lpstr>Why phylogeny?</vt:lpstr>
      <vt:lpstr>How many ancestors do you have?</vt:lpstr>
      <vt:lpstr>Consider your personal family tree</vt:lpstr>
      <vt:lpstr>Counting ancestors</vt:lpstr>
      <vt:lpstr>What does a phylogeny represent?</vt:lpstr>
      <vt:lpstr>Branches represent population ancestry</vt:lpstr>
      <vt:lpstr>What do nodes represent?</vt:lpstr>
      <vt:lpstr>Nodes represent speciation events</vt:lpstr>
      <vt:lpstr>Terminology</vt:lpstr>
      <vt:lpstr>The goal of taxonomy and systematics is to represent monophyly</vt:lpstr>
      <vt:lpstr>Practice question 1</vt:lpstr>
      <vt:lpstr>Assignment I: Canvas self-assessment</vt:lpstr>
      <vt:lpstr>Macroevolution, systematics, phylogenetics, taxonomy, biodiversity science, phylogenetic comparative methods, oh my</vt:lpstr>
      <vt:lpstr>My terminology for macroevolution</vt:lpstr>
      <vt:lpstr>What is systematics?</vt:lpstr>
      <vt:lpstr>Going backwards- inferring phylogeny</vt:lpstr>
      <vt:lpstr>How can we find the "true" tree? (Is there a true tree?!?)</vt:lpstr>
      <vt:lpstr>Tree space is HUGE.</vt:lpstr>
      <vt:lpstr>A brief history of phylogenetics</vt:lpstr>
      <vt:lpstr>The four cannibalistic schools of phylogenetics history</vt:lpstr>
      <vt:lpstr>History of phylogenetics: Evolutionary taxonomy</vt:lpstr>
      <vt:lpstr>History of phylogenetics: Phenetics</vt:lpstr>
      <vt:lpstr>History of phylogenetics: Phenetics</vt:lpstr>
      <vt:lpstr>Distance methods</vt:lpstr>
      <vt:lpstr>History of phylogenetics: Cladistics</vt:lpstr>
      <vt:lpstr>PowerPoint 演示文稿</vt:lpstr>
      <vt:lpstr>What’s the phylogenetic relationship?</vt:lpstr>
      <vt:lpstr>PowerPoint 演示文稿</vt:lpstr>
      <vt:lpstr>Parsimony</vt:lpstr>
      <vt:lpstr>PowerPoint 演示文稿</vt:lpstr>
      <vt:lpstr>Derived Characters = Apomorphies</vt:lpstr>
      <vt:lpstr>Shared derived characters = Synapomorphies</vt:lpstr>
      <vt:lpstr>Shared ancestral characters = Symplesiomorphies</vt:lpstr>
      <vt:lpstr>PowerPoint 演示文稿</vt:lpstr>
      <vt:lpstr>Conflict = Homoplasy Evolutionary reversals and/or convergence</vt:lpstr>
      <vt:lpstr>Parsimony informative vs. uninformative</vt:lpstr>
      <vt:lpstr>Generalized Parsimony</vt:lpstr>
      <vt:lpstr>Homology</vt:lpstr>
      <vt:lpstr>History of phylogenetic inference: Statistical phylogenetics</vt:lpstr>
      <vt:lpstr>The Felsenstein Zone &amp;  "Long-branch attraction"</vt:lpstr>
      <vt:lpstr>My oversimplification of the problem...</vt:lpstr>
      <vt:lpstr>Parsimony main assumption “Occam's Razor” has unclear implications for what this means for the assumed evolutionary process  Ultimately -&gt; rare changes or "no common 	mechanism"  			(Tuffley and Steele 1997)  </vt:lpstr>
      <vt:lpstr>Conflict in science</vt:lpstr>
      <vt:lpstr>PowerPoint 演示文稿</vt:lpstr>
      <vt:lpstr>Parsimony still commonly used for: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Macroevolution &amp; Phylogenetics</dc:title>
  <dc:creator>juyeda</dc:creator>
  <cp:lastModifiedBy>juyeda</cp:lastModifiedBy>
  <cp:revision>519</cp:revision>
  <dcterms:created xsi:type="dcterms:W3CDTF">2026-08-25T14:32:32Z</dcterms:created>
  <dcterms:modified xsi:type="dcterms:W3CDTF">2026-08-25T14:32:32Z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1033-11.1.0.11733</vt:lpwstr>
  </property>
  <property fmtid="{D5CDD505-2E9C-101B-9397-08002B2CF9AE}" pid="3" name="ICV">
    <vt:lpwstr/>
  </property>
</Properties>
</file>