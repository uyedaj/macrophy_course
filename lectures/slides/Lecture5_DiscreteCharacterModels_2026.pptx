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333" r:id="rId2"/>
    <p:sldId id="309" r:id="rId3"/>
    <p:sldId id="334" r:id="rId4"/>
    <p:sldId id="311" r:id="rId5"/>
    <p:sldId id="318" r:id="rId6"/>
    <p:sldId id="324" r:id="rId7"/>
    <p:sldId id="312" r:id="rId8"/>
    <p:sldId id="325" r:id="rId9"/>
    <p:sldId id="314" r:id="rId10"/>
    <p:sldId id="330" r:id="rId11"/>
    <p:sldId id="335" r:id="rId12"/>
    <p:sldId id="331" r:id="rId13"/>
    <p:sldId id="262" r:id="rId14"/>
    <p:sldId id="263" r:id="rId15"/>
    <p:sldId id="336" r:id="rId16"/>
    <p:sldId id="337" r:id="rId17"/>
    <p:sldId id="338" r:id="rId18"/>
    <p:sldId id="267" r:id="rId19"/>
    <p:sldId id="268" r:id="rId20"/>
    <p:sldId id="271" r:id="rId21"/>
    <p:sldId id="270" r:id="rId22"/>
    <p:sldId id="272" r:id="rId23"/>
    <p:sldId id="273" r:id="rId24"/>
    <p:sldId id="274" r:id="rId25"/>
    <p:sldId id="275" r:id="rId26"/>
    <p:sldId id="276" r:id="rId27"/>
    <p:sldId id="277" r:id="rId28"/>
    <p:sldId id="278" r:id="rId29"/>
    <p:sldId id="339" r:id="rId30"/>
    <p:sldId id="340" r:id="rId31"/>
    <p:sldId id="342" r:id="rId32"/>
    <p:sldId id="279" r:id="rId33"/>
    <p:sldId id="280" r:id="rId34"/>
    <p:sldId id="34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07" dt="2026-09-07T20:27:38.187"/>
    <p1510:client id="{4D91FD7B-BC55-1B8C-AB82-1DD8F1094731}" v="1257" dt="2026-09-08T02:59:25.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2" y="1122365"/>
            <a:ext cx="6858010" cy="2387603"/>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2" y="3602043"/>
            <a:ext cx="6858010" cy="165576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934FF-F4E1-47C5-9CA5-30A81DDE2BE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12" cy="2852741"/>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70"/>
            <a:ext cx="7886712" cy="150018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1" y="1825628"/>
            <a:ext cx="3886206" cy="4351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7" y="1825628"/>
            <a:ext cx="3886206" cy="43513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934FF-F4E1-47C5-9CA5-30A81DDE2BE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6"/>
            <a:ext cx="7886712" cy="1325565"/>
          </a:xfrm>
        </p:spPr>
        <p:txBody>
          <a:bodyPr/>
          <a:lstStyle/>
          <a:p>
            <a:r>
              <a:rPr lang="en-US"/>
              <a:t>Click to edit Master title style</a:t>
            </a:r>
          </a:p>
        </p:txBody>
      </p:sp>
      <p:sp>
        <p:nvSpPr>
          <p:cNvPr id="3" name="Text Placeholder 2"/>
          <p:cNvSpPr>
            <a:spLocks noGrp="1"/>
          </p:cNvSpPr>
          <p:nvPr>
            <p:ph type="body" idx="1"/>
          </p:nvPr>
        </p:nvSpPr>
        <p:spPr>
          <a:xfrm>
            <a:off x="629842" y="1681165"/>
            <a:ext cx="3868346" cy="823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9"/>
            <a:ext cx="3868346" cy="3684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7" y="1681165"/>
            <a:ext cx="3887397" cy="8239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7" y="2505079"/>
            <a:ext cx="3887397" cy="3684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934FF-F4E1-47C5-9CA5-30A81DDE2BE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1"/>
            <a:ext cx="2949182" cy="1600202"/>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7" y="987426"/>
            <a:ext cx="4629157" cy="487363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2" y="2057403"/>
            <a:ext cx="2949182" cy="38115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2" y="457201"/>
            <a:ext cx="2949182" cy="1600202"/>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7" y="987426"/>
            <a:ext cx="4629157" cy="48736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2" y="2057403"/>
            <a:ext cx="2949182" cy="38115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85" y="365126"/>
            <a:ext cx="1971678" cy="581184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6"/>
            <a:ext cx="5800734" cy="581184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365126"/>
            <a:ext cx="7886712" cy="13255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1" y="1825628"/>
            <a:ext cx="7886712" cy="43513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1" y="6356359"/>
            <a:ext cx="2057403" cy="365126"/>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t>9/8/2026</a:t>
            </a:fld>
            <a:endParaRPr lang="en-US"/>
          </a:p>
        </p:txBody>
      </p:sp>
      <p:sp>
        <p:nvSpPr>
          <p:cNvPr id="5" name="Footer Placeholder 4"/>
          <p:cNvSpPr>
            <a:spLocks noGrp="1"/>
          </p:cNvSpPr>
          <p:nvPr>
            <p:ph type="ftr" sz="quarter" idx="3"/>
          </p:nvPr>
        </p:nvSpPr>
        <p:spPr>
          <a:xfrm>
            <a:off x="3028955" y="6356359"/>
            <a:ext cx="3086105" cy="365126"/>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60" y="6356359"/>
            <a:ext cx="2057403" cy="365126"/>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56B7-AB02-4A46-414A-163AAC90B09A}"/>
              </a:ext>
            </a:extLst>
          </p:cNvPr>
          <p:cNvSpPr>
            <a:spLocks noGrp="1"/>
          </p:cNvSpPr>
          <p:nvPr>
            <p:ph type="title"/>
          </p:nvPr>
        </p:nvSpPr>
        <p:spPr/>
        <p:txBody>
          <a:bodyPr/>
          <a:lstStyle/>
          <a:p>
            <a:r>
              <a:rPr lang="en-US" dirty="0">
                <a:latin typeface="Arial"/>
                <a:cs typeface="Arial"/>
              </a:rPr>
              <a:t>Today's reading due</a:t>
            </a:r>
            <a:endParaRPr lang="en-US" dirty="0"/>
          </a:p>
        </p:txBody>
      </p:sp>
      <p:pic>
        <p:nvPicPr>
          <p:cNvPr id="4" name="Content Placeholder 3">
            <a:extLst>
              <a:ext uri="{FF2B5EF4-FFF2-40B4-BE49-F238E27FC236}">
                <a16:creationId xmlns:a16="http://schemas.microsoft.com/office/drawing/2014/main" id="{2C8193E1-56B8-C751-419B-8C754092242D}"/>
              </a:ext>
            </a:extLst>
          </p:cNvPr>
          <p:cNvPicPr>
            <a:picLocks noGrp="1" noChangeAspect="1"/>
          </p:cNvPicPr>
          <p:nvPr>
            <p:ph idx="1"/>
          </p:nvPr>
        </p:nvPicPr>
        <p:blipFill>
          <a:blip r:embed="rId2"/>
          <a:srcRect/>
          <a:stretch>
            <a:fillRect/>
          </a:stretch>
        </p:blipFill>
        <p:spPr>
          <a:xfrm>
            <a:off x="847732" y="1962950"/>
            <a:ext cx="7448550" cy="4076700"/>
          </a:xfrm>
          <a:prstGeom prst="rect">
            <a:avLst/>
          </a:prstGeom>
        </p:spPr>
      </p:pic>
    </p:spTree>
    <p:extLst>
      <p:ext uri="{BB962C8B-B14F-4D97-AF65-F5344CB8AC3E}">
        <p14:creationId xmlns:p14="http://schemas.microsoft.com/office/powerpoint/2010/main" val="3728435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236" y="-111124"/>
            <a:ext cx="7886712" cy="1325565"/>
          </a:xfrm>
        </p:spPr>
        <p:txBody>
          <a:bodyPr/>
          <a:lstStyle/>
          <a:p>
            <a:r>
              <a:rPr lang="x-none" altLang="en-US"/>
              <a:t>Jukes-Cantor Model (JC69)</a:t>
            </a:r>
          </a:p>
        </p:txBody>
      </p:sp>
      <p:sp>
        <p:nvSpPr>
          <p:cNvPr id="5" name="Title 1"/>
          <p:cNvSpPr>
            <a:spLocks noGrp="1"/>
          </p:cNvSpPr>
          <p:nvPr/>
        </p:nvSpPr>
        <p:spPr>
          <a:xfrm>
            <a:off x="868046" y="762001"/>
            <a:ext cx="7886712" cy="13255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a:t>Q matrix </a:t>
            </a:r>
            <a:r>
              <a:rPr lang="x-none" altLang="en-US" i="1"/>
              <a:t>(instantaneous rates)</a:t>
            </a:r>
          </a:p>
        </p:txBody>
      </p:sp>
      <p:grpSp>
        <p:nvGrpSpPr>
          <p:cNvPr id="3" name="Group 2">
            <a:extLst>
              <a:ext uri="{FF2B5EF4-FFF2-40B4-BE49-F238E27FC236}">
                <a16:creationId xmlns:a16="http://schemas.microsoft.com/office/drawing/2014/main" id="{05CBB58A-254E-E090-ECF3-9DF4ED26CC37}"/>
              </a:ext>
            </a:extLst>
          </p:cNvPr>
          <p:cNvGrpSpPr/>
          <p:nvPr/>
        </p:nvGrpSpPr>
        <p:grpSpPr>
          <a:xfrm>
            <a:off x="421640" y="1623695"/>
            <a:ext cx="10036175" cy="4639310"/>
            <a:chOff x="421640" y="1623695"/>
            <a:chExt cx="10036175" cy="4639310"/>
          </a:xfrm>
        </p:grpSpPr>
        <p:sp>
          <p:nvSpPr>
            <p:cNvPr id="6" name="Title 1" descr="A Q matrix for a Jukes-Cantor Model showing all transitions being equal"/>
            <p:cNvSpPr>
              <a:spLocks noGrp="1"/>
            </p:cNvSpPr>
            <p:nvPr/>
          </p:nvSpPr>
          <p:spPr>
            <a:xfrm>
              <a:off x="2482215" y="1623695"/>
              <a:ext cx="7975600" cy="463931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l"/>
              <a:r>
                <a:rPr lang="x-none" altLang="en-US" i="1">
                  <a:latin typeface="Arial"/>
                  <a:cs typeface="Arial"/>
                </a:rPr>
                <a:t>      </a:t>
              </a:r>
              <a:r>
                <a:rPr lang="x-none" altLang="en-US" sz="4800" i="1">
                  <a:latin typeface="Arial"/>
                  <a:cs typeface="Arial"/>
                </a:rPr>
                <a:t>A    C    G    T</a:t>
              </a:r>
              <a:br>
                <a:rPr lang="x-none" altLang="en-US" sz="4800" i="1">
                  <a:latin typeface="Arial"/>
                  <a:cs typeface="Arial"/>
                </a:rPr>
              </a:br>
              <a:endParaRPr lang="x-none" altLang="en-US" sz="4800" i="1">
                <a:latin typeface="Arial"/>
                <a:cs typeface="Arial"/>
              </a:endParaRPr>
            </a:p>
            <a:p>
              <a:pPr algn="l"/>
              <a:r>
                <a:rPr lang="x-none" altLang="en-US" sz="4800" i="1">
                  <a:latin typeface="Arial"/>
                  <a:cs typeface="Arial"/>
                </a:rPr>
                <a:t>A   -3β  </a:t>
              </a:r>
              <a:r>
                <a:rPr lang="x-none" altLang="en-US" sz="4800" i="1">
                  <a:latin typeface="Arial"/>
                  <a:cs typeface="Arial"/>
                  <a:sym typeface="+mn-ea"/>
                </a:rPr>
                <a:t>β     β    β</a:t>
              </a:r>
            </a:p>
            <a:p>
              <a:pPr algn="l"/>
              <a:r>
                <a:rPr lang="x-none" altLang="en-US" sz="4800" i="1">
                  <a:latin typeface="Arial"/>
                  <a:cs typeface="Arial"/>
                  <a:sym typeface="+mn-ea"/>
                </a:rPr>
                <a:t> </a:t>
              </a:r>
            </a:p>
            <a:p>
              <a:pPr algn="l"/>
              <a:r>
                <a:rPr lang="x-none" altLang="en-US" sz="4800" i="1">
                  <a:latin typeface="Arial"/>
                  <a:cs typeface="Arial"/>
                  <a:sym typeface="+mn-ea"/>
                </a:rPr>
                <a:t>C    β  -3β    β    β</a:t>
              </a:r>
            </a:p>
            <a:p>
              <a:pPr algn="l"/>
              <a:endParaRPr lang="x-none" altLang="en-US" sz="4800" i="1">
                <a:latin typeface="Arial"/>
                <a:cs typeface="Arial"/>
                <a:sym typeface="+mn-ea"/>
              </a:endParaRPr>
            </a:p>
            <a:p>
              <a:pPr algn="l"/>
              <a:r>
                <a:rPr lang="x-none" altLang="en-US" sz="4800" i="1">
                  <a:latin typeface="Arial"/>
                  <a:cs typeface="Arial"/>
                  <a:sym typeface="+mn-ea"/>
                </a:rPr>
                <a:t>G    β    β  -3β    β</a:t>
              </a:r>
            </a:p>
            <a:p>
              <a:pPr algn="l"/>
              <a:r>
                <a:rPr lang="x-none" altLang="en-US" sz="4800" i="1">
                  <a:latin typeface="Arial"/>
                  <a:cs typeface="Arial"/>
                  <a:sym typeface="+mn-ea"/>
                </a:rPr>
                <a:t>  </a:t>
              </a:r>
            </a:p>
            <a:p>
              <a:pPr algn="l"/>
              <a:r>
                <a:rPr lang="x-none" altLang="en-US" sz="4800" i="1">
                  <a:latin typeface="Arial"/>
                  <a:cs typeface="Arial"/>
                  <a:sym typeface="+mn-ea"/>
                </a:rPr>
                <a:t>T    β    β     β   -3β    </a:t>
              </a:r>
              <a:r>
                <a:rPr lang="x-none" altLang="en-US" i="1">
                  <a:latin typeface="Arial"/>
                  <a:cs typeface="Arial"/>
                  <a:sym typeface="+mn-ea"/>
                </a:rPr>
                <a:t> </a:t>
              </a:r>
              <a:r>
                <a:rPr lang="x-none" altLang="en-US" i="1">
                  <a:latin typeface="Arial"/>
                  <a:cs typeface="Arial"/>
                </a:rPr>
                <a:t>	 </a:t>
              </a:r>
            </a:p>
          </p:txBody>
        </p:sp>
        <p:sp>
          <p:nvSpPr>
            <p:cNvPr id="8" name="Left Bracket 7" descr="A Q matrix for a Jukes-Cantor Model showing all transitions being equal"/>
            <p:cNvSpPr/>
            <p:nvPr/>
          </p:nvSpPr>
          <p:spPr>
            <a:xfrm>
              <a:off x="3039745" y="2576830"/>
              <a:ext cx="309245" cy="346519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ket 8" descr="A Q matrix for a Jukes-Cantor Model showing all transitions being equal"/>
            <p:cNvSpPr/>
            <p:nvPr/>
          </p:nvSpPr>
          <p:spPr>
            <a:xfrm flipH="1">
              <a:off x="7298055" y="2553970"/>
              <a:ext cx="309880" cy="347662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 Box 10" descr="A Q matrix for a Jukes-Cantor Model showing all transitions being equal"/>
            <p:cNvSpPr txBox="1"/>
            <p:nvPr/>
          </p:nvSpPr>
          <p:spPr>
            <a:xfrm>
              <a:off x="421640" y="3623945"/>
              <a:ext cx="1761490" cy="1048385"/>
            </a:xfrm>
            <a:prstGeom prst="rect">
              <a:avLst/>
            </a:prstGeom>
            <a:noFill/>
          </p:spPr>
          <p:txBody>
            <a:bodyPr wrap="square" rtlCol="0">
              <a:spAutoFit/>
            </a:bodyPr>
            <a:lstStyle/>
            <a:p>
              <a:r>
                <a:rPr lang="x-none" altLang="en-US" sz="6000">
                  <a:latin typeface="Courier 10 Pitch" charset="0"/>
                </a:rPr>
                <a:t>Q =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2857-CD02-650F-BC4B-C7A711CD1B27}"/>
              </a:ext>
            </a:extLst>
          </p:cNvPr>
          <p:cNvSpPr>
            <a:spLocks noGrp="1"/>
          </p:cNvSpPr>
          <p:nvPr>
            <p:ph type="title"/>
          </p:nvPr>
        </p:nvSpPr>
        <p:spPr>
          <a:xfrm>
            <a:off x="426770" y="2929"/>
            <a:ext cx="7886712" cy="1325565"/>
          </a:xfrm>
        </p:spPr>
        <p:txBody>
          <a:bodyPr/>
          <a:lstStyle/>
          <a:p>
            <a:r>
              <a:rPr lang="en-US" dirty="0">
                <a:latin typeface="Arial"/>
                <a:cs typeface="Arial"/>
              </a:rPr>
              <a:t>Transition probabilities</a:t>
            </a:r>
            <a:endParaRPr lang="en-US" dirty="0"/>
          </a:p>
        </p:txBody>
      </p:sp>
      <p:pic>
        <p:nvPicPr>
          <p:cNvPr id="4" name="Content Placeholder 3" descr="A Q matrix.">
            <a:extLst>
              <a:ext uri="{FF2B5EF4-FFF2-40B4-BE49-F238E27FC236}">
                <a16:creationId xmlns:a16="http://schemas.microsoft.com/office/drawing/2014/main" id="{967B04B5-2DBF-3DD1-20C2-C585AF471BBE}"/>
              </a:ext>
            </a:extLst>
          </p:cNvPr>
          <p:cNvPicPr>
            <a:picLocks noGrp="1" noChangeAspect="1"/>
          </p:cNvPicPr>
          <p:nvPr>
            <p:ph idx="1"/>
          </p:nvPr>
        </p:nvPicPr>
        <p:blipFill>
          <a:blip r:embed="rId2"/>
          <a:srcRect r="327"/>
          <a:stretch>
            <a:fillRect/>
          </a:stretch>
        </p:blipFill>
        <p:spPr>
          <a:xfrm>
            <a:off x="427519" y="1167612"/>
            <a:ext cx="1822824" cy="1095375"/>
          </a:xfrm>
          <a:prstGeom prst="rect">
            <a:avLst/>
          </a:prstGeom>
        </p:spPr>
      </p:pic>
      <p:pic>
        <p:nvPicPr>
          <p:cNvPr id="5" name="Picture 4" descr="Probabilities after time 0 for that Q matrix. The diagonal is 1 because no time has elapsed for a transition to occur.">
            <a:extLst>
              <a:ext uri="{FF2B5EF4-FFF2-40B4-BE49-F238E27FC236}">
                <a16:creationId xmlns:a16="http://schemas.microsoft.com/office/drawing/2014/main" id="{576B5543-0E7E-FE5A-3A89-896065EA5ABC}"/>
              </a:ext>
            </a:extLst>
          </p:cNvPr>
          <p:cNvPicPr>
            <a:picLocks noChangeAspect="1"/>
          </p:cNvPicPr>
          <p:nvPr/>
        </p:nvPicPr>
        <p:blipFill>
          <a:blip r:embed="rId3"/>
          <a:srcRect/>
          <a:stretch>
            <a:fillRect/>
          </a:stretch>
        </p:blipFill>
        <p:spPr>
          <a:xfrm>
            <a:off x="457943" y="2827069"/>
            <a:ext cx="1828800" cy="1057275"/>
          </a:xfrm>
          <a:prstGeom prst="rect">
            <a:avLst/>
          </a:prstGeom>
        </p:spPr>
      </p:pic>
      <p:pic>
        <p:nvPicPr>
          <p:cNvPr id="6" name="Picture 5" descr="Probability matrix after 10 time units, many transitions have occurred but some remain in the original state.">
            <a:extLst>
              <a:ext uri="{FF2B5EF4-FFF2-40B4-BE49-F238E27FC236}">
                <a16:creationId xmlns:a16="http://schemas.microsoft.com/office/drawing/2014/main" id="{6CCFAB3C-B513-17DD-AFD7-1113936F4DBD}"/>
              </a:ext>
            </a:extLst>
          </p:cNvPr>
          <p:cNvPicPr>
            <a:picLocks noChangeAspect="1"/>
          </p:cNvPicPr>
          <p:nvPr/>
        </p:nvPicPr>
        <p:blipFill>
          <a:blip r:embed="rId4"/>
          <a:srcRect r="-333" b="-538"/>
          <a:stretch>
            <a:fillRect/>
          </a:stretch>
        </p:blipFill>
        <p:spPr>
          <a:xfrm>
            <a:off x="493940" y="3997160"/>
            <a:ext cx="1796668" cy="1120416"/>
          </a:xfrm>
          <a:prstGeom prst="rect">
            <a:avLst/>
          </a:prstGeom>
        </p:spPr>
      </p:pic>
      <p:pic>
        <p:nvPicPr>
          <p:cNvPr id="7" name="Picture 6" descr="Probability matrix after 100 time units, because the Q matrix has irreversible transitions, all starting states are fixed probability equal to 1 for the 3rd state, which is an absorbing state. ">
            <a:extLst>
              <a:ext uri="{FF2B5EF4-FFF2-40B4-BE49-F238E27FC236}">
                <a16:creationId xmlns:a16="http://schemas.microsoft.com/office/drawing/2014/main" id="{FEB5EF49-3467-78D4-2C06-43AE03A8C4D3}"/>
              </a:ext>
            </a:extLst>
          </p:cNvPr>
          <p:cNvPicPr>
            <a:picLocks noChangeAspect="1"/>
          </p:cNvPicPr>
          <p:nvPr/>
        </p:nvPicPr>
        <p:blipFill>
          <a:blip r:embed="rId5"/>
          <a:srcRect b="526"/>
          <a:stretch>
            <a:fillRect/>
          </a:stretch>
        </p:blipFill>
        <p:spPr>
          <a:xfrm>
            <a:off x="494310" y="5345381"/>
            <a:ext cx="1790700" cy="1127510"/>
          </a:xfrm>
          <a:prstGeom prst="rect">
            <a:avLst/>
          </a:prstGeom>
        </p:spPr>
      </p:pic>
      <p:grpSp>
        <p:nvGrpSpPr>
          <p:cNvPr id="11" name="Group 10">
            <a:extLst>
              <a:ext uri="{FF2B5EF4-FFF2-40B4-BE49-F238E27FC236}">
                <a16:creationId xmlns:a16="http://schemas.microsoft.com/office/drawing/2014/main" id="{5A4F44EE-0FD4-49D7-2F7F-3B7B7C5FC66F}"/>
              </a:ext>
            </a:extLst>
          </p:cNvPr>
          <p:cNvGrpSpPr/>
          <p:nvPr/>
        </p:nvGrpSpPr>
        <p:grpSpPr>
          <a:xfrm>
            <a:off x="3141980" y="3190240"/>
            <a:ext cx="4480560" cy="1982470"/>
            <a:chOff x="3141980" y="3190240"/>
            <a:chExt cx="4480560" cy="1982470"/>
          </a:xfrm>
        </p:grpSpPr>
        <p:sp>
          <p:nvSpPr>
            <p:cNvPr id="8" name="Text Box 10" descr="An equation showing P equals exp to the Q times t. Since Q is a matrix in the exponent, this requires an operation called matrix exponentiation.">
              <a:extLst>
                <a:ext uri="{FF2B5EF4-FFF2-40B4-BE49-F238E27FC236}">
                  <a16:creationId xmlns:a16="http://schemas.microsoft.com/office/drawing/2014/main" id="{F94A51D8-A3A1-A42D-EB10-531E49EBC539}"/>
                </a:ext>
              </a:extLst>
            </p:cNvPr>
            <p:cNvSpPr txBox="1"/>
            <p:nvPr/>
          </p:nvSpPr>
          <p:spPr>
            <a:xfrm>
              <a:off x="3141980" y="3190240"/>
              <a:ext cx="3921760" cy="101566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6000">
                  <a:latin typeface="Courier 10 Pitch"/>
                </a:rPr>
                <a:t>P = e</a:t>
              </a:r>
              <a:r>
                <a:rPr lang="x-none" altLang="en-US" sz="6000" baseline="30000">
                  <a:latin typeface="Courier 10 Pitch"/>
                </a:rPr>
                <a:t>Qt</a:t>
              </a:r>
              <a:r>
                <a:rPr lang="x-none" altLang="en-US" sz="6000">
                  <a:latin typeface="Courier 10 Pitch"/>
                </a:rPr>
                <a:t> </a:t>
              </a:r>
            </a:p>
          </p:txBody>
        </p:sp>
        <p:sp>
          <p:nvSpPr>
            <p:cNvPr id="9" name="Up Arrow 2">
              <a:extLst>
                <a:ext uri="{FF2B5EF4-FFF2-40B4-BE49-F238E27FC236}">
                  <a16:creationId xmlns:a16="http://schemas.microsoft.com/office/drawing/2014/main" id="{B2ECD8D1-A879-FF4C-BF3E-D794E355F576}"/>
                </a:ext>
              </a:extLst>
            </p:cNvPr>
            <p:cNvSpPr/>
            <p:nvPr/>
          </p:nvSpPr>
          <p:spPr>
            <a:xfrm>
              <a:off x="5027567" y="3980592"/>
              <a:ext cx="428625" cy="5175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Text Box 3">
              <a:extLst>
                <a:ext uri="{FF2B5EF4-FFF2-40B4-BE49-F238E27FC236}">
                  <a16:creationId xmlns:a16="http://schemas.microsoft.com/office/drawing/2014/main" id="{A2E93ADF-0063-4FEB-DB3E-48F61114C142}"/>
                </a:ext>
              </a:extLst>
            </p:cNvPr>
            <p:cNvSpPr txBox="1"/>
            <p:nvPr/>
          </p:nvSpPr>
          <p:spPr>
            <a:xfrm>
              <a:off x="3967480" y="4654550"/>
              <a:ext cx="3655060" cy="5181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altLang="en-US" sz="2800">
                  <a:latin typeface="Arial" panose="020B0604020202020204" pitchFamily="34" charset="0"/>
                </a:rPr>
                <a:t>Matrix exponentiation</a:t>
              </a:r>
            </a:p>
          </p:txBody>
        </p:sp>
      </p:grpSp>
    </p:spTree>
    <p:extLst>
      <p:ext uri="{BB962C8B-B14F-4D97-AF65-F5344CB8AC3E}">
        <p14:creationId xmlns:p14="http://schemas.microsoft.com/office/powerpoint/2010/main" val="1538698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480696" y="337186"/>
            <a:ext cx="7886712" cy="1325565"/>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l"/>
            <a:r>
              <a:rPr lang="x-none" altLang="en-US" sz="3600"/>
              <a:t>JC69 is our most basic model. We will be able to do amazing things with generalizations of this one model!  </a:t>
            </a:r>
            <a:endParaRPr lang="x-none" altLang="en-US" sz="3600" i="1"/>
          </a:p>
        </p:txBody>
      </p:sp>
      <p:grpSp>
        <p:nvGrpSpPr>
          <p:cNvPr id="2" name="Group 1" descr="Jukes Cantor Q matrix showing all transitions at the rate set by the parameter Beta.">
            <a:extLst>
              <a:ext uri="{FF2B5EF4-FFF2-40B4-BE49-F238E27FC236}">
                <a16:creationId xmlns:a16="http://schemas.microsoft.com/office/drawing/2014/main" id="{3D75EE72-05AF-AF59-2C82-AD98DACA4B6B}"/>
              </a:ext>
            </a:extLst>
          </p:cNvPr>
          <p:cNvGrpSpPr/>
          <p:nvPr/>
        </p:nvGrpSpPr>
        <p:grpSpPr>
          <a:xfrm>
            <a:off x="421640" y="1745615"/>
            <a:ext cx="9954895" cy="4639310"/>
            <a:chOff x="421640" y="1745615"/>
            <a:chExt cx="9954895" cy="4639310"/>
          </a:xfrm>
        </p:grpSpPr>
        <p:sp>
          <p:nvSpPr>
            <p:cNvPr id="6" name="Title 1"/>
            <p:cNvSpPr>
              <a:spLocks noGrp="1"/>
            </p:cNvSpPr>
            <p:nvPr/>
          </p:nvSpPr>
          <p:spPr>
            <a:xfrm>
              <a:off x="2400935" y="1745615"/>
              <a:ext cx="7975600" cy="4639310"/>
            </a:xfrm>
            <a:prstGeom prst="rect">
              <a:avLst/>
            </a:prstGeom>
          </p:spPr>
          <p:txBody>
            <a:bodyPr vert="horz" lIns="91440" tIns="45720" rIns="91440" bIns="45720" rtlCol="0" anchor="ctr">
              <a:normAutofit lnSpcReduction="2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l"/>
              <a:r>
                <a:rPr lang="x-none" altLang="en-US" i="1">
                  <a:latin typeface="Arial"/>
                  <a:cs typeface="Arial"/>
                </a:rPr>
                <a:t>      A   C    G   T</a:t>
              </a:r>
              <a:br>
                <a:rPr lang="x-none" altLang="en-US" i="1">
                  <a:latin typeface="Arial"/>
                  <a:cs typeface="Arial"/>
                </a:rPr>
              </a:br>
              <a:endParaRPr lang="x-none" altLang="en-US" sz="1600" i="1">
                <a:latin typeface="Arial"/>
                <a:cs typeface="Arial"/>
              </a:endParaRPr>
            </a:p>
            <a:p>
              <a:pPr algn="l"/>
              <a:r>
                <a:rPr lang="x-none" altLang="en-US" i="1">
                  <a:latin typeface="Arial"/>
                  <a:cs typeface="Arial"/>
                </a:rPr>
                <a:t>A    -</a:t>
              </a:r>
              <a:r>
                <a:rPr lang="x-none" altLang="en-US" i="1">
                  <a:latin typeface="Arial"/>
                  <a:cs typeface="Arial"/>
                  <a:sym typeface="+mn-ea"/>
                </a:rPr>
                <a:t> 	 β    β    β</a:t>
              </a:r>
            </a:p>
            <a:p>
              <a:pPr algn="l"/>
              <a:r>
                <a:rPr lang="x-none" altLang="en-US" i="1">
                  <a:latin typeface="Arial"/>
                  <a:cs typeface="Arial"/>
                  <a:sym typeface="+mn-ea"/>
                </a:rPr>
                <a:t> </a:t>
              </a:r>
            </a:p>
            <a:p>
              <a:pPr algn="l"/>
              <a:r>
                <a:rPr lang="x-none" altLang="en-US" i="1">
                  <a:latin typeface="Arial"/>
                  <a:cs typeface="Arial"/>
                  <a:sym typeface="+mn-ea"/>
                </a:rPr>
                <a:t>C   β     -    β    β</a:t>
              </a:r>
            </a:p>
            <a:p>
              <a:pPr algn="l"/>
              <a:endParaRPr lang="x-none" altLang="en-US" i="1">
                <a:latin typeface="Arial"/>
                <a:cs typeface="Arial"/>
                <a:sym typeface="+mn-ea"/>
              </a:endParaRPr>
            </a:p>
            <a:p>
              <a:pPr algn="l"/>
              <a:r>
                <a:rPr lang="x-none" altLang="en-US" i="1">
                  <a:latin typeface="Arial"/>
                  <a:cs typeface="Arial"/>
                  <a:sym typeface="+mn-ea"/>
                </a:rPr>
                <a:t>G   β    β     -    β</a:t>
              </a:r>
            </a:p>
            <a:p>
              <a:pPr algn="l"/>
              <a:r>
                <a:rPr lang="x-none" altLang="en-US" i="1">
                  <a:latin typeface="Arial"/>
                  <a:cs typeface="Arial"/>
                  <a:sym typeface="+mn-ea"/>
                </a:rPr>
                <a:t>  </a:t>
              </a:r>
            </a:p>
            <a:p>
              <a:pPr algn="l"/>
              <a:r>
                <a:rPr lang="x-none" altLang="en-US" i="1">
                  <a:latin typeface="Arial"/>
                  <a:cs typeface="Arial"/>
                  <a:sym typeface="+mn-ea"/>
                </a:rPr>
                <a:t>T   β    β     β    -     </a:t>
              </a:r>
              <a:r>
                <a:rPr lang="x-none" altLang="en-US" i="1">
                  <a:latin typeface="Arial"/>
                  <a:cs typeface="Arial"/>
                </a:rPr>
                <a:t>	 </a:t>
              </a:r>
            </a:p>
          </p:txBody>
        </p:sp>
        <p:sp>
          <p:nvSpPr>
            <p:cNvPr id="8" name="Left Bracket 7"/>
            <p:cNvSpPr/>
            <p:nvPr/>
          </p:nvSpPr>
          <p:spPr>
            <a:xfrm>
              <a:off x="3039745" y="2576830"/>
              <a:ext cx="309245" cy="346519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ket 8"/>
            <p:cNvSpPr/>
            <p:nvPr/>
          </p:nvSpPr>
          <p:spPr>
            <a:xfrm flipH="1">
              <a:off x="6991985" y="2466340"/>
              <a:ext cx="309880" cy="347662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 Box 10"/>
            <p:cNvSpPr txBox="1"/>
            <p:nvPr/>
          </p:nvSpPr>
          <p:spPr>
            <a:xfrm>
              <a:off x="421640" y="3623945"/>
              <a:ext cx="1761490" cy="1048385"/>
            </a:xfrm>
            <a:prstGeom prst="rect">
              <a:avLst/>
            </a:prstGeom>
            <a:noFill/>
          </p:spPr>
          <p:txBody>
            <a:bodyPr wrap="square" rtlCol="0">
              <a:spAutoFit/>
            </a:bodyPr>
            <a:lstStyle/>
            <a:p>
              <a:r>
                <a:rPr lang="x-none" altLang="en-US" sz="6000">
                  <a:latin typeface="Courier 10 Pitch" charset="0"/>
                </a:rPr>
                <a:t>Q =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x-none" altLang="en-US"/>
              <a:t>Back to biology - Are JC69's assumptions realistic? </a:t>
            </a:r>
          </a:p>
        </p:txBody>
      </p:sp>
      <p:sp>
        <p:nvSpPr>
          <p:cNvPr id="3" name="Content Placeholder 2"/>
          <p:cNvSpPr>
            <a:spLocks noGrp="1"/>
          </p:cNvSpPr>
          <p:nvPr>
            <p:ph idx="1"/>
          </p:nvPr>
        </p:nvSpPr>
        <p:spPr>
          <a:xfrm>
            <a:off x="640081" y="1861823"/>
            <a:ext cx="7886712" cy="4351344"/>
          </a:xfrm>
        </p:spPr>
        <p:txBody>
          <a:bodyPr vert="horz" lIns="91440" tIns="45720" rIns="91440" bIns="45720" rtlCol="0" anchor="t">
            <a:normAutofit lnSpcReduction="10000"/>
          </a:bodyPr>
          <a:lstStyle/>
          <a:p>
            <a:pPr marL="0" indent="0">
              <a:buNone/>
            </a:pPr>
            <a:r>
              <a:rPr lang="x-none" altLang="en-US"/>
              <a:t>Assumptions of JC69:</a:t>
            </a:r>
          </a:p>
          <a:p>
            <a:pPr marL="0" indent="0">
              <a:buNone/>
            </a:pPr>
            <a:r>
              <a:rPr lang="x-none" altLang="en-US"/>
              <a:t>1. All substitutions equally likely</a:t>
            </a:r>
          </a:p>
          <a:p>
            <a:pPr marL="0" indent="0">
              <a:buNone/>
            </a:pPr>
            <a:r>
              <a:rPr lang="x-none" altLang="en-US"/>
              <a:t>2. Base frequencies equal</a:t>
            </a:r>
          </a:p>
          <a:p>
            <a:pPr marL="0" indent="0">
              <a:buNone/>
            </a:pPr>
            <a:r>
              <a:rPr lang="x-none" altLang="en-US"/>
              <a:t>3. Every site has equal probability of substitution</a:t>
            </a:r>
          </a:p>
          <a:p>
            <a:pPr marL="0" indent="0">
              <a:buNone/>
            </a:pPr>
            <a:r>
              <a:rPr lang="x-none" altLang="en-US"/>
              <a:t>4. Process is constant through time</a:t>
            </a:r>
          </a:p>
          <a:p>
            <a:pPr marL="0" indent="0">
              <a:buNone/>
            </a:pPr>
            <a:r>
              <a:rPr lang="x-none" altLang="en-US"/>
              <a:t>5. Sites are independent of each other</a:t>
            </a:r>
          </a:p>
          <a:p>
            <a:pPr marL="0" indent="0">
              <a:buNone/>
            </a:pPr>
            <a:r>
              <a:rPr lang="x-none" altLang="en-US"/>
              <a:t>6. Substitution is Markovian (memoryless)</a:t>
            </a:r>
          </a:p>
          <a:p>
            <a:pPr marL="0" indent="0">
              <a:buNone/>
            </a:pPr>
            <a:r>
              <a:rPr lang="x-none" altLang="en-US"/>
              <a:t>7. All sites have the same evolutionary history</a:t>
            </a:r>
          </a:p>
          <a:p>
            <a:pPr marL="0" indent="0">
              <a:buNone/>
            </a:pPr>
            <a:r>
              <a:rPr lang="x-none" altLang="en-US">
                <a:latin typeface="Arial"/>
                <a:cs typeface="Arial"/>
              </a:rPr>
              <a:t>8. Time-reversible</a:t>
            </a:r>
            <a:endParaRPr lang="x-none" altLang="en-US" dirty="0">
              <a:cs typeface="Arial"/>
            </a:endParaRPr>
          </a:p>
        </p:txBody>
      </p:sp>
      <p:sp>
        <p:nvSpPr>
          <p:cNvPr id="4" name="Title 1"/>
          <p:cNvSpPr>
            <a:spLocks noGrp="1"/>
          </p:cNvSpPr>
          <p:nvPr/>
        </p:nvSpPr>
        <p:spPr>
          <a:xfrm>
            <a:off x="773431" y="5798821"/>
            <a:ext cx="7886712" cy="1325565"/>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200"/>
              <a:t>Can we relax any of these assumptions?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x-none" altLang="en-US" sz="3200">
                <a:latin typeface="Arial"/>
                <a:cs typeface="Arial"/>
              </a:rPr>
              <a:t>Back to biology - Are JC69's assumptions realistic? Modifying Q</a:t>
            </a:r>
            <a:endParaRPr lang="x-none" altLang="en-US" sz="3200"/>
          </a:p>
        </p:txBody>
      </p:sp>
      <p:sp>
        <p:nvSpPr>
          <p:cNvPr id="3" name="Content Placeholder 2"/>
          <p:cNvSpPr>
            <a:spLocks noGrp="1"/>
          </p:cNvSpPr>
          <p:nvPr>
            <p:ph idx="1"/>
          </p:nvPr>
        </p:nvSpPr>
        <p:spPr>
          <a:xfrm>
            <a:off x="640081" y="1861823"/>
            <a:ext cx="7886712" cy="4351344"/>
          </a:xfrm>
        </p:spPr>
        <p:txBody>
          <a:bodyPr vert="horz" lIns="91440" tIns="45720" rIns="91440" bIns="45720" rtlCol="0" anchor="t">
            <a:normAutofit lnSpcReduction="10000"/>
          </a:bodyPr>
          <a:lstStyle/>
          <a:p>
            <a:pPr marL="0" indent="0">
              <a:buNone/>
            </a:pPr>
            <a:r>
              <a:rPr lang="x-none" altLang="en-US"/>
              <a:t>Assumptions of JC69:</a:t>
            </a:r>
          </a:p>
          <a:p>
            <a:pPr marL="0" indent="0">
              <a:buNone/>
            </a:pPr>
            <a:r>
              <a:rPr lang="x-none" altLang="en-US">
                <a:solidFill>
                  <a:srgbClr val="FF0000"/>
                </a:solidFill>
              </a:rPr>
              <a:t>1. All substitutions equally likely</a:t>
            </a:r>
            <a:endParaRPr lang="x-none" altLang="en-US"/>
          </a:p>
          <a:p>
            <a:pPr marL="0" indent="0">
              <a:buNone/>
            </a:pPr>
            <a:r>
              <a:rPr lang="x-none" altLang="en-US"/>
              <a:t>2. Base frequencies equal</a:t>
            </a:r>
          </a:p>
          <a:p>
            <a:pPr marL="0" indent="0">
              <a:buNone/>
            </a:pPr>
            <a:r>
              <a:rPr lang="x-none" altLang="en-US"/>
              <a:t>3. Every site has equal probability of substitution</a:t>
            </a:r>
          </a:p>
          <a:p>
            <a:pPr marL="0" indent="0">
              <a:buNone/>
            </a:pPr>
            <a:r>
              <a:rPr lang="x-none" altLang="en-US"/>
              <a:t>4. Process is constant through time</a:t>
            </a:r>
          </a:p>
          <a:p>
            <a:pPr marL="0" indent="0">
              <a:buNone/>
            </a:pPr>
            <a:r>
              <a:rPr lang="x-none" altLang="en-US"/>
              <a:t>5. Sites are independent of each other</a:t>
            </a:r>
          </a:p>
          <a:p>
            <a:pPr marL="0" indent="0">
              <a:buNone/>
            </a:pPr>
            <a:r>
              <a:rPr lang="x-none" altLang="en-US"/>
              <a:t>6. Substitution is Markovian (memoryless)</a:t>
            </a:r>
          </a:p>
          <a:p>
            <a:pPr marL="0" indent="0">
              <a:buNone/>
            </a:pPr>
            <a:r>
              <a:rPr lang="x-none" altLang="en-US"/>
              <a:t>7. All sites have the same evolutionary history</a:t>
            </a:r>
          </a:p>
          <a:p>
            <a:pPr marL="0" indent="0">
              <a:buNone/>
            </a:pPr>
            <a:r>
              <a:rPr lang="x-none" altLang="en-US">
                <a:latin typeface="Arial"/>
                <a:cs typeface="Arial"/>
              </a:rPr>
              <a:t>8. Time-reversible</a:t>
            </a:r>
            <a:endParaRPr lang="x-none" altLang="en-US" dirty="0">
              <a:latin typeface="Arial"/>
              <a:cs typeface="Arial"/>
            </a:endParaRPr>
          </a:p>
        </p:txBody>
      </p:sp>
      <p:sp>
        <p:nvSpPr>
          <p:cNvPr id="4" name="Title 1"/>
          <p:cNvSpPr>
            <a:spLocks noGrp="1"/>
          </p:cNvSpPr>
          <p:nvPr/>
        </p:nvSpPr>
        <p:spPr>
          <a:xfrm>
            <a:off x="773431" y="5798821"/>
            <a:ext cx="7886712" cy="1325565"/>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200"/>
              <a:t>Can we relax any of these assumptions?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480696" y="-62229"/>
            <a:ext cx="7886712" cy="1325565"/>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l"/>
            <a:r>
              <a:rPr lang="x-none" altLang="en-US" sz="3600"/>
              <a:t>Kimura 2 Parameter model: K2P </a:t>
            </a:r>
            <a:endParaRPr lang="x-none" altLang="en-US" sz="3600" i="1"/>
          </a:p>
        </p:txBody>
      </p:sp>
      <p:grpSp>
        <p:nvGrpSpPr>
          <p:cNvPr id="3" name="Group 2" descr="A Q matrix showing alpha and beta parameters corresponding to transitions between A C G and T that are transitions and transversions. Transversions are more common.">
            <a:extLst>
              <a:ext uri="{FF2B5EF4-FFF2-40B4-BE49-F238E27FC236}">
                <a16:creationId xmlns:a16="http://schemas.microsoft.com/office/drawing/2014/main" id="{B8CEDE71-9E49-36A0-CEC4-8F583FB3C43D}"/>
              </a:ext>
            </a:extLst>
          </p:cNvPr>
          <p:cNvGrpSpPr/>
          <p:nvPr/>
        </p:nvGrpSpPr>
        <p:grpSpPr>
          <a:xfrm>
            <a:off x="1004570" y="1865630"/>
            <a:ext cx="10056495" cy="4639310"/>
            <a:chOff x="1004570" y="1865630"/>
            <a:chExt cx="10056495" cy="4639310"/>
          </a:xfrm>
        </p:grpSpPr>
        <p:sp>
          <p:nvSpPr>
            <p:cNvPr id="6" name="Title 1"/>
            <p:cNvSpPr>
              <a:spLocks noGrp="1"/>
            </p:cNvSpPr>
            <p:nvPr/>
          </p:nvSpPr>
          <p:spPr>
            <a:xfrm>
              <a:off x="3085465" y="1865630"/>
              <a:ext cx="7975600" cy="4639310"/>
            </a:xfrm>
            <a:prstGeom prst="rect">
              <a:avLst/>
            </a:prstGeom>
          </p:spPr>
          <p:txBody>
            <a:bodyPr vert="horz" lIns="91440" tIns="45720" rIns="91440" bIns="45720" rtlCol="0" anchor="ctr">
              <a:normAutofit lnSpcReduction="20000"/>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l"/>
              <a:r>
                <a:rPr lang="x-none" altLang="en-US" i="1">
                  <a:latin typeface="Arial"/>
                  <a:cs typeface="Arial"/>
                </a:rPr>
                <a:t>      A    C    G   T</a:t>
              </a:r>
              <a:br>
                <a:rPr lang="x-none" altLang="en-US" i="1">
                  <a:latin typeface="Arial"/>
                  <a:cs typeface="Arial"/>
                </a:rPr>
              </a:br>
              <a:endParaRPr lang="x-none" altLang="en-US" sz="1600" i="1">
                <a:latin typeface="Arial"/>
                <a:cs typeface="Arial"/>
              </a:endParaRPr>
            </a:p>
            <a:p>
              <a:pPr algn="l"/>
              <a:r>
                <a:rPr lang="x-none" altLang="en-US" i="1">
                  <a:latin typeface="Arial"/>
                  <a:cs typeface="Arial"/>
                </a:rPr>
                <a:t>A    -</a:t>
              </a:r>
              <a:r>
                <a:rPr lang="x-none" altLang="en-US" i="1">
                  <a:latin typeface="Arial"/>
                  <a:cs typeface="Arial"/>
                  <a:sym typeface="+mn-ea"/>
                </a:rPr>
                <a:t> 	  β    α    β</a:t>
              </a:r>
            </a:p>
            <a:p>
              <a:pPr algn="l"/>
              <a:endParaRPr lang="x-none" altLang="en-US" i="1">
                <a:latin typeface="Arial"/>
                <a:cs typeface="Arial"/>
                <a:sym typeface="+mn-ea"/>
              </a:endParaRPr>
            </a:p>
            <a:p>
              <a:pPr algn="l"/>
              <a:r>
                <a:rPr lang="x-none" altLang="en-US" i="1">
                  <a:latin typeface="Arial"/>
                  <a:cs typeface="Arial"/>
                  <a:sym typeface="+mn-ea"/>
                </a:rPr>
                <a:t>C   β     -     β   α</a:t>
              </a:r>
            </a:p>
            <a:p>
              <a:pPr algn="l"/>
              <a:endParaRPr lang="x-none" altLang="en-US" i="1">
                <a:latin typeface="Arial"/>
                <a:cs typeface="Arial"/>
                <a:sym typeface="+mn-ea"/>
              </a:endParaRPr>
            </a:p>
            <a:p>
              <a:pPr algn="l"/>
              <a:r>
                <a:rPr lang="x-none" altLang="en-US" i="1">
                  <a:latin typeface="Arial"/>
                  <a:cs typeface="Arial"/>
                  <a:sym typeface="+mn-ea"/>
                </a:rPr>
                <a:t>G   α     β    -    β</a:t>
              </a:r>
            </a:p>
            <a:p>
              <a:pPr algn="l"/>
              <a:endParaRPr lang="x-none" altLang="en-US" i="1">
                <a:latin typeface="Arial"/>
                <a:cs typeface="Arial"/>
                <a:sym typeface="+mn-ea"/>
              </a:endParaRPr>
            </a:p>
            <a:p>
              <a:pPr algn="l"/>
              <a:r>
                <a:rPr lang="x-none" altLang="en-US" i="1">
                  <a:latin typeface="Arial"/>
                  <a:cs typeface="Arial"/>
                  <a:sym typeface="+mn-ea"/>
                </a:rPr>
                <a:t>T   β     α     β   -     </a:t>
              </a:r>
              <a:r>
                <a:rPr lang="x-none" altLang="en-US" i="1">
                  <a:latin typeface="Arial"/>
                  <a:cs typeface="Arial"/>
                </a:rPr>
                <a:t>	 </a:t>
              </a:r>
            </a:p>
          </p:txBody>
        </p:sp>
        <p:sp>
          <p:nvSpPr>
            <p:cNvPr id="8" name="Left Bracket 7"/>
            <p:cNvSpPr/>
            <p:nvPr/>
          </p:nvSpPr>
          <p:spPr>
            <a:xfrm>
              <a:off x="3662680" y="2584450"/>
              <a:ext cx="309245" cy="346519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ket 8"/>
            <p:cNvSpPr/>
            <p:nvPr/>
          </p:nvSpPr>
          <p:spPr>
            <a:xfrm flipH="1">
              <a:off x="7787005" y="2529840"/>
              <a:ext cx="309880" cy="3476625"/>
            </a:xfrm>
            <a:prstGeom prst="leftBracket">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 Box 10"/>
            <p:cNvSpPr txBox="1"/>
            <p:nvPr/>
          </p:nvSpPr>
          <p:spPr>
            <a:xfrm>
              <a:off x="1004570" y="3743960"/>
              <a:ext cx="1761490" cy="1048385"/>
            </a:xfrm>
            <a:prstGeom prst="rect">
              <a:avLst/>
            </a:prstGeom>
            <a:noFill/>
          </p:spPr>
          <p:txBody>
            <a:bodyPr wrap="square" rtlCol="0">
              <a:spAutoFit/>
            </a:bodyPr>
            <a:lstStyle/>
            <a:p>
              <a:r>
                <a:rPr lang="x-none" altLang="en-US" sz="6000">
                  <a:latin typeface="Courier 10 Pitch" charset="0"/>
                </a:rPr>
                <a:t>Q = </a:t>
              </a:r>
            </a:p>
          </p:txBody>
        </p:sp>
      </p:grpSp>
      <p:pic>
        <p:nvPicPr>
          <p:cNvPr id="2" name="Picture 1" descr="A transition diagram showing that transitions occur at rate alpha and transversions occur at rate beta."/>
          <p:cNvPicPr>
            <a:picLocks noChangeAspect="1"/>
          </p:cNvPicPr>
          <p:nvPr/>
        </p:nvPicPr>
        <p:blipFill>
          <a:blip r:embed="rId2"/>
          <a:stretch>
            <a:fillRect/>
          </a:stretch>
        </p:blipFill>
        <p:spPr>
          <a:xfrm>
            <a:off x="181610" y="921385"/>
            <a:ext cx="2526030" cy="24968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ltLang="en-US"/>
              <a:t>Our general CTM</a:t>
            </a:r>
            <a:r>
              <a:rPr lang="" altLang="x-none"/>
              <a:t>C</a:t>
            </a:r>
            <a:r>
              <a:rPr lang="x-none" altLang="en-US"/>
              <a:t> model:</a:t>
            </a:r>
          </a:p>
        </p:txBody>
      </p:sp>
      <p:pic>
        <p:nvPicPr>
          <p:cNvPr id="6" name="Content Placeholder 5" descr="A general model for discrete state space transitions. A Q matrix shows transitions between states A B C D and E, with different parameters for forward and reverse transitions. A frequency vector shows the probabilities of each of the five states. The total model has 20 Q matrix transition parameters and 5 (really 4) state frequency parameters. "/>
          <p:cNvPicPr>
            <a:picLocks noGrp="1" noChangeAspect="1"/>
          </p:cNvPicPr>
          <p:nvPr>
            <p:ph idx="1"/>
          </p:nvPr>
        </p:nvPicPr>
        <p:blipFill>
          <a:blip r:embed="rId2"/>
          <a:stretch>
            <a:fillRect/>
          </a:stretch>
        </p:blipFill>
        <p:spPr>
          <a:xfrm>
            <a:off x="922655" y="1628775"/>
            <a:ext cx="6982460" cy="4833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x-none" altLang="en-US"/>
              <a:t>Differences between statistical phylogenetics and parsimony</a:t>
            </a:r>
          </a:p>
        </p:txBody>
      </p:sp>
      <p:sp>
        <p:nvSpPr>
          <p:cNvPr id="3" name="Content Placeholder 2"/>
          <p:cNvSpPr>
            <a:spLocks noGrp="1"/>
          </p:cNvSpPr>
          <p:nvPr>
            <p:ph idx="1"/>
          </p:nvPr>
        </p:nvSpPr>
        <p:spPr>
          <a:xfrm>
            <a:off x="628650" y="1826260"/>
            <a:ext cx="7886700" cy="4714875"/>
          </a:xfrm>
        </p:spPr>
        <p:txBody>
          <a:bodyPr>
            <a:noAutofit/>
          </a:bodyPr>
          <a:lstStyle/>
          <a:p>
            <a:pPr marL="0" indent="0">
              <a:buNone/>
            </a:pPr>
            <a:r>
              <a:rPr lang="" altLang="x-none" sz="2600"/>
              <a:t>B</a:t>
            </a:r>
            <a:r>
              <a:rPr lang="x-none" altLang="en-US" sz="2600"/>
              <a:t>ranch lengths in expected </a:t>
            </a:r>
            <a:r>
              <a:rPr lang="" altLang="x-none" sz="2600"/>
              <a:t>#</a:t>
            </a:r>
            <a:r>
              <a:rPr lang="x-none" altLang="en-US" sz="2600"/>
              <a:t> of changes </a:t>
            </a:r>
            <a:r>
              <a:rPr lang="" altLang="x-none" sz="2600"/>
              <a:t>vs.</a:t>
            </a:r>
            <a:r>
              <a:rPr lang="x-none" altLang="en-US" sz="2600"/>
              <a:t> minimum # of changes</a:t>
            </a:r>
          </a:p>
          <a:p>
            <a:pPr marL="0" indent="0">
              <a:buNone/>
            </a:pPr>
            <a:r>
              <a:rPr lang="" altLang="x-none" sz="2600"/>
              <a:t>P</a:t>
            </a:r>
            <a:r>
              <a:rPr lang="x-none" altLang="en-US" sz="2600"/>
              <a:t>robabilistically incorporate all possible paths, not just the shortest path</a:t>
            </a:r>
          </a:p>
          <a:p>
            <a:pPr marL="0" indent="0">
              <a:buNone/>
            </a:pPr>
            <a:r>
              <a:rPr lang="" altLang="x-none" sz="2600"/>
              <a:t>F</a:t>
            </a:r>
            <a:r>
              <a:rPr lang="x-none" altLang="en-US" sz="2600"/>
              <a:t>lex</a:t>
            </a:r>
            <a:r>
              <a:rPr lang="" altLang="x-none" sz="2600"/>
              <a:t>i</a:t>
            </a:r>
            <a:r>
              <a:rPr lang="x-none" altLang="en-US" sz="2600"/>
              <a:t>bility to modify and compare models</a:t>
            </a:r>
          </a:p>
          <a:p>
            <a:pPr marL="0" indent="0">
              <a:buNone/>
            </a:pPr>
            <a:r>
              <a:rPr lang="" sz="2600"/>
              <a:t>Can easily c</a:t>
            </a:r>
            <a:r>
              <a:rPr lang="x-none" altLang="en-US" sz="2600"/>
              <a:t>onvert branch lengths to time (w</a:t>
            </a:r>
            <a:r>
              <a:rPr lang="" altLang="x-none" sz="2600"/>
              <a:t>/</a:t>
            </a:r>
            <a:r>
              <a:rPr lang="x-none" altLang="en-US" sz="2600"/>
              <a:t>fossils or other constraints)</a:t>
            </a:r>
          </a:p>
          <a:p>
            <a:pPr marL="0" indent="0">
              <a:buNone/>
            </a:pPr>
            <a:r>
              <a:rPr lang="" altLang="x-none" sz="2600"/>
              <a:t>All data informative</a:t>
            </a:r>
            <a:r>
              <a:rPr lang="x-none" altLang="en-US" sz="2600"/>
              <a:t>, not just parsimony-informative sites</a:t>
            </a:r>
          </a:p>
          <a:p>
            <a:endParaRPr lang="x-none" altLang="en-US" sz="2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1428116"/>
            <a:ext cx="7886712" cy="1325565"/>
          </a:xfrm>
        </p:spPr>
        <p:txBody>
          <a:bodyPr>
            <a:normAutofit fontScale="90000"/>
          </a:bodyPr>
          <a:lstStyle/>
          <a:p>
            <a:pPr algn="ctr"/>
            <a:r>
              <a:rPr lang="" altLang="en-US"/>
              <a:t>Representing hypotheses &amp; processes with transition matrices</a:t>
            </a:r>
            <a:br>
              <a:rPr lang="" altLang="en-US"/>
            </a:br>
            <a:br>
              <a:rPr lang="" altLang="en-US"/>
            </a:br>
            <a:r>
              <a:rPr lang="" altLang="en-US"/>
              <a:t>(Important skill!!)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83F8-2979-4384-1D75-96C94E566B2B}"/>
              </a:ext>
            </a:extLst>
          </p:cNvPr>
          <p:cNvSpPr>
            <a:spLocks noGrp="1"/>
          </p:cNvSpPr>
          <p:nvPr>
            <p:ph type="title"/>
          </p:nvPr>
        </p:nvSpPr>
        <p:spPr>
          <a:xfrm>
            <a:off x="-1269" y="-213994"/>
            <a:ext cx="7886712" cy="1325565"/>
          </a:xfrm>
        </p:spPr>
        <p:txBody>
          <a:bodyPr/>
          <a:lstStyle/>
          <a:p>
            <a:r>
              <a:rPr lang="en-US" dirty="0">
                <a:latin typeface="Arial"/>
                <a:cs typeface="Arial"/>
              </a:rPr>
              <a:t>Interpreting Q matrices</a:t>
            </a:r>
            <a:endParaRPr lang="en-US" dirty="0">
              <a:cs typeface="Arial"/>
            </a:endParaRPr>
          </a:p>
        </p:txBody>
      </p:sp>
      <p:sp>
        <p:nvSpPr>
          <p:cNvPr id="4" name="Title 1">
            <a:extLst>
              <a:ext uri="{FF2B5EF4-FFF2-40B4-BE49-F238E27FC236}">
                <a16:creationId xmlns:a16="http://schemas.microsoft.com/office/drawing/2014/main" id="{48ED9EEE-68D1-9F76-648A-94833567658F}"/>
              </a:ext>
            </a:extLst>
          </p:cNvPr>
          <p:cNvSpPr>
            <a:spLocks noGrp="1"/>
          </p:cNvSpPr>
          <p:nvPr/>
        </p:nvSpPr>
        <p:spPr>
          <a:xfrm>
            <a:off x="109855" y="2349500"/>
            <a:ext cx="3504565" cy="13258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r>
              <a:rPr lang="x-none" altLang="en-US" sz="3200"/>
              <a:t>How many parameters for each?</a:t>
            </a:r>
            <a:br>
              <a:rPr lang="x-none" altLang="en-US" sz="3200"/>
            </a:br>
            <a:br>
              <a:rPr lang="x-none" altLang="en-US" sz="3200"/>
            </a:br>
            <a:r>
              <a:rPr lang="x-none" altLang="en-US" sz="3200"/>
              <a:t>What do the models suggest about evolution?</a:t>
            </a:r>
          </a:p>
        </p:txBody>
      </p:sp>
      <p:pic>
        <p:nvPicPr>
          <p:cNvPr id="5" name="Content Placeholder 3" descr="Two Q matrices on the top row. One has symmetric changes between nucleotides. The second has states labeled 00, 01, 11 and 10. Transitions are not symmetric and double transitions are set to 0. ">
            <a:extLst>
              <a:ext uri="{FF2B5EF4-FFF2-40B4-BE49-F238E27FC236}">
                <a16:creationId xmlns:a16="http://schemas.microsoft.com/office/drawing/2014/main" id="{9C210758-04C4-B1C1-3D1D-6FB12F4FF76E}"/>
              </a:ext>
            </a:extLst>
          </p:cNvPr>
          <p:cNvPicPr>
            <a:picLocks noGrp="1" noChangeAspect="1"/>
          </p:cNvPicPr>
          <p:nvPr/>
        </p:nvPicPr>
        <p:blipFill>
          <a:blip r:embed="rId2"/>
          <a:srcRect r="50652"/>
          <a:stretch>
            <a:fillRect/>
          </a:stretch>
        </p:blipFill>
        <p:spPr>
          <a:xfrm>
            <a:off x="3439160" y="516890"/>
            <a:ext cx="5660390" cy="3294380"/>
          </a:xfrm>
          <a:prstGeom prst="rect">
            <a:avLst/>
          </a:prstGeom>
        </p:spPr>
      </p:pic>
      <p:pic>
        <p:nvPicPr>
          <p:cNvPr id="6" name="Picture 5" descr="Two transition matrices, one between states A+ T+ A- and T-. This is the covarion model. The second transition matrix only allows transitions between neighboring states. ">
            <a:extLst>
              <a:ext uri="{FF2B5EF4-FFF2-40B4-BE49-F238E27FC236}">
                <a16:creationId xmlns:a16="http://schemas.microsoft.com/office/drawing/2014/main" id="{E06E3181-0654-6D8D-6CC0-BE25300C86C5}"/>
              </a:ext>
            </a:extLst>
          </p:cNvPr>
          <p:cNvPicPr>
            <a:picLocks noChangeAspect="1"/>
          </p:cNvPicPr>
          <p:nvPr/>
        </p:nvPicPr>
        <p:blipFill>
          <a:blip r:embed="rId3"/>
          <a:stretch>
            <a:fillRect/>
          </a:stretch>
        </p:blipFill>
        <p:spPr>
          <a:xfrm>
            <a:off x="3550285" y="3580130"/>
            <a:ext cx="5705475" cy="3279775"/>
          </a:xfrm>
          <a:prstGeom prst="rect">
            <a:avLst/>
          </a:prstGeom>
        </p:spPr>
      </p:pic>
      <p:sp>
        <p:nvSpPr>
          <p:cNvPr id="7" name="Rectangle 6">
            <a:extLst>
              <a:ext uri="{FF2B5EF4-FFF2-40B4-BE49-F238E27FC236}">
                <a16:creationId xmlns:a16="http://schemas.microsoft.com/office/drawing/2014/main" id="{13CD17A9-C63B-E315-EA62-75BB137E8973}"/>
              </a:ext>
            </a:extLst>
          </p:cNvPr>
          <p:cNvSpPr/>
          <p:nvPr/>
        </p:nvSpPr>
        <p:spPr>
          <a:xfrm>
            <a:off x="3291840" y="524510"/>
            <a:ext cx="5853430" cy="641350"/>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 altLang="en-US" dirty="0"/>
              <a:t>A.                                                 </a:t>
            </a:r>
            <a:r>
              <a:rPr lang="" altLang="en-US"/>
              <a:t>     </a:t>
            </a:r>
            <a:r>
              <a:rPr lang="" altLang="en-US" dirty="0"/>
              <a:t>    B. </a:t>
            </a:r>
          </a:p>
        </p:txBody>
      </p:sp>
      <p:sp>
        <p:nvSpPr>
          <p:cNvPr id="8" name="Rectangle 7">
            <a:extLst>
              <a:ext uri="{FF2B5EF4-FFF2-40B4-BE49-F238E27FC236}">
                <a16:creationId xmlns:a16="http://schemas.microsoft.com/office/drawing/2014/main" id="{92887B5F-F1AE-9EED-8E36-956DBEB0A3BF}"/>
              </a:ext>
            </a:extLst>
          </p:cNvPr>
          <p:cNvSpPr/>
          <p:nvPr/>
        </p:nvSpPr>
        <p:spPr>
          <a:xfrm>
            <a:off x="3291840" y="3633470"/>
            <a:ext cx="5853430" cy="641350"/>
          </a:xfrm>
          <a:prstGeom prst="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 altLang="en-US" dirty="0"/>
              <a:t>C.       </a:t>
            </a:r>
            <a:r>
              <a:rPr lang="" altLang="en-US"/>
              <a:t>  </a:t>
            </a:r>
            <a:r>
              <a:rPr lang="" altLang="en-US" dirty="0"/>
              <a:t>                                                 D.</a:t>
            </a:r>
          </a:p>
        </p:txBody>
      </p:sp>
    </p:spTree>
    <p:extLst>
      <p:ext uri="{BB962C8B-B14F-4D97-AF65-F5344CB8AC3E}">
        <p14:creationId xmlns:p14="http://schemas.microsoft.com/office/powerpoint/2010/main" val="2440954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x-none" altLang="en-US">
                <a:latin typeface="Arial"/>
                <a:cs typeface="Arial"/>
              </a:rPr>
              <a:t>Modifying assumptions 3 &amp; 4</a:t>
            </a:r>
            <a:endParaRPr lang="x-none" altLang="en-US" dirty="0">
              <a:cs typeface="Arial"/>
            </a:endParaRPr>
          </a:p>
        </p:txBody>
      </p:sp>
      <p:sp>
        <p:nvSpPr>
          <p:cNvPr id="3" name="Content Placeholder 2"/>
          <p:cNvSpPr>
            <a:spLocks noGrp="1"/>
          </p:cNvSpPr>
          <p:nvPr>
            <p:ph idx="1"/>
          </p:nvPr>
        </p:nvSpPr>
        <p:spPr>
          <a:xfrm>
            <a:off x="640081" y="1861823"/>
            <a:ext cx="7886712" cy="4351344"/>
          </a:xfrm>
        </p:spPr>
        <p:txBody>
          <a:bodyPr vert="horz" lIns="91440" tIns="45720" rIns="91440" bIns="45720" rtlCol="0" anchor="t">
            <a:normAutofit lnSpcReduction="10000"/>
          </a:bodyPr>
          <a:lstStyle/>
          <a:p>
            <a:pPr marL="0" indent="0">
              <a:buNone/>
            </a:pPr>
            <a:r>
              <a:rPr lang="x-none" altLang="en-US"/>
              <a:t>Assumptions of JC69:</a:t>
            </a:r>
          </a:p>
          <a:p>
            <a:pPr marL="0" indent="0">
              <a:buNone/>
            </a:pPr>
            <a:r>
              <a:rPr lang="x-none" altLang="en-US">
                <a:solidFill>
                  <a:schemeClr val="tx1"/>
                </a:solidFill>
              </a:rPr>
              <a:t>1. All substitutions equally likely</a:t>
            </a:r>
          </a:p>
          <a:p>
            <a:pPr marL="0" indent="0">
              <a:buNone/>
            </a:pPr>
            <a:r>
              <a:rPr lang="x-none" altLang="en-US"/>
              <a:t>2. Base frequencies equal</a:t>
            </a:r>
          </a:p>
          <a:p>
            <a:pPr marL="0" indent="0">
              <a:buNone/>
            </a:pPr>
            <a:r>
              <a:rPr lang="x-none" altLang="en-US">
                <a:solidFill>
                  <a:srgbClr val="FF0000"/>
                </a:solidFill>
              </a:rPr>
              <a:t>3. Every site has equal probability of substitution</a:t>
            </a:r>
          </a:p>
          <a:p>
            <a:pPr marL="0" indent="0">
              <a:buNone/>
            </a:pPr>
            <a:r>
              <a:rPr lang="x-none" altLang="en-US">
                <a:solidFill>
                  <a:srgbClr val="FF0000"/>
                </a:solidFill>
              </a:rPr>
              <a:t>4. Process is constant through time</a:t>
            </a:r>
          </a:p>
          <a:p>
            <a:pPr marL="0" indent="0">
              <a:buNone/>
            </a:pPr>
            <a:r>
              <a:rPr lang="x-none" altLang="en-US">
                <a:solidFill>
                  <a:schemeClr val="tx1"/>
                </a:solidFill>
              </a:rPr>
              <a:t>5. Sites are independent of each other</a:t>
            </a:r>
            <a:endParaRPr lang="x-none" altLang="en-US"/>
          </a:p>
          <a:p>
            <a:pPr marL="0" indent="0">
              <a:buNone/>
            </a:pPr>
            <a:r>
              <a:rPr lang="x-none" altLang="en-US"/>
              <a:t>6. Substitution is Markovian (memoryless)</a:t>
            </a:r>
          </a:p>
          <a:p>
            <a:pPr marL="0" indent="0">
              <a:buNone/>
            </a:pPr>
            <a:r>
              <a:rPr lang="x-none" altLang="en-US"/>
              <a:t>7. All sites have the same evolutionary history</a:t>
            </a:r>
          </a:p>
          <a:p>
            <a:pPr marL="0" indent="0">
              <a:buNone/>
            </a:pPr>
            <a:r>
              <a:rPr lang="x-none" altLang="en-US">
                <a:latin typeface="Arial"/>
                <a:cs typeface="Arial"/>
              </a:rPr>
              <a:t>8. Time-reversible</a:t>
            </a:r>
            <a:endParaRPr lang="x-none" altLang="en-US" dirty="0">
              <a:cs typeface="Arial"/>
            </a:endParaRPr>
          </a:p>
        </p:txBody>
      </p:sp>
      <p:sp>
        <p:nvSpPr>
          <p:cNvPr id="4" name="Title 1"/>
          <p:cNvSpPr>
            <a:spLocks noGrp="1"/>
          </p:cNvSpPr>
          <p:nvPr/>
        </p:nvSpPr>
        <p:spPr>
          <a:xfrm>
            <a:off x="773431" y="5798821"/>
            <a:ext cx="7886712" cy="1325565"/>
          </a:xfrm>
          <a:prstGeom prst="rect">
            <a:avLst/>
          </a:prstGeom>
        </p:spPr>
        <p:txBody>
          <a:bodyPr vert="horz" lIns="91440" tIns="45720" rIns="91440" bIns="45720" rtlCol="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a:lstStyle>
          <a:p>
            <a:pPr algn="ctr"/>
            <a:r>
              <a:rPr lang="x-none" altLang="en-US" sz="3200"/>
              <a:t>Can we relax any of these assumptions?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 y="79375"/>
            <a:ext cx="9059545" cy="1325880"/>
          </a:xfrm>
        </p:spPr>
        <p:txBody>
          <a:bodyPr/>
          <a:lstStyle/>
          <a:p>
            <a:pPr algn="ctr"/>
            <a:r>
              <a:rPr lang="x-none" altLang="en-US" sz="3200"/>
              <a:t>Dealing with among-site and time-heterogeneity</a:t>
            </a:r>
          </a:p>
        </p:txBody>
      </p:sp>
      <p:pic>
        <p:nvPicPr>
          <p:cNvPr id="4" name="Content Placeholder 3" descr="A figure from O'Meara 2012. Six scenarios are shown, the first has no heterogeneity. The second shows partitions separating groups of characters each given their own Q. The third shows a discrete gamma with a mixture of Q matrices given to each character. Then a mixture model shows two Q matrices given to each character. Branch heterogeneity splits rates by branches rather than sites. Time heterogeneity gives two Q matrices, one before and one after a time slice on the tree. "/>
          <p:cNvPicPr>
            <a:picLocks noGrp="1" noChangeAspect="1"/>
          </p:cNvPicPr>
          <p:nvPr>
            <p:ph idx="1"/>
          </p:nvPr>
        </p:nvPicPr>
        <p:blipFill>
          <a:blip r:embed="rId2"/>
          <a:stretch>
            <a:fillRect/>
          </a:stretch>
        </p:blipFill>
        <p:spPr>
          <a:xfrm>
            <a:off x="816610" y="1267460"/>
            <a:ext cx="7164070" cy="5363210"/>
          </a:xfrm>
          <a:prstGeom prst="rect">
            <a:avLst/>
          </a:prstGeom>
        </p:spPr>
      </p:pic>
      <p:sp>
        <p:nvSpPr>
          <p:cNvPr id="5" name="Rectangle 4"/>
          <p:cNvSpPr/>
          <p:nvPr/>
        </p:nvSpPr>
        <p:spPr>
          <a:xfrm>
            <a:off x="1074420" y="3495675"/>
            <a:ext cx="7661275" cy="434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136015" y="6284595"/>
            <a:ext cx="7661275" cy="434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291" y="141606"/>
            <a:ext cx="7886712" cy="1325565"/>
          </a:xfrm>
        </p:spPr>
        <p:txBody>
          <a:bodyPr/>
          <a:lstStyle/>
          <a:p>
            <a:r>
              <a:rPr lang="en-US" dirty="0">
                <a:latin typeface="Arial"/>
                <a:cs typeface="Arial"/>
              </a:rPr>
              <a:t>Let's practice reading methods</a:t>
            </a:r>
            <a:endParaRPr lang="en-US" dirty="0"/>
          </a:p>
        </p:txBody>
      </p:sp>
      <p:pic>
        <p:nvPicPr>
          <p:cNvPr id="4" name="Content Placeholder 3" descr="A screenshot of a paper by Hassanin et al. in Molecular Phylogenetics and Evolution building a phylogeny for mammals in the family Bovidae tribe Tragelaphini."/>
          <p:cNvPicPr>
            <a:picLocks noGrp="1" noChangeAspect="1"/>
          </p:cNvPicPr>
          <p:nvPr>
            <p:ph idx="1"/>
          </p:nvPr>
        </p:nvPicPr>
        <p:blipFill>
          <a:blip r:embed="rId2"/>
          <a:stretch>
            <a:fillRect/>
          </a:stretch>
        </p:blipFill>
        <p:spPr>
          <a:xfrm>
            <a:off x="164465" y="1578610"/>
            <a:ext cx="8983345" cy="4780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6649-739F-5872-C26B-142D99BA9B74}"/>
              </a:ext>
            </a:extLst>
          </p:cNvPr>
          <p:cNvSpPr>
            <a:spLocks noGrp="1"/>
          </p:cNvSpPr>
          <p:nvPr>
            <p:ph type="title"/>
          </p:nvPr>
        </p:nvSpPr>
        <p:spPr>
          <a:xfrm>
            <a:off x="-1269" y="-634"/>
            <a:ext cx="7886712" cy="1325565"/>
          </a:xfrm>
        </p:spPr>
        <p:txBody>
          <a:bodyPr/>
          <a:lstStyle/>
          <a:p>
            <a:r>
              <a:rPr lang="en-US" dirty="0">
                <a:latin typeface="Arial"/>
                <a:cs typeface="Arial"/>
              </a:rPr>
              <a:t>Methods interpretation</a:t>
            </a:r>
            <a:endParaRPr lang="en-US" dirty="0">
              <a:cs typeface="Arial"/>
            </a:endParaRPr>
          </a:p>
        </p:txBody>
      </p:sp>
      <p:pic>
        <p:nvPicPr>
          <p:cNvPr id="4" name="Content Placeholder 3" descr="A methods paragraph Hassanin et al.">
            <a:extLst>
              <a:ext uri="{FF2B5EF4-FFF2-40B4-BE49-F238E27FC236}">
                <a16:creationId xmlns:a16="http://schemas.microsoft.com/office/drawing/2014/main" id="{CD89D4C0-C31F-7E69-D3AC-0710702411D0}"/>
              </a:ext>
            </a:extLst>
          </p:cNvPr>
          <p:cNvPicPr>
            <a:picLocks noGrp="1" noChangeAspect="1"/>
          </p:cNvPicPr>
          <p:nvPr>
            <p:ph idx="1"/>
          </p:nvPr>
        </p:nvPicPr>
        <p:blipFill>
          <a:blip r:embed="rId2"/>
          <a:srcRect b="-157"/>
          <a:stretch>
            <a:fillRect/>
          </a:stretch>
        </p:blipFill>
        <p:spPr>
          <a:xfrm>
            <a:off x="1990381" y="1134748"/>
            <a:ext cx="4939732" cy="5516414"/>
          </a:xfrm>
          <a:prstGeom prst="rect">
            <a:avLst/>
          </a:prstGeom>
        </p:spPr>
      </p:pic>
    </p:spTree>
    <p:extLst>
      <p:ext uri="{BB962C8B-B14F-4D97-AF65-F5344CB8AC3E}">
        <p14:creationId xmlns:p14="http://schemas.microsoft.com/office/powerpoint/2010/main" val="3715319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BEC30-FB3B-A4FF-825B-F79861D334BA}"/>
              </a:ext>
            </a:extLst>
          </p:cNvPr>
          <p:cNvSpPr>
            <a:spLocks noGrp="1"/>
          </p:cNvSpPr>
          <p:nvPr>
            <p:ph type="title"/>
          </p:nvPr>
        </p:nvSpPr>
        <p:spPr>
          <a:xfrm>
            <a:off x="80011" y="90806"/>
            <a:ext cx="7886712" cy="1325565"/>
          </a:xfrm>
        </p:spPr>
        <p:txBody>
          <a:bodyPr/>
          <a:lstStyle/>
          <a:p>
            <a:r>
              <a:rPr lang="en-US" dirty="0">
                <a:latin typeface="Arial"/>
                <a:cs typeface="Arial"/>
              </a:rPr>
              <a:t>Relationships among models</a:t>
            </a:r>
            <a:endParaRPr lang="en-US" dirty="0"/>
          </a:p>
        </p:txBody>
      </p:sp>
      <p:pic>
        <p:nvPicPr>
          <p:cNvPr id="4" name="Content Placeholder 3" descr="Relationships among types of time-reversible models, from the simplest (Jukes-Cantor) to the most complex (GTR). Models differ mostly along two branches, representing combinations of equal base frequencies or not, and how many transition categories there are. ">
            <a:extLst>
              <a:ext uri="{FF2B5EF4-FFF2-40B4-BE49-F238E27FC236}">
                <a16:creationId xmlns:a16="http://schemas.microsoft.com/office/drawing/2014/main" id="{E7B48DCD-D18D-9AF4-8B95-51306B9281F9}"/>
              </a:ext>
            </a:extLst>
          </p:cNvPr>
          <p:cNvPicPr>
            <a:picLocks noGrp="1" noChangeAspect="1"/>
          </p:cNvPicPr>
          <p:nvPr>
            <p:ph idx="1"/>
          </p:nvPr>
        </p:nvPicPr>
        <p:blipFill>
          <a:blip r:embed="rId2"/>
          <a:srcRect b="167"/>
          <a:stretch>
            <a:fillRect/>
          </a:stretch>
        </p:blipFill>
        <p:spPr>
          <a:xfrm>
            <a:off x="1701754" y="1825628"/>
            <a:ext cx="5740505" cy="4344068"/>
          </a:xfrm>
          <a:prstGeom prst="rect">
            <a:avLst/>
          </a:prstGeom>
        </p:spPr>
      </p:pic>
    </p:spTree>
    <p:extLst>
      <p:ext uri="{BB962C8B-B14F-4D97-AF65-F5344CB8AC3E}">
        <p14:creationId xmlns:p14="http://schemas.microsoft.com/office/powerpoint/2010/main" val="165132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53A2-936C-2148-E4A5-A02695097FC2}"/>
              </a:ext>
            </a:extLst>
          </p:cNvPr>
          <p:cNvSpPr>
            <a:spLocks noGrp="1"/>
          </p:cNvSpPr>
          <p:nvPr>
            <p:ph type="title"/>
          </p:nvPr>
        </p:nvSpPr>
        <p:spPr/>
        <p:txBody>
          <a:bodyPr/>
          <a:lstStyle/>
          <a:p>
            <a:r>
              <a:rPr lang="en-US" dirty="0">
                <a:latin typeface="Arial"/>
                <a:cs typeface="Arial"/>
              </a:rPr>
              <a:t>Adding process complexity</a:t>
            </a:r>
            <a:endParaRPr lang="en-US" dirty="0">
              <a:cs typeface="Arial"/>
            </a:endParaRPr>
          </a:p>
        </p:txBody>
      </p:sp>
      <p:grpSp>
        <p:nvGrpSpPr>
          <p:cNvPr id="11" name="Group 10" descr="Three models and their Q matrices, Jukes Cantor 69, Kimura 1980, and HKY85. HKY85 introduces unequal base frequencies, such that the full Q matrix is the product of the stationary frequency and the &quot;exchangeability rate&quot;. ">
            <a:extLst>
              <a:ext uri="{FF2B5EF4-FFF2-40B4-BE49-F238E27FC236}">
                <a16:creationId xmlns:a16="http://schemas.microsoft.com/office/drawing/2014/main" id="{AFD04801-EB9C-312B-0E17-5BF3759D07DD}"/>
              </a:ext>
            </a:extLst>
          </p:cNvPr>
          <p:cNvGrpSpPr/>
          <p:nvPr/>
        </p:nvGrpSpPr>
        <p:grpSpPr>
          <a:xfrm>
            <a:off x="-104775" y="1899285"/>
            <a:ext cx="9149715" cy="4742815"/>
            <a:chOff x="-74295" y="1807845"/>
            <a:chExt cx="9149715" cy="4742815"/>
          </a:xfrm>
        </p:grpSpPr>
        <p:pic>
          <p:nvPicPr>
            <p:cNvPr id="4" name="Content Placeholder 3">
              <a:extLst>
                <a:ext uri="{FF2B5EF4-FFF2-40B4-BE49-F238E27FC236}">
                  <a16:creationId xmlns:a16="http://schemas.microsoft.com/office/drawing/2014/main" id="{5662241E-D5D3-367C-A199-01AD3D44CFAB}"/>
                </a:ext>
              </a:extLst>
            </p:cNvPr>
            <p:cNvPicPr>
              <a:picLocks noGrp="1" noChangeAspect="1"/>
            </p:cNvPicPr>
            <p:nvPr/>
          </p:nvPicPr>
          <p:blipFill>
            <a:blip r:embed="rId2"/>
            <a:stretch>
              <a:fillRect/>
            </a:stretch>
          </p:blipFill>
          <p:spPr>
            <a:xfrm>
              <a:off x="-74295" y="1807845"/>
              <a:ext cx="8312785" cy="3283585"/>
            </a:xfrm>
            <a:prstGeom prst="rect">
              <a:avLst/>
            </a:prstGeom>
          </p:spPr>
        </p:pic>
        <p:pic>
          <p:nvPicPr>
            <p:cNvPr id="5" name="Picture 4">
              <a:extLst>
                <a:ext uri="{FF2B5EF4-FFF2-40B4-BE49-F238E27FC236}">
                  <a16:creationId xmlns:a16="http://schemas.microsoft.com/office/drawing/2014/main" id="{FC560078-550E-F891-42DD-F1DA9327EF17}"/>
                </a:ext>
              </a:extLst>
            </p:cNvPr>
            <p:cNvPicPr>
              <a:picLocks noChangeAspect="1"/>
            </p:cNvPicPr>
            <p:nvPr/>
          </p:nvPicPr>
          <p:blipFill>
            <a:blip r:embed="rId3"/>
            <a:stretch>
              <a:fillRect/>
            </a:stretch>
          </p:blipFill>
          <p:spPr>
            <a:xfrm>
              <a:off x="2659380" y="4907915"/>
              <a:ext cx="2650490" cy="1638300"/>
            </a:xfrm>
            <a:prstGeom prst="rect">
              <a:avLst/>
            </a:prstGeom>
          </p:spPr>
        </p:pic>
        <p:pic>
          <p:nvPicPr>
            <p:cNvPr id="6" name="Picture 5">
              <a:extLst>
                <a:ext uri="{FF2B5EF4-FFF2-40B4-BE49-F238E27FC236}">
                  <a16:creationId xmlns:a16="http://schemas.microsoft.com/office/drawing/2014/main" id="{6A6EF1F5-46A2-AE6F-4436-3178F18FB52B}"/>
                </a:ext>
              </a:extLst>
            </p:cNvPr>
            <p:cNvPicPr>
              <a:picLocks noChangeAspect="1"/>
            </p:cNvPicPr>
            <p:nvPr/>
          </p:nvPicPr>
          <p:blipFill>
            <a:blip r:embed="rId4"/>
            <a:stretch>
              <a:fillRect/>
            </a:stretch>
          </p:blipFill>
          <p:spPr>
            <a:xfrm>
              <a:off x="5419725" y="4899025"/>
              <a:ext cx="3655695" cy="1440815"/>
            </a:xfrm>
            <a:prstGeom prst="rect">
              <a:avLst/>
            </a:prstGeom>
          </p:spPr>
        </p:pic>
        <p:pic>
          <p:nvPicPr>
            <p:cNvPr id="7" name="Picture 6">
              <a:extLst>
                <a:ext uri="{FF2B5EF4-FFF2-40B4-BE49-F238E27FC236}">
                  <a16:creationId xmlns:a16="http://schemas.microsoft.com/office/drawing/2014/main" id="{B0D8F6F5-E343-57E1-BDA4-FE85A2491C3F}"/>
                </a:ext>
              </a:extLst>
            </p:cNvPr>
            <p:cNvPicPr>
              <a:picLocks noChangeAspect="1"/>
            </p:cNvPicPr>
            <p:nvPr/>
          </p:nvPicPr>
          <p:blipFill>
            <a:blip r:embed="rId5"/>
            <a:stretch>
              <a:fillRect/>
            </a:stretch>
          </p:blipFill>
          <p:spPr>
            <a:xfrm>
              <a:off x="314325" y="4902200"/>
              <a:ext cx="2048510" cy="1467485"/>
            </a:xfrm>
            <a:prstGeom prst="rect">
              <a:avLst/>
            </a:prstGeom>
          </p:spPr>
        </p:pic>
        <p:sp>
          <p:nvSpPr>
            <p:cNvPr id="8" name="Double Bracket 7">
              <a:extLst>
                <a:ext uri="{FF2B5EF4-FFF2-40B4-BE49-F238E27FC236}">
                  <a16:creationId xmlns:a16="http://schemas.microsoft.com/office/drawing/2014/main" id="{B8AE80C3-DB5E-0A96-2EBD-588DB193ADC6}"/>
                </a:ext>
              </a:extLst>
            </p:cNvPr>
            <p:cNvSpPr/>
            <p:nvPr/>
          </p:nvSpPr>
          <p:spPr>
            <a:xfrm>
              <a:off x="205740" y="4892675"/>
              <a:ext cx="2167255" cy="164592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9" name="Double Bracket 8">
              <a:extLst>
                <a:ext uri="{FF2B5EF4-FFF2-40B4-BE49-F238E27FC236}">
                  <a16:creationId xmlns:a16="http://schemas.microsoft.com/office/drawing/2014/main" id="{EDB6F060-188E-5396-F6B0-6A91D728543A}"/>
                </a:ext>
              </a:extLst>
            </p:cNvPr>
            <p:cNvSpPr/>
            <p:nvPr/>
          </p:nvSpPr>
          <p:spPr>
            <a:xfrm>
              <a:off x="2567305" y="4904740"/>
              <a:ext cx="2753995" cy="164592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0" name="Double Bracket 9">
              <a:extLst>
                <a:ext uri="{FF2B5EF4-FFF2-40B4-BE49-F238E27FC236}">
                  <a16:creationId xmlns:a16="http://schemas.microsoft.com/office/drawing/2014/main" id="{2870B3D6-C158-DBF9-21D5-E37A664A0027}"/>
                </a:ext>
              </a:extLst>
            </p:cNvPr>
            <p:cNvSpPr/>
            <p:nvPr/>
          </p:nvSpPr>
          <p:spPr>
            <a:xfrm>
              <a:off x="5384165" y="4853305"/>
              <a:ext cx="3636645" cy="164592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24747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x-none" altLang="en-US"/>
              <a:t>General Time-Reversible Model</a:t>
            </a:r>
          </a:p>
        </p:txBody>
      </p:sp>
      <p:grpSp>
        <p:nvGrpSpPr>
          <p:cNvPr id="3" name="Group 2" descr="The GTR model is the most general time reversible model, shockingly. It has different exchangeability rates for every pair of nucleotides, and unequal base frequencies. ">
            <a:extLst>
              <a:ext uri="{FF2B5EF4-FFF2-40B4-BE49-F238E27FC236}">
                <a16:creationId xmlns:a16="http://schemas.microsoft.com/office/drawing/2014/main" id="{E33DA7D3-2498-F9F6-BFB9-FC4EEDECAA13}"/>
              </a:ext>
            </a:extLst>
          </p:cNvPr>
          <p:cNvGrpSpPr/>
          <p:nvPr/>
        </p:nvGrpSpPr>
        <p:grpSpPr>
          <a:xfrm>
            <a:off x="102235" y="1694815"/>
            <a:ext cx="8833485" cy="4990465"/>
            <a:chOff x="102235" y="1694815"/>
            <a:chExt cx="8833485" cy="4990465"/>
          </a:xfrm>
        </p:grpSpPr>
        <p:pic>
          <p:nvPicPr>
            <p:cNvPr id="4" name="Picture 3"/>
            <p:cNvPicPr>
              <a:picLocks noChangeAspect="1"/>
            </p:cNvPicPr>
            <p:nvPr/>
          </p:nvPicPr>
          <p:blipFill>
            <a:blip r:embed="rId2"/>
            <a:stretch>
              <a:fillRect/>
            </a:stretch>
          </p:blipFill>
          <p:spPr>
            <a:xfrm>
              <a:off x="102235" y="1694815"/>
              <a:ext cx="8833485" cy="2141220"/>
            </a:xfrm>
            <a:prstGeom prst="rect">
              <a:avLst/>
            </a:prstGeom>
          </p:spPr>
        </p:pic>
        <p:pic>
          <p:nvPicPr>
            <p:cNvPr id="5" name="Picture 4"/>
            <p:cNvPicPr>
              <a:picLocks noChangeAspect="1"/>
            </p:cNvPicPr>
            <p:nvPr/>
          </p:nvPicPr>
          <p:blipFill>
            <a:blip r:embed="rId3"/>
            <a:stretch>
              <a:fillRect/>
            </a:stretch>
          </p:blipFill>
          <p:spPr>
            <a:xfrm>
              <a:off x="3004185" y="3919220"/>
              <a:ext cx="3205480" cy="2766060"/>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wo matrices representing the two components of the Q matrix, the R matrix of exchangeability rates (5 parameters, not 6!) and the base frequency vector/matrix (which is 3 parameters not 4!). "/>
          <p:cNvPicPr>
            <a:picLocks noGrp="1" noChangeAspect="1"/>
          </p:cNvPicPr>
          <p:nvPr>
            <p:ph idx="1"/>
          </p:nvPr>
        </p:nvPicPr>
        <p:blipFill>
          <a:blip r:embed="rId2"/>
          <a:stretch>
            <a:fillRect/>
          </a:stretch>
        </p:blipFill>
        <p:spPr>
          <a:xfrm>
            <a:off x="1207770" y="1476375"/>
            <a:ext cx="6268720" cy="5347970"/>
          </a:xfrm>
          <a:prstGeom prst="rect">
            <a:avLst/>
          </a:prstGeom>
        </p:spPr>
      </p:pic>
      <p:sp>
        <p:nvSpPr>
          <p:cNvPr id="6" name="Title 5"/>
          <p:cNvSpPr>
            <a:spLocks noGrp="1"/>
          </p:cNvSpPr>
          <p:nvPr>
            <p:ph type="title"/>
          </p:nvPr>
        </p:nvSpPr>
        <p:spPr/>
        <p:txBody>
          <a:bodyPr>
            <a:normAutofit/>
          </a:bodyPr>
          <a:lstStyle/>
          <a:p>
            <a:r>
              <a:rPr lang="x-none" altLang="en-US">
                <a:latin typeface="Arial"/>
                <a:cs typeface="Arial"/>
              </a:rPr>
              <a:t>General Time-Reversible Model Decomposed</a:t>
            </a:r>
            <a:endParaRPr lang="x-none"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9" y="-264794"/>
            <a:ext cx="7886712" cy="1325565"/>
          </a:xfrm>
        </p:spPr>
        <p:txBody>
          <a:bodyPr>
            <a:normAutofit/>
          </a:bodyPr>
          <a:lstStyle/>
          <a:p>
            <a:r>
              <a:rPr lang="x-none" altLang="en-US" sz="3200"/>
              <a:t>Among-site rate variation</a:t>
            </a:r>
          </a:p>
        </p:txBody>
      </p:sp>
      <p:grpSp>
        <p:nvGrpSpPr>
          <p:cNvPr id="5" name="Group 4" descr="Two DNA and protein alignments of several vertebrate species, the ATP1a1 gene and the FOXp2 gene. The most notable thing is that the 3rd codon position is often the most variable, and there is very little divergence in the translated protein sequences. ">
            <a:extLst>
              <a:ext uri="{FF2B5EF4-FFF2-40B4-BE49-F238E27FC236}">
                <a16:creationId xmlns:a16="http://schemas.microsoft.com/office/drawing/2014/main" id="{C22EC8BA-3FB8-B00B-A73F-05A1056C3F2A}"/>
              </a:ext>
            </a:extLst>
          </p:cNvPr>
          <p:cNvGrpSpPr/>
          <p:nvPr/>
        </p:nvGrpSpPr>
        <p:grpSpPr>
          <a:xfrm>
            <a:off x="11430" y="396875"/>
            <a:ext cx="9639300" cy="6428740"/>
            <a:chOff x="11430" y="396875"/>
            <a:chExt cx="9639300" cy="6428740"/>
          </a:xfrm>
        </p:grpSpPr>
        <p:pic>
          <p:nvPicPr>
            <p:cNvPr id="3" name="Picture 2">
              <a:extLst>
                <a:ext uri="{FF2B5EF4-FFF2-40B4-BE49-F238E27FC236}">
                  <a16:creationId xmlns:a16="http://schemas.microsoft.com/office/drawing/2014/main" id="{650A0BBB-09F8-FFE1-4473-5D326E96DE4A}"/>
                </a:ext>
              </a:extLst>
            </p:cNvPr>
            <p:cNvPicPr>
              <a:picLocks noChangeAspect="1"/>
            </p:cNvPicPr>
            <p:nvPr/>
          </p:nvPicPr>
          <p:blipFill>
            <a:blip r:embed="rId2"/>
            <a:stretch>
              <a:fillRect/>
            </a:stretch>
          </p:blipFill>
          <p:spPr>
            <a:xfrm>
              <a:off x="61595" y="396875"/>
              <a:ext cx="9534525" cy="3400425"/>
            </a:xfrm>
            <a:prstGeom prst="rect">
              <a:avLst/>
            </a:prstGeom>
          </p:spPr>
        </p:pic>
        <p:pic>
          <p:nvPicPr>
            <p:cNvPr id="4" name="Picture 3">
              <a:extLst>
                <a:ext uri="{FF2B5EF4-FFF2-40B4-BE49-F238E27FC236}">
                  <a16:creationId xmlns:a16="http://schemas.microsoft.com/office/drawing/2014/main" id="{C234AFA6-AC7A-7EBC-8B53-0B65E6A9FA5E}"/>
                </a:ext>
              </a:extLst>
            </p:cNvPr>
            <p:cNvPicPr>
              <a:picLocks noChangeAspect="1"/>
            </p:cNvPicPr>
            <p:nvPr/>
          </p:nvPicPr>
          <p:blipFill>
            <a:blip r:embed="rId3"/>
            <a:stretch>
              <a:fillRect/>
            </a:stretch>
          </p:blipFill>
          <p:spPr>
            <a:xfrm>
              <a:off x="11430" y="3425190"/>
              <a:ext cx="9639300" cy="3400425"/>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ltLang="en-US"/>
              <a:t>Site-specific rates</a:t>
            </a:r>
          </a:p>
        </p:txBody>
      </p:sp>
      <p:pic>
        <p:nvPicPr>
          <p:cNvPr id="4" name="Content Placeholder 3" descr="A DNA alignment that partitions the 1st and 2nd codon positions into one block, and the 3rd codon position into another block. One set of parameters is used to model each partition. "/>
          <p:cNvPicPr>
            <a:picLocks noGrp="1" noChangeAspect="1"/>
          </p:cNvPicPr>
          <p:nvPr>
            <p:ph idx="1"/>
          </p:nvPr>
        </p:nvPicPr>
        <p:blipFill>
          <a:blip r:embed="rId2">
            <a:grayscl/>
            <a:lum contrast="30000"/>
          </a:blip>
          <a:srcRect b="4501"/>
          <a:stretch>
            <a:fillRect/>
          </a:stretch>
        </p:blipFill>
        <p:spPr>
          <a:xfrm>
            <a:off x="176530" y="2113280"/>
            <a:ext cx="8587740" cy="34086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29" y="-1006474"/>
            <a:ext cx="6951992" cy="1356045"/>
          </a:xfrm>
        </p:spPr>
        <p:txBody>
          <a:bodyPr/>
          <a:lstStyle/>
          <a:p>
            <a:r>
              <a:rPr lang="en-US" dirty="0">
                <a:latin typeface="Arial"/>
                <a:cs typeface="Arial"/>
              </a:rPr>
              <a:t>Site specific approach</a:t>
            </a:r>
            <a:endParaRPr lang="en-US" dirty="0"/>
          </a:p>
        </p:txBody>
      </p:sp>
      <p:pic>
        <p:nvPicPr>
          <p:cNvPr id="4" name="Content Placeholder 3" descr="A figure from Paul Lewis showing the site specific approach, a group of people representing sites have orange and blue heads as categorized by their leader, despite the fact they all vary in size. The leader with a megaphone is giving all the ones in orange one size coat for the average of their group, the other group gets a coat the average of their group. "/>
          <p:cNvPicPr>
            <a:picLocks noGrp="1" noChangeAspect="1"/>
          </p:cNvPicPr>
          <p:nvPr>
            <p:ph idx="1"/>
          </p:nvPr>
        </p:nvPicPr>
        <p:blipFill>
          <a:blip r:embed="rId2"/>
          <a:stretch>
            <a:fillRect/>
          </a:stretch>
        </p:blipFill>
        <p:spPr>
          <a:xfrm>
            <a:off x="122555" y="130810"/>
            <a:ext cx="8721725" cy="65925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49" y="-1219834"/>
            <a:ext cx="7886712" cy="1325565"/>
          </a:xfrm>
        </p:spPr>
        <p:txBody>
          <a:bodyPr/>
          <a:lstStyle/>
          <a:p>
            <a:r>
              <a:rPr lang="en-US" dirty="0">
                <a:latin typeface="Arial"/>
                <a:cs typeface="Arial"/>
              </a:rPr>
              <a:t>Site specific approach leads to some misfit rates</a:t>
            </a:r>
            <a:endParaRPr lang="en-US" dirty="0"/>
          </a:p>
        </p:txBody>
      </p:sp>
      <p:pic>
        <p:nvPicPr>
          <p:cNvPr id="4" name="Content Placeholder 3" descr="The blue and orange people are now lined up and fitted with their averaged sized coats. It becomes obvious that while it mostly fits each person Ok, some people (sites) in each group are under or oversized (have rates that are too high or too low for their actual rate). Good: Costs less, only need to buy one coat for every person. Bad: Every person in a group has to wear the same size coat. "/>
          <p:cNvPicPr>
            <a:picLocks noGrp="1" noChangeAspect="1"/>
          </p:cNvPicPr>
          <p:nvPr>
            <p:ph idx="1"/>
          </p:nvPr>
        </p:nvPicPr>
        <p:blipFill>
          <a:blip r:embed="rId2"/>
          <a:stretch>
            <a:fillRect/>
          </a:stretch>
        </p:blipFill>
        <p:spPr>
          <a:xfrm>
            <a:off x="70485" y="83185"/>
            <a:ext cx="9003665" cy="66782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29" y="-1026794"/>
            <a:ext cx="7886712" cy="1325565"/>
          </a:xfrm>
        </p:spPr>
        <p:txBody>
          <a:bodyPr/>
          <a:lstStyle/>
          <a:p>
            <a:r>
              <a:rPr lang="en-US" dirty="0">
                <a:latin typeface="Arial"/>
                <a:cs typeface="Arial"/>
              </a:rPr>
              <a:t>Mixture model approach</a:t>
            </a:r>
            <a:endParaRPr lang="en-US" dirty="0"/>
          </a:p>
        </p:txBody>
      </p:sp>
      <p:pic>
        <p:nvPicPr>
          <p:cNvPr id="6" name="Content Placeholder 5" descr="Now a group of people all have the same colored blue heads and the leader says they are going to give each person two coats from the start, and they choose the one that best fits them. "/>
          <p:cNvPicPr>
            <a:picLocks noGrp="1" noChangeAspect="1"/>
          </p:cNvPicPr>
          <p:nvPr>
            <p:ph idx="1"/>
          </p:nvPr>
        </p:nvPicPr>
        <p:blipFill>
          <a:blip r:embed="rId2"/>
          <a:stretch>
            <a:fillRect/>
          </a:stretch>
        </p:blipFill>
        <p:spPr>
          <a:xfrm>
            <a:off x="180975" y="66675"/>
            <a:ext cx="8785860" cy="67208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1" y="-1036954"/>
            <a:ext cx="7886712" cy="1325565"/>
          </a:xfrm>
        </p:spPr>
        <p:txBody>
          <a:bodyPr/>
          <a:lstStyle/>
          <a:p>
            <a:r>
              <a:rPr lang="en-US" dirty="0">
                <a:latin typeface="Arial"/>
                <a:cs typeface="Arial"/>
              </a:rPr>
              <a:t>Mixture model results in better fits, but costs more.</a:t>
            </a:r>
            <a:endParaRPr lang="en-US" dirty="0"/>
          </a:p>
        </p:txBody>
      </p:sp>
      <p:pic>
        <p:nvPicPr>
          <p:cNvPr id="4" name="Content Placeholder 3" descr="Now each person chooses a coat and the mostly all fit well enough, but one coat is thrown on the ground. The good is every person gets a better fit because they choose from two coats, the bad is that it costs more because more than two coats are provided to each person. "/>
          <p:cNvPicPr>
            <a:picLocks noGrp="1" noChangeAspect="1"/>
          </p:cNvPicPr>
          <p:nvPr>
            <p:ph idx="1"/>
          </p:nvPr>
        </p:nvPicPr>
        <p:blipFill>
          <a:blip r:embed="rId2"/>
          <a:stretch>
            <a:fillRect/>
          </a:stretch>
        </p:blipFill>
        <p:spPr>
          <a:xfrm>
            <a:off x="-2540" y="-3810"/>
            <a:ext cx="8973185" cy="67983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ltLang="en-US"/>
              <a:t>Invariable sites model</a:t>
            </a:r>
          </a:p>
        </p:txBody>
      </p:sp>
      <p:sp>
        <p:nvSpPr>
          <p:cNvPr id="3" name="Content Placeholder 2"/>
          <p:cNvSpPr>
            <a:spLocks noGrp="1"/>
          </p:cNvSpPr>
          <p:nvPr>
            <p:ph idx="1"/>
          </p:nvPr>
        </p:nvSpPr>
        <p:spPr/>
        <p:txBody>
          <a:bodyPr/>
          <a:lstStyle/>
          <a:p>
            <a:pPr marL="0" indent="0">
              <a:buNone/>
            </a:pPr>
            <a:r>
              <a:rPr lang="x-none" altLang="en-US"/>
              <a:t>Every site has a probability, </a:t>
            </a:r>
            <a:r>
              <a:rPr lang="x-none" altLang="en-US" i="1"/>
              <a:t>P</a:t>
            </a:r>
            <a:r>
              <a:rPr lang="x-none" altLang="en-US" i="1" baseline="-25000"/>
              <a:t>invar</a:t>
            </a:r>
            <a:r>
              <a:rPr lang="x-none" altLang="en-US"/>
              <a:t> of being </a:t>
            </a:r>
            <a:r>
              <a:rPr lang="x-none" altLang="en-US" i="1"/>
              <a:t>invariant</a:t>
            </a:r>
          </a:p>
          <a:p>
            <a:pPr marL="0" indent="0">
              <a:buNone/>
            </a:pPr>
            <a:endParaRPr lang="x-none" altLang="en-US" i="1">
              <a:sym typeface="+mn-ea"/>
            </a:endParaRPr>
          </a:p>
          <a:p>
            <a:pPr marL="0" indent="0">
              <a:buNone/>
            </a:pPr>
            <a:r>
              <a:rPr lang="x-none" altLang="en-US" i="1">
                <a:sym typeface="+mn-ea"/>
              </a:rPr>
              <a:t>P</a:t>
            </a:r>
            <a:r>
              <a:rPr lang="x-none" altLang="en-US" i="1" baseline="-25000">
                <a:sym typeface="+mn-ea"/>
              </a:rPr>
              <a:t>invar</a:t>
            </a:r>
            <a:r>
              <a:rPr lang="x-none" altLang="en-US">
                <a:sym typeface="+mn-ea"/>
              </a:rPr>
              <a:t> estimated from the data</a:t>
            </a:r>
          </a:p>
          <a:p>
            <a:pPr marL="0" indent="0">
              <a:buNone/>
            </a:pPr>
            <a:endParaRPr lang="x-none" altLang="en-US">
              <a:sym typeface="+mn-ea"/>
            </a:endParaRPr>
          </a:p>
          <a:p>
            <a:pPr marL="0" indent="0">
              <a:buNone/>
            </a:pPr>
            <a:r>
              <a:rPr lang="x-none" altLang="en-US">
                <a:sym typeface="+mn-ea"/>
              </a:rPr>
              <a:t>Every site gets its likelihood estimated in two parts: If it were invariant &amp; variable (as normal)</a:t>
            </a:r>
          </a:p>
          <a:p>
            <a:pPr marL="0" indent="0">
              <a:buNone/>
            </a:pPr>
            <a:endParaRPr lang="x-none" altLang="en-US" i="1">
              <a:sym typeface="+mn-ea"/>
            </a:endParaRPr>
          </a:p>
          <a:p>
            <a:pPr marL="0" indent="0">
              <a:buNone/>
            </a:pPr>
            <a:r>
              <a:rPr lang="x-none" altLang="en-US">
                <a:sym typeface="+mn-ea"/>
              </a:rPr>
              <a:t>Often designated "+I" (e.g. HKY85 + I)</a:t>
            </a:r>
          </a:p>
          <a:p>
            <a:pPr marL="0" indent="0">
              <a:buNone/>
            </a:pPr>
            <a:endParaRPr lang="x-none" altLang="en-US" i="1"/>
          </a:p>
          <a:p>
            <a:pPr marL="0" indent="0">
              <a:buNone/>
            </a:pPr>
            <a:endParaRPr lang="x-none"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621" y="109221"/>
            <a:ext cx="7886712" cy="1325565"/>
          </a:xfrm>
        </p:spPr>
        <p:txBody>
          <a:bodyPr/>
          <a:lstStyle/>
          <a:p>
            <a:r>
              <a:rPr lang="x-none" altLang="en-US"/>
              <a:t>Gamma-distributed rates</a:t>
            </a:r>
          </a:p>
        </p:txBody>
      </p:sp>
      <p:sp>
        <p:nvSpPr>
          <p:cNvPr id="3" name="Content Placeholder 2"/>
          <p:cNvSpPr>
            <a:spLocks noGrp="1"/>
          </p:cNvSpPr>
          <p:nvPr>
            <p:ph idx="1"/>
          </p:nvPr>
        </p:nvSpPr>
        <p:spPr>
          <a:xfrm>
            <a:off x="213995" y="1472565"/>
            <a:ext cx="4798695" cy="5242560"/>
          </a:xfrm>
        </p:spPr>
        <p:txBody>
          <a:bodyPr vert="horz" lIns="91440" tIns="45720" rIns="91440" bIns="45720" rtlCol="0" anchor="t">
            <a:normAutofit fontScale="85000" lnSpcReduction="20000"/>
          </a:bodyPr>
          <a:lstStyle/>
          <a:p>
            <a:pPr marL="0" indent="0">
              <a:buNone/>
            </a:pPr>
            <a:r>
              <a:rPr lang="x-none" altLang="en-US">
                <a:latin typeface="Ubuntu" panose="020B0604030602030204" charset="0"/>
                <a:cs typeface="Ubuntu" panose="020B0604030602030204" charset="0"/>
              </a:rPr>
              <a:t>Rate categories set by a discrete gamma distribution (e.g. 4 rate categories)</a:t>
            </a:r>
          </a:p>
          <a:p>
            <a:pPr marL="0" indent="0">
              <a:buNone/>
            </a:pPr>
            <a:br>
              <a:rPr lang="x-none" altLang="en-US" dirty="0">
                <a:latin typeface="Ubuntu" panose="020B0604030602030204" charset="0"/>
                <a:cs typeface="Ubuntu" panose="020B0604030602030204" charset="0"/>
              </a:rPr>
            </a:br>
            <a:r>
              <a:rPr lang="x-none" altLang="en-US">
                <a:latin typeface="Ubuntu"/>
                <a:cs typeface="Ubuntu" panose="020B0604030602030204" charset="0"/>
              </a:rPr>
              <a:t>Estimate </a:t>
            </a:r>
            <a:r>
              <a:rPr lang="x-none" altLang="en-US" i="1">
                <a:latin typeface="Ubuntu"/>
                <a:cs typeface="Ubuntu" panose="020B0604030602030204" charset="0"/>
              </a:rPr>
              <a:t>α</a:t>
            </a:r>
          </a:p>
          <a:p>
            <a:pPr marL="0" indent="0">
              <a:buNone/>
            </a:pPr>
            <a:endParaRPr lang="x-none" altLang="en-US" i="1">
              <a:latin typeface="Ubuntu" panose="020B0604030602030204" charset="0"/>
              <a:cs typeface="Ubuntu" panose="020B0604030602030204" charset="0"/>
            </a:endParaRPr>
          </a:p>
          <a:p>
            <a:pPr marL="0" indent="0">
              <a:buNone/>
            </a:pPr>
            <a:r>
              <a:rPr lang="x-none" altLang="en-US">
                <a:latin typeface="Ubuntu" panose="020B0604030602030204" charset="0"/>
                <a:cs typeface="Ubuntu" panose="020B0604030602030204" charset="0"/>
              </a:rPr>
              <a:t>Site likelihoods calculated for each rate category and summed</a:t>
            </a:r>
          </a:p>
          <a:p>
            <a:pPr marL="0" indent="0">
              <a:buNone/>
            </a:pPr>
            <a:endParaRPr lang="x-none" altLang="en-US">
              <a:latin typeface="Ubuntu" panose="020B0604030602030204" charset="0"/>
              <a:cs typeface="Ubuntu" panose="020B0604030602030204" charset="0"/>
            </a:endParaRPr>
          </a:p>
          <a:p>
            <a:pPr marL="0" indent="0">
              <a:buNone/>
            </a:pPr>
            <a:r>
              <a:rPr lang="x-none" altLang="en-US">
                <a:latin typeface="Ubuntu" panose="020B0604030602030204" charset="0"/>
                <a:cs typeface="Ubuntu" panose="020B0604030602030204" charset="0"/>
              </a:rPr>
              <a:t>" + G " </a:t>
            </a:r>
            <a:r>
              <a:rPr lang="" altLang="x-none">
                <a:latin typeface="Ubuntu" panose="020B0604030602030204" charset="0"/>
                <a:cs typeface="Ubuntu" panose="020B0604030602030204" charset="0"/>
              </a:rPr>
              <a:t>or “ + Г ”</a:t>
            </a:r>
            <a:endParaRPr lang="x-none" altLang="en-US">
              <a:latin typeface="Ubuntu" panose="020B0604030602030204" charset="0"/>
              <a:cs typeface="Ubuntu" panose="020B0604030602030204" charset="0"/>
            </a:endParaRPr>
          </a:p>
          <a:p>
            <a:pPr marL="0" indent="0">
              <a:buNone/>
            </a:pPr>
            <a:r>
              <a:rPr lang="x-none" altLang="en-US">
                <a:latin typeface="Ubuntu" panose="020B0604030602030204" charset="0"/>
                <a:cs typeface="Ubuntu" panose="020B0604030602030204" charset="0"/>
              </a:rPr>
              <a:t>(e.g. HKY85 + I + G)</a:t>
            </a:r>
          </a:p>
          <a:p>
            <a:pPr marL="0" indent="0">
              <a:buNone/>
            </a:pPr>
            <a:endParaRPr lang="x-none" altLang="en-US" dirty="0">
              <a:latin typeface="Ubuntu" panose="020B0604030602030204" charset="0"/>
              <a:cs typeface="Ubuntu" panose="020B0604030602030204" charset="0"/>
            </a:endParaRPr>
          </a:p>
          <a:p>
            <a:pPr marL="0" indent="0">
              <a:buNone/>
            </a:pPr>
            <a:r>
              <a:rPr lang="x-none" altLang="en-US">
                <a:latin typeface="Ubuntu"/>
                <a:cs typeface="Ubuntu" panose="020B0604030602030204" charset="0"/>
              </a:rPr>
              <a:t>See recent work suggesting 4 categories is not enough to prevent biases....</a:t>
            </a:r>
            <a:endParaRPr lang="x-none" altLang="en-US" dirty="0">
              <a:latin typeface="Ubuntu" panose="020B0604030602030204" charset="0"/>
              <a:cs typeface="Ubuntu" panose="020B0604030602030204" charset="0"/>
            </a:endParaRPr>
          </a:p>
        </p:txBody>
      </p:sp>
      <p:pic>
        <p:nvPicPr>
          <p:cNvPr id="4" name="Picture 3" descr="Various gamma distributions depending on a parameter alpha. Large alpha makes it look like a normal distribution around the value of 1. Small alpha results in large rate heterogeneity. "/>
          <p:cNvPicPr>
            <a:picLocks noChangeAspect="1"/>
          </p:cNvPicPr>
          <p:nvPr/>
        </p:nvPicPr>
        <p:blipFill>
          <a:blip r:embed="rId2"/>
          <a:stretch>
            <a:fillRect/>
          </a:stretch>
        </p:blipFill>
        <p:spPr>
          <a:xfrm>
            <a:off x="5115560" y="2469515"/>
            <a:ext cx="3982085" cy="321691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935" y="263525"/>
            <a:ext cx="8642350" cy="1325880"/>
          </a:xfrm>
        </p:spPr>
        <p:txBody>
          <a:bodyPr/>
          <a:lstStyle/>
          <a:p>
            <a:r>
              <a:rPr lang="x-none" altLang="en-US" sz="3600"/>
              <a:t>Discretizing the Gamma distribution</a:t>
            </a:r>
          </a:p>
        </p:txBody>
      </p:sp>
      <p:pic>
        <p:nvPicPr>
          <p:cNvPr id="4" name="Content Placeholder 3" descr="How the gamma distribution is &quot;discretized&quot; in phylogenetics. Boundaries are determined to divide the gamma distribution into a set number of quantiles, setting the &quot;coat size&quot; given to each set of sites. "/>
          <p:cNvPicPr>
            <a:picLocks noGrp="1" noChangeAspect="1"/>
          </p:cNvPicPr>
          <p:nvPr>
            <p:ph idx="1"/>
          </p:nvPr>
        </p:nvPicPr>
        <p:blipFill>
          <a:blip r:embed="rId2"/>
          <a:stretch>
            <a:fillRect/>
          </a:stretch>
        </p:blipFill>
        <p:spPr>
          <a:xfrm>
            <a:off x="254000" y="1517015"/>
            <a:ext cx="8742045" cy="49815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DB88F-D253-2588-A428-2F31434C6BF5}"/>
              </a:ext>
            </a:extLst>
          </p:cNvPr>
          <p:cNvSpPr>
            <a:spLocks noGrp="1"/>
          </p:cNvSpPr>
          <p:nvPr>
            <p:ph type="title"/>
          </p:nvPr>
        </p:nvSpPr>
        <p:spPr/>
        <p:txBody>
          <a:bodyPr/>
          <a:lstStyle/>
          <a:p>
            <a:r>
              <a:rPr lang="en-US" dirty="0">
                <a:latin typeface="Arial"/>
                <a:cs typeface="Arial"/>
              </a:rPr>
              <a:t>GTR+R</a:t>
            </a:r>
            <a:endParaRPr lang="en-US" dirty="0"/>
          </a:p>
        </p:txBody>
      </p:sp>
      <p:sp>
        <p:nvSpPr>
          <p:cNvPr id="3" name="Content Placeholder 2">
            <a:extLst>
              <a:ext uri="{FF2B5EF4-FFF2-40B4-BE49-F238E27FC236}">
                <a16:creationId xmlns:a16="http://schemas.microsoft.com/office/drawing/2014/main" id="{589ECEA3-1A07-59CD-E588-5751197AF47D}"/>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"Free rates model" - Relaxes assumption that the rates have to follow a Gamma distribution subject to the constraint that the mean of the rates is 1. </a:t>
            </a:r>
          </a:p>
          <a:p>
            <a:pPr marL="0" indent="0">
              <a:buNone/>
            </a:pPr>
            <a:endParaRPr lang="en-US" dirty="0">
              <a:latin typeface="Arial"/>
              <a:cs typeface="Arial" panose="020B0604020202020204" pitchFamily="34" charset="0"/>
            </a:endParaRPr>
          </a:p>
          <a:p>
            <a:pPr marL="0" indent="0">
              <a:buNone/>
            </a:pPr>
            <a:r>
              <a:rPr lang="en-US" dirty="0">
                <a:latin typeface="Arial"/>
                <a:cs typeface="Arial"/>
              </a:rPr>
              <a:t>i.e. Directly estimates the distribution</a:t>
            </a:r>
            <a:endParaRPr lang="en-US" dirty="0">
              <a:latin typeface="Arial"/>
              <a:cs typeface="Arial" panose="020B0604020202020204" pitchFamily="34" charset="0"/>
            </a:endParaRPr>
          </a:p>
        </p:txBody>
      </p:sp>
    </p:spTree>
    <p:extLst>
      <p:ext uri="{BB962C8B-B14F-4D97-AF65-F5344CB8AC3E}">
        <p14:creationId xmlns:p14="http://schemas.microsoft.com/office/powerpoint/2010/main" val="2947358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AC7B-E1A7-C2E0-E348-6E2F7B01670E}"/>
              </a:ext>
            </a:extLst>
          </p:cNvPr>
          <p:cNvSpPr>
            <a:spLocks noGrp="1"/>
          </p:cNvSpPr>
          <p:nvPr>
            <p:ph type="title"/>
          </p:nvPr>
        </p:nvSpPr>
        <p:spPr/>
        <p:txBody>
          <a:bodyPr/>
          <a:lstStyle/>
          <a:p>
            <a:r>
              <a:rPr lang="en-US" dirty="0">
                <a:latin typeface="Arial"/>
                <a:cs typeface="Arial"/>
              </a:rPr>
              <a:t>What about...</a:t>
            </a:r>
            <a:endParaRPr lang="en-US" dirty="0"/>
          </a:p>
        </p:txBody>
      </p:sp>
      <p:sp>
        <p:nvSpPr>
          <p:cNvPr id="3" name="Content Placeholder 2">
            <a:extLst>
              <a:ext uri="{FF2B5EF4-FFF2-40B4-BE49-F238E27FC236}">
                <a16:creationId xmlns:a16="http://schemas.microsoft.com/office/drawing/2014/main" id="{6D5C886A-485C-2D5A-9601-9F682F6C9A4A}"/>
              </a:ext>
            </a:extLst>
          </p:cNvPr>
          <p:cNvSpPr>
            <a:spLocks noGrp="1"/>
          </p:cNvSpPr>
          <p:nvPr>
            <p:ph idx="1"/>
          </p:nvPr>
        </p:nvSpPr>
        <p:spPr>
          <a:xfrm>
            <a:off x="506731" y="1784988"/>
            <a:ext cx="3202952" cy="4351344"/>
          </a:xfrm>
        </p:spPr>
        <p:txBody>
          <a:bodyPr vert="horz" lIns="91440" tIns="45720" rIns="91440" bIns="45720" rtlCol="0" anchor="t">
            <a:normAutofit fontScale="62500" lnSpcReduction="20000"/>
          </a:bodyPr>
          <a:lstStyle/>
          <a:p>
            <a:pPr marL="0" indent="0">
              <a:buNone/>
            </a:pPr>
            <a:r>
              <a:rPr lang="en-US" dirty="0">
                <a:latin typeface="Arial"/>
                <a:cs typeface="Arial"/>
              </a:rPr>
              <a:t>Assuming every site has the same exchangeability and stationary frequency?</a:t>
            </a:r>
          </a:p>
          <a:p>
            <a:pPr marL="0" indent="0">
              <a:buNone/>
            </a:pPr>
            <a:endParaRPr lang="en-US" dirty="0">
              <a:cs typeface="Arial"/>
            </a:endParaRPr>
          </a:p>
          <a:p>
            <a:pPr marL="0" indent="0">
              <a:buNone/>
            </a:pPr>
            <a:r>
              <a:rPr lang="en-US" dirty="0">
                <a:latin typeface="Arial"/>
                <a:cs typeface="Arial"/>
              </a:rPr>
              <a:t>Every branch has the same process?</a:t>
            </a:r>
            <a:endParaRPr lang="en-US" dirty="0"/>
          </a:p>
          <a:p>
            <a:pPr marL="0" indent="0">
              <a:buNone/>
            </a:pPr>
            <a:endParaRPr lang="en-US" dirty="0">
              <a:cs typeface="Arial"/>
            </a:endParaRPr>
          </a:p>
          <a:p>
            <a:pPr marL="0" indent="0">
              <a:buNone/>
            </a:pPr>
            <a:r>
              <a:rPr lang="en-US" dirty="0">
                <a:latin typeface="Arial"/>
                <a:cs typeface="Arial"/>
              </a:rPr>
              <a:t>Every time slice?</a:t>
            </a:r>
            <a:endParaRPr lang="en-US" dirty="0">
              <a:cs typeface="Arial"/>
            </a:endParaRPr>
          </a:p>
          <a:p>
            <a:pPr marL="0" indent="0">
              <a:buNone/>
            </a:pPr>
            <a:br>
              <a:rPr lang="en-US" dirty="0">
                <a:cs typeface="Arial"/>
              </a:rPr>
            </a:br>
            <a:r>
              <a:rPr lang="en-US" dirty="0">
                <a:latin typeface="Arial"/>
                <a:cs typeface="Arial"/>
              </a:rPr>
              <a:t>Amino acid models?</a:t>
            </a:r>
            <a:endParaRPr lang="en-US" dirty="0">
              <a:cs typeface="Arial"/>
            </a:endParaRPr>
          </a:p>
          <a:p>
            <a:pPr marL="0" indent="0">
              <a:buNone/>
            </a:pPr>
            <a:endParaRPr lang="en-US" dirty="0">
              <a:cs typeface="Arial"/>
            </a:endParaRPr>
          </a:p>
          <a:p>
            <a:pPr marL="0" indent="0">
              <a:buNone/>
            </a:pPr>
            <a:r>
              <a:rPr lang="en-US" dirty="0" err="1">
                <a:latin typeface="Arial"/>
                <a:cs typeface="Arial"/>
              </a:rPr>
              <a:t>Nonreversibility</a:t>
            </a:r>
            <a:r>
              <a:rPr lang="en-US" dirty="0">
                <a:latin typeface="Arial"/>
                <a:cs typeface="Arial"/>
              </a:rPr>
              <a:t>?</a:t>
            </a:r>
          </a:p>
          <a:p>
            <a:pPr marL="0" indent="0">
              <a:buNone/>
            </a:pPr>
            <a:endParaRPr lang="en-US" dirty="0">
              <a:cs typeface="Arial"/>
            </a:endParaRPr>
          </a:p>
          <a:p>
            <a:pPr marL="0" indent="0">
              <a:buNone/>
            </a:pPr>
            <a:r>
              <a:rPr lang="en-US" dirty="0">
                <a:latin typeface="Arial"/>
                <a:cs typeface="Arial"/>
              </a:rPr>
              <a:t>= Lots more models!</a:t>
            </a:r>
            <a:br>
              <a:rPr lang="en-US" dirty="0">
                <a:latin typeface="Arial"/>
                <a:cs typeface="Arial"/>
              </a:rPr>
            </a:br>
            <a:r>
              <a:rPr lang="en-US" dirty="0">
                <a:latin typeface="Arial"/>
                <a:cs typeface="Arial"/>
              </a:rPr>
              <a:t>Don't sweat all the details, go back to:</a:t>
            </a:r>
            <a:endParaRPr lang="en-US" dirty="0">
              <a:cs typeface="Arial"/>
            </a:endParaRPr>
          </a:p>
          <a:p>
            <a:pPr marL="0" indent="0">
              <a:buNone/>
            </a:pPr>
            <a:endParaRPr lang="en-US" dirty="0">
              <a:cs typeface="Arial"/>
            </a:endParaRPr>
          </a:p>
          <a:p>
            <a:pPr marL="0" indent="0">
              <a:buNone/>
            </a:pPr>
            <a:endParaRPr lang="en-US" dirty="0">
              <a:cs typeface="Arial"/>
            </a:endParaRPr>
          </a:p>
        </p:txBody>
      </p:sp>
      <p:pic>
        <p:nvPicPr>
          <p:cNvPr id="5" name="Content Placeholder 3" descr="A figure from O'Meara 2012. Six scenarios are shown, the first has no heterogeneity. The second shows partitions separating groups of characters each given their own Q. The third shows a discrete gamma with a mixture of Q matrices given to each character. Then a mixture model shows two Q matrices given to each character. Branch heterogeneity splits rates by branches rather than sites. Time heterogeneity gives two Q matrices, one before and one after a time slice on the tree. ">
            <a:extLst>
              <a:ext uri="{FF2B5EF4-FFF2-40B4-BE49-F238E27FC236}">
                <a16:creationId xmlns:a16="http://schemas.microsoft.com/office/drawing/2014/main" id="{2EED8C71-FF1D-1652-710C-77B110364265}"/>
              </a:ext>
            </a:extLst>
          </p:cNvPr>
          <p:cNvPicPr>
            <a:picLocks noChangeAspect="1"/>
          </p:cNvPicPr>
          <p:nvPr/>
        </p:nvPicPr>
        <p:blipFill>
          <a:blip r:embed="rId2"/>
          <a:stretch>
            <a:fillRect/>
          </a:stretch>
        </p:blipFill>
        <p:spPr>
          <a:xfrm>
            <a:off x="3915410" y="444500"/>
            <a:ext cx="5111750" cy="3829050"/>
          </a:xfrm>
          <a:prstGeom prst="rect">
            <a:avLst/>
          </a:prstGeom>
        </p:spPr>
      </p:pic>
      <p:sp>
        <p:nvSpPr>
          <p:cNvPr id="7" name="Content Placeholder 2">
            <a:extLst>
              <a:ext uri="{FF2B5EF4-FFF2-40B4-BE49-F238E27FC236}">
                <a16:creationId xmlns:a16="http://schemas.microsoft.com/office/drawing/2014/main" id="{BDBE9F06-7307-3A51-922B-833DEA509568}"/>
              </a:ext>
            </a:extLst>
          </p:cNvPr>
          <p:cNvSpPr txBox="1">
            <a:spLocks/>
          </p:cNvSpPr>
          <p:nvPr/>
        </p:nvSpPr>
        <p:spPr>
          <a:xfrm>
            <a:off x="4255771" y="4538348"/>
            <a:ext cx="4564392" cy="2319344"/>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dirty="0">
                <a:latin typeface="Arial"/>
                <a:cs typeface="Arial"/>
              </a:rPr>
              <a:t>What biology can do that you can't:</a:t>
            </a:r>
          </a:p>
          <a:p>
            <a:pPr>
              <a:buNone/>
            </a:pPr>
            <a:r>
              <a:rPr lang="en-US" sz="1900" dirty="0">
                <a:latin typeface="Arial"/>
                <a:cs typeface="Arial"/>
              </a:rPr>
              <a:t>Give every site its own parameters governing change, change those parameters on any branch at any time, and allow sites to interact with one another.</a:t>
            </a:r>
            <a:endParaRPr lang="en-US" sz="1900">
              <a:cs typeface="Arial"/>
            </a:endParaRPr>
          </a:p>
          <a:p>
            <a:pPr>
              <a:buNone/>
            </a:pPr>
            <a:r>
              <a:rPr lang="en-US" sz="1900" dirty="0">
                <a:latin typeface="Arial"/>
                <a:cs typeface="Arial"/>
              </a:rPr>
              <a:t>You have to group and simplify that complexity so that sites and branches share parameters you can actually estimate.</a:t>
            </a:r>
            <a:endParaRPr lang="en-US" sz="1900">
              <a:cs typeface="Arial"/>
            </a:endParaRPr>
          </a:p>
          <a:p>
            <a:pPr marL="0" indent="0">
              <a:buNone/>
            </a:pPr>
            <a:br>
              <a:rPr lang="en-US" sz="1600" dirty="0">
                <a:latin typeface="Arial"/>
                <a:cs typeface="Arial"/>
              </a:rPr>
            </a:br>
            <a:endParaRPr lang="en-US" sz="1600">
              <a:cs typeface="Arial"/>
            </a:endParaRPr>
          </a:p>
          <a:p>
            <a:pPr marL="0" indent="0">
              <a:buFont typeface="Arial" panose="020B0604020202020204" pitchFamily="34" charset="0"/>
              <a:buNone/>
            </a:pPr>
            <a:endParaRPr lang="en-US" sz="1600" dirty="0">
              <a:cs typeface="Arial"/>
            </a:endParaRPr>
          </a:p>
          <a:p>
            <a:pPr marL="0" indent="0">
              <a:buFont typeface="Arial" panose="020B0604020202020204" pitchFamily="34" charset="0"/>
              <a:buNone/>
            </a:pPr>
            <a:endParaRPr lang="en-US" sz="1600" dirty="0">
              <a:cs typeface="Arial"/>
            </a:endParaRPr>
          </a:p>
        </p:txBody>
      </p:sp>
    </p:spTree>
    <p:extLst>
      <p:ext uri="{BB962C8B-B14F-4D97-AF65-F5344CB8AC3E}">
        <p14:creationId xmlns:p14="http://schemas.microsoft.com/office/powerpoint/2010/main" val="2700046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A6DBA-3284-B0A7-4EB2-A0A965FFC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34470-2AE8-2888-2C71-71824AA9E261}"/>
              </a:ext>
            </a:extLst>
          </p:cNvPr>
          <p:cNvSpPr>
            <a:spLocks noGrp="1"/>
          </p:cNvSpPr>
          <p:nvPr>
            <p:ph type="title"/>
          </p:nvPr>
        </p:nvSpPr>
        <p:spPr>
          <a:xfrm>
            <a:off x="628651" y="-634"/>
            <a:ext cx="7886712" cy="1325565"/>
          </a:xfrm>
        </p:spPr>
        <p:txBody>
          <a:bodyPr>
            <a:normAutofit/>
          </a:bodyPr>
          <a:lstStyle/>
          <a:p>
            <a:r>
              <a:rPr lang="x-none" altLang="en-US">
                <a:latin typeface="Arial"/>
                <a:cs typeface="Arial"/>
              </a:rPr>
              <a:t>Assumptions  of a GTR + </a:t>
            </a:r>
            <a:r>
              <a:rPr lang="x-none">
                <a:latin typeface="Arial"/>
                <a:cs typeface="Arial"/>
              </a:rPr>
              <a:t>Γ/R; and the models that extend it</a:t>
            </a:r>
          </a:p>
        </p:txBody>
      </p:sp>
      <p:sp>
        <p:nvSpPr>
          <p:cNvPr id="8" name="Content Placeholder 2">
            <a:extLst>
              <a:ext uri="{FF2B5EF4-FFF2-40B4-BE49-F238E27FC236}">
                <a16:creationId xmlns:a16="http://schemas.microsoft.com/office/drawing/2014/main" id="{BA36114A-3359-426B-42D1-F38459AE0948}"/>
              </a:ext>
            </a:extLst>
          </p:cNvPr>
          <p:cNvSpPr txBox="1">
            <a:spLocks/>
          </p:cNvSpPr>
          <p:nvPr/>
        </p:nvSpPr>
        <p:spPr>
          <a:xfrm>
            <a:off x="335281" y="1191263"/>
            <a:ext cx="8475992" cy="434118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altLang="en-US" sz="2000">
                <a:latin typeface="Arial"/>
                <a:cs typeface="Arial"/>
              </a:rPr>
              <a:t>Assumptions of GTR + </a:t>
            </a:r>
            <a:r>
              <a:rPr lang="x-none" sz="2000">
                <a:latin typeface="Arial"/>
                <a:cs typeface="Arial"/>
              </a:rPr>
              <a:t>Γ/R</a:t>
            </a:r>
            <a:r>
              <a:rPr lang="x-none" altLang="en-US" sz="2000">
                <a:latin typeface="Arial"/>
                <a:cs typeface="Arial"/>
              </a:rPr>
              <a:t>:</a:t>
            </a:r>
          </a:p>
          <a:p>
            <a:pPr marL="0" indent="0">
              <a:buFont typeface="Arial" panose="020B0604020202020204" pitchFamily="34" charset="0"/>
              <a:buNone/>
            </a:pPr>
            <a:r>
              <a:rPr lang="x-none" altLang="en-US" sz="2000" strike="sngStrike">
                <a:latin typeface="Arial"/>
                <a:cs typeface="Arial"/>
              </a:rPr>
              <a:t>1. All substitutions equally likely</a:t>
            </a:r>
          </a:p>
          <a:p>
            <a:pPr marL="0" indent="0">
              <a:buFont typeface="Arial" panose="020B0604020202020204" pitchFamily="34" charset="0"/>
              <a:buNone/>
            </a:pPr>
            <a:r>
              <a:rPr lang="x-none" altLang="en-US" sz="2000" strike="sngStrike">
                <a:latin typeface="Arial"/>
                <a:cs typeface="Arial"/>
              </a:rPr>
              <a:t>2. Base frequencies equal</a:t>
            </a:r>
          </a:p>
          <a:p>
            <a:pPr marL="0" indent="0">
              <a:buNone/>
            </a:pPr>
            <a:r>
              <a:rPr lang="x-none" altLang="en-US" sz="2000" strike="sngStrike">
                <a:latin typeface="Arial"/>
                <a:cs typeface="Arial"/>
              </a:rPr>
              <a:t>3. Every site has equal probability of substitution </a:t>
            </a:r>
            <a:r>
              <a:rPr lang="x-none" altLang="en-US" sz="2000">
                <a:latin typeface="Arial"/>
                <a:cs typeface="Arial"/>
              </a:rPr>
              <a:t>-&gt;</a:t>
            </a:r>
            <a:r>
              <a:rPr lang="x-none" altLang="en-US" sz="2000">
                <a:solidFill>
                  <a:srgbClr val="FF0000"/>
                </a:solidFill>
                <a:latin typeface="Arial"/>
                <a:cs typeface="Arial"/>
              </a:rPr>
              <a:t> Still constrained. Consider overparameterized unique Q and pi to every site (not practical), then figure ways to simplify and group to naturally cover site-variation (e.g. partitions, site-profile heterogenous, Q mixture models)</a:t>
            </a:r>
            <a:endParaRPr lang="x-none" sz="2000">
              <a:solidFill>
                <a:srgbClr val="FF0000"/>
              </a:solidFill>
              <a:latin typeface="Arial"/>
              <a:cs typeface="Arial"/>
            </a:endParaRPr>
          </a:p>
          <a:p>
            <a:pPr marL="0" indent="0">
              <a:buNone/>
            </a:pPr>
            <a:r>
              <a:rPr lang="x-none" altLang="en-US" sz="2000">
                <a:latin typeface="Arial"/>
                <a:cs typeface="Arial"/>
              </a:rPr>
              <a:t>4. </a:t>
            </a:r>
            <a:r>
              <a:rPr lang="x-none" altLang="en-US" sz="2000" strike="sngStrike">
                <a:latin typeface="Arial"/>
                <a:cs typeface="Arial"/>
              </a:rPr>
              <a:t>Process is constant through time</a:t>
            </a:r>
            <a:r>
              <a:rPr lang="x-none" altLang="en-US" sz="2000">
                <a:latin typeface="Arial"/>
                <a:cs typeface="Arial"/>
              </a:rPr>
              <a:t> </a:t>
            </a:r>
            <a:r>
              <a:rPr lang="x-none" altLang="en-US" sz="2000">
                <a:solidFill>
                  <a:srgbClr val="FF0000"/>
                </a:solidFill>
                <a:latin typeface="Arial"/>
                <a:cs typeface="Arial"/>
              </a:rPr>
              <a:t>-&gt; Relative site rates constant but extension to models with heterotachy exist. For varying Q and composition, nonhomogenous/nonstationary models.</a:t>
            </a:r>
            <a:endParaRPr lang="x-none" altLang="en-US" sz="2000">
              <a:solidFill>
                <a:srgbClr val="FF0000"/>
              </a:solidFill>
              <a:cs typeface="Arial"/>
            </a:endParaRPr>
          </a:p>
          <a:p>
            <a:pPr marL="0" indent="0">
              <a:buNone/>
            </a:pPr>
            <a:r>
              <a:rPr lang="x-none" altLang="en-US" sz="2000">
                <a:latin typeface="Arial"/>
                <a:cs typeface="Arial"/>
              </a:rPr>
              <a:t>5. Sites are independent of each other </a:t>
            </a:r>
            <a:r>
              <a:rPr lang="x-none" altLang="en-US" sz="2000">
                <a:solidFill>
                  <a:srgbClr val="FF0000"/>
                </a:solidFill>
                <a:latin typeface="Arial"/>
                <a:cs typeface="Arial"/>
              </a:rPr>
              <a:t>-&gt; Context-dependent and coevolutionary models</a:t>
            </a:r>
            <a:endParaRPr lang="x-none" altLang="en-US" sz="2000">
              <a:solidFill>
                <a:srgbClr val="FF0000"/>
              </a:solidFill>
              <a:cs typeface="Arial"/>
            </a:endParaRPr>
          </a:p>
          <a:p>
            <a:pPr marL="0" indent="0">
              <a:buNone/>
            </a:pPr>
            <a:r>
              <a:rPr lang="x-none" altLang="en-US" sz="2000">
                <a:latin typeface="Arial"/>
                <a:cs typeface="Arial"/>
              </a:rPr>
              <a:t>6. Substitution is Markovian (memoryless) </a:t>
            </a:r>
            <a:r>
              <a:rPr lang="x-none" altLang="en-US" sz="2000">
                <a:solidFill>
                  <a:srgbClr val="FF0000"/>
                </a:solidFill>
                <a:latin typeface="Arial"/>
                <a:cs typeface="Arial"/>
              </a:rPr>
              <a:t>-&gt; Covarion/hidden state fake non-Markovian behavior, but still key assumption to almost all models.</a:t>
            </a:r>
            <a:endParaRPr lang="x-none" altLang="en-US" sz="2000">
              <a:solidFill>
                <a:srgbClr val="FF0000"/>
              </a:solidFill>
              <a:cs typeface="Arial"/>
            </a:endParaRPr>
          </a:p>
          <a:p>
            <a:pPr marL="0" indent="0">
              <a:buNone/>
            </a:pPr>
            <a:r>
              <a:rPr lang="x-none" altLang="en-US" sz="2000">
                <a:latin typeface="Arial"/>
                <a:cs typeface="Arial"/>
              </a:rPr>
              <a:t>7. All sites have the same evolutionary history </a:t>
            </a:r>
            <a:r>
              <a:rPr lang="x-none" altLang="en-US" sz="2000">
                <a:solidFill>
                  <a:srgbClr val="FF0000"/>
                </a:solidFill>
                <a:latin typeface="Arial"/>
                <a:cs typeface="Arial"/>
              </a:rPr>
              <a:t>-&gt; Species tree models</a:t>
            </a:r>
            <a:endParaRPr lang="x-none" altLang="en-US" sz="2000">
              <a:solidFill>
                <a:srgbClr val="FF0000"/>
              </a:solidFill>
              <a:cs typeface="Arial"/>
            </a:endParaRPr>
          </a:p>
          <a:p>
            <a:pPr marL="0" indent="0">
              <a:buNone/>
            </a:pPr>
            <a:r>
              <a:rPr lang="x-none" altLang="en-US" sz="2000">
                <a:latin typeface="Arial"/>
                <a:cs typeface="Arial"/>
              </a:rPr>
              <a:t>8. Time-reversible </a:t>
            </a:r>
            <a:r>
              <a:rPr lang="x-none" altLang="en-US" sz="2000">
                <a:solidFill>
                  <a:srgbClr val="FF0000"/>
                </a:solidFill>
                <a:latin typeface="Arial"/>
                <a:cs typeface="Arial"/>
              </a:rPr>
              <a:t>-&gt; Time irreversible models</a:t>
            </a:r>
            <a:endParaRPr lang="x-none" altLang="en-US" sz="2000" dirty="0">
              <a:solidFill>
                <a:srgbClr val="FF0000"/>
              </a:solidFill>
              <a:cs typeface="Arial"/>
            </a:endParaRPr>
          </a:p>
        </p:txBody>
      </p:sp>
    </p:spTree>
    <p:extLst>
      <p:ext uri="{BB962C8B-B14F-4D97-AF65-F5344CB8AC3E}">
        <p14:creationId xmlns:p14="http://schemas.microsoft.com/office/powerpoint/2010/main" val="51137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ur diagram of the relationships between the GTR model are now expanded fourfold, because we can combine each of them with invariant sites, a gamma distribution, or both. "/>
          <p:cNvPicPr>
            <a:picLocks noChangeAspect="1"/>
          </p:cNvPicPr>
          <p:nvPr/>
        </p:nvPicPr>
        <p:blipFill>
          <a:blip r:embed="rId2"/>
          <a:stretch>
            <a:fillRect/>
          </a:stretch>
        </p:blipFill>
        <p:spPr>
          <a:xfrm>
            <a:off x="2456815" y="702945"/>
            <a:ext cx="6868160" cy="6837045"/>
          </a:xfrm>
          <a:prstGeom prst="rect">
            <a:avLst/>
          </a:prstGeom>
        </p:spPr>
      </p:pic>
      <p:sp>
        <p:nvSpPr>
          <p:cNvPr id="2" name="Title 1"/>
          <p:cNvSpPr>
            <a:spLocks noGrp="1"/>
          </p:cNvSpPr>
          <p:nvPr>
            <p:ph type="title"/>
          </p:nvPr>
        </p:nvSpPr>
        <p:spPr>
          <a:xfrm>
            <a:off x="610871" y="192406"/>
            <a:ext cx="7886712" cy="1325565"/>
          </a:xfrm>
        </p:spPr>
        <p:txBody>
          <a:bodyPr>
            <a:normAutofit fontScale="90000"/>
          </a:bodyPr>
          <a:lstStyle/>
          <a:p>
            <a:r>
              <a:rPr lang="x-none" altLang="en-US"/>
              <a:t>OK...but how do we decide which model to use?!?!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1" y="1007748"/>
            <a:ext cx="7886712" cy="4351344"/>
          </a:xfrm>
        </p:spPr>
        <p:txBody>
          <a:bodyPr>
            <a:noAutofit/>
          </a:bodyPr>
          <a:lstStyle/>
          <a:p>
            <a:pPr marL="0" indent="0">
              <a:buNone/>
            </a:pPr>
            <a:r>
              <a:rPr lang="x-none" altLang="en-US"/>
              <a:t>Ideally, fit all models while simultaneously estimating tree</a:t>
            </a:r>
          </a:p>
          <a:p>
            <a:pPr marL="0" indent="0">
              <a:buNone/>
            </a:pPr>
            <a:endParaRPr lang="x-none" altLang="en-US"/>
          </a:p>
          <a:p>
            <a:pPr marL="0" indent="0">
              <a:buNone/>
            </a:pPr>
            <a:r>
              <a:rPr lang="x-none" altLang="en-US"/>
              <a:t>More practical: </a:t>
            </a:r>
          </a:p>
          <a:p>
            <a:pPr marL="0" indent="0">
              <a:buNone/>
            </a:pPr>
            <a:r>
              <a:rPr lang="x-none" altLang="en-US"/>
              <a:t>Start with a not-too-bad tree, fit all the possible models, rank them by some criterion, pick the best one and use in a full analysis</a:t>
            </a:r>
          </a:p>
          <a:p>
            <a:pPr marL="0" indent="0">
              <a:buNone/>
            </a:pPr>
            <a:endParaRPr lang="x-none" altLang="en-US"/>
          </a:p>
          <a:p>
            <a:pPr marL="0" indent="0">
              <a:buNone/>
            </a:pPr>
            <a:r>
              <a:rPr lang="x-none" altLang="en-US"/>
              <a:t>Criteria: Likelihood ratio test, Akaike Information Criterion, Bayesian Information Criterion, Decision Theory, Bayesian model selection, Bayesian hypothesis testing or model averaging </a:t>
            </a:r>
          </a:p>
        </p:txBody>
      </p:sp>
      <p:sp>
        <p:nvSpPr>
          <p:cNvPr id="4" name="Title 3"/>
          <p:cNvSpPr>
            <a:spLocks noGrp="1"/>
          </p:cNvSpPr>
          <p:nvPr>
            <p:ph type="title"/>
          </p:nvPr>
        </p:nvSpPr>
        <p:spPr>
          <a:xfrm>
            <a:off x="617856" y="-75564"/>
            <a:ext cx="7886712" cy="1325565"/>
          </a:xfrm>
        </p:spPr>
        <p:txBody>
          <a:bodyPr/>
          <a:lstStyle/>
          <a:p>
            <a:r>
              <a:rPr lang="x-none" altLang="en-US"/>
              <a:t>Model testing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8D115-5A5F-F260-D23E-FE2D70047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17934-C89F-F857-9467-83A365C3D715}"/>
              </a:ext>
            </a:extLst>
          </p:cNvPr>
          <p:cNvSpPr>
            <a:spLocks noGrp="1"/>
          </p:cNvSpPr>
          <p:nvPr>
            <p:ph type="title"/>
          </p:nvPr>
        </p:nvSpPr>
        <p:spPr>
          <a:xfrm>
            <a:off x="-1269" y="-634"/>
            <a:ext cx="7886712" cy="1325565"/>
          </a:xfrm>
        </p:spPr>
        <p:txBody>
          <a:bodyPr/>
          <a:lstStyle/>
          <a:p>
            <a:r>
              <a:rPr lang="en-US" dirty="0">
                <a:latin typeface="Arial"/>
                <a:cs typeface="Arial"/>
              </a:rPr>
              <a:t>Methods interpretation II</a:t>
            </a:r>
            <a:endParaRPr lang="en-US" dirty="0">
              <a:cs typeface="Arial"/>
            </a:endParaRPr>
          </a:p>
        </p:txBody>
      </p:sp>
      <p:pic>
        <p:nvPicPr>
          <p:cNvPr id="4" name="Content Placeholder 3" descr="A methods paragraph Hassanin et al.">
            <a:extLst>
              <a:ext uri="{FF2B5EF4-FFF2-40B4-BE49-F238E27FC236}">
                <a16:creationId xmlns:a16="http://schemas.microsoft.com/office/drawing/2014/main" id="{3886A613-72C0-9EE6-D145-DF3D842E6055}"/>
              </a:ext>
            </a:extLst>
          </p:cNvPr>
          <p:cNvPicPr>
            <a:picLocks noGrp="1" noChangeAspect="1"/>
          </p:cNvPicPr>
          <p:nvPr>
            <p:ph idx="1"/>
          </p:nvPr>
        </p:nvPicPr>
        <p:blipFill>
          <a:blip r:embed="rId2"/>
          <a:srcRect b="-157"/>
          <a:stretch>
            <a:fillRect/>
          </a:stretch>
        </p:blipFill>
        <p:spPr>
          <a:xfrm>
            <a:off x="1990381" y="1134748"/>
            <a:ext cx="4939732" cy="5516414"/>
          </a:xfrm>
          <a:prstGeom prst="rect">
            <a:avLst/>
          </a:prstGeom>
        </p:spPr>
      </p:pic>
    </p:spTree>
    <p:extLst>
      <p:ext uri="{BB962C8B-B14F-4D97-AF65-F5344CB8AC3E}">
        <p14:creationId xmlns:p14="http://schemas.microsoft.com/office/powerpoint/2010/main" val="2158169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3495</Words>
  <Application>Microsoft Office PowerPoint</Application>
  <PresentationFormat>On-screen Show (4:3)</PresentationFormat>
  <Paragraphs>150</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Today's reading due</vt:lpstr>
      <vt:lpstr>Jukes-Cantor Model (JC69)</vt:lpstr>
      <vt:lpstr>Transition probabilities</vt:lpstr>
      <vt:lpstr>PowerPoint Presentation</vt:lpstr>
      <vt:lpstr>Back to biology - Are JC69's assumptions realistic? </vt:lpstr>
      <vt:lpstr>Back to biology - Are JC69's assumptions realistic? Modifying Q</vt:lpstr>
      <vt:lpstr>PowerPoint Presentation</vt:lpstr>
      <vt:lpstr>Our general CTMC model:</vt:lpstr>
      <vt:lpstr>Differences between statistical phylogenetics and parsimony</vt:lpstr>
      <vt:lpstr>Representing hypotheses &amp; processes with transition matrices  (Important skill!!)</vt:lpstr>
      <vt:lpstr>Interpreting Q matrices</vt:lpstr>
      <vt:lpstr>Modifying assumptions 3 &amp; 4</vt:lpstr>
      <vt:lpstr>Dealing with among-site and time-heterogeneity</vt:lpstr>
      <vt:lpstr>Let's practice reading methods</vt:lpstr>
      <vt:lpstr>Methods interpretation</vt:lpstr>
      <vt:lpstr>Relationships among models</vt:lpstr>
      <vt:lpstr>Adding process complexity</vt:lpstr>
      <vt:lpstr>General Time-Reversible Model</vt:lpstr>
      <vt:lpstr>General Time-Reversible Model Decomposed</vt:lpstr>
      <vt:lpstr>Among-site rate variation</vt:lpstr>
      <vt:lpstr>Site-specific rates</vt:lpstr>
      <vt:lpstr>Site specific approach</vt:lpstr>
      <vt:lpstr>Site specific approach leads to some misfit rates</vt:lpstr>
      <vt:lpstr>Mixture model approach</vt:lpstr>
      <vt:lpstr>Mixture model results in better fits, but costs more.</vt:lpstr>
      <vt:lpstr>Invariable sites model</vt:lpstr>
      <vt:lpstr>Gamma-distributed rates</vt:lpstr>
      <vt:lpstr>Discretizing the Gamma distribution</vt:lpstr>
      <vt:lpstr>GTR+R</vt:lpstr>
      <vt:lpstr>What about...</vt:lpstr>
      <vt:lpstr>Assumptions  of a GTR + Γ/R; and the models that extend it</vt:lpstr>
      <vt:lpstr>OK...but how do we decide which model to use?!?!</vt:lpstr>
      <vt:lpstr>Model testing</vt:lpstr>
      <vt:lpstr>Methods interpretation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Substitution models &amp; discrete character evolution</dc:title>
  <dc:creator>juyeda</dc:creator>
  <cp:lastModifiedBy>juyeda</cp:lastModifiedBy>
  <cp:revision>377</cp:revision>
  <dcterms:created xsi:type="dcterms:W3CDTF">2020-09-10T14:06:11Z</dcterms:created>
  <dcterms:modified xsi:type="dcterms:W3CDTF">2026-09-08T13:43:47Z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1033-11.1.0.8865</vt:lpwstr>
  </property>
</Properties>
</file>